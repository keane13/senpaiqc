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E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4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7406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SenpaiQC, led by Simon Surya Keban. Problem: manual visual inspection in casting SMEs.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closed quality loop: Teach, Inspect, Act, Learn, Improve.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expert-taught, explainable, closes the loop. Solves: consistency, kept knowledge, fast 8D, low cost.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features across five roles.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teach, inspect and act, learn and improve.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built, so these are real screens.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Cloud Run service; Gemini on Vertex AI and ER 2; ADK agent; Firestore, Storage, BigQuery; Pub/Sub alerts; Secret Manager.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AI, eleven Google Cloud services, and the open-source stack.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cost per action and a labelled projection per 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at senpaiqc-568251697792.us-central1.run.app.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set metrics and live benchmarks, with limits.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first, then scale across processes and lines.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demo video and the live product.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MPLATE">
    <p:bg>
      <p:bgPr>
        <a:solidFill>
          <a:schemeClr val="bg1"/>
        </a:solidFill>
        <a:effectLst/>
      </p:bgPr>
    </p:bg>
    <p:spTree>
      <p:nvGrpSpPr>
        <p:cNvPr id="1" name=""/>
        <p:cNvGrpSpPr/>
        <p:nvPr/>
      </p:nvGrpSpPr>
      <p:grpSpPr>
        <a:xfrm>
          <a:off x="0" y="0"/>
          <a:ext cx="0" cy="0"/>
          <a:chOff x="0" y="0"/>
          <a:chExt cx="0" cy="0"/>
        </a:xfrm>
      </p:grpSpPr>
      <p:pic>
        <p:nvPicPr>
          <p:cNvPr id="2" name="Image 0" descr="Google Cloud AI Builder Cup header"/>
          <p:cNvPicPr>
            <a:picLocks noChangeAspect="1"/>
          </p:cNvPicPr>
          <p:nvPr/>
        </p:nvPicPr>
        <p:blipFill>
          <a:blip r:embed="rId2"/>
          <a:stretch>
            <a:fillRect/>
          </a:stretch>
        </p:blipFill>
        <p:spPr>
          <a:xfrm>
            <a:off x="0" y="0"/>
            <a:ext cx="9144000" cy="508406"/>
          </a:xfrm>
          <a:prstGeom prst="rect">
            <a:avLst/>
          </a:prstGeom>
        </p:spPr>
      </p:pic>
      <p:sp>
        <p:nvSpPr>
          <p:cNvPr id="3" name="Shape 0"/>
          <p:cNvSpPr/>
          <p:nvPr/>
        </p:nvSpPr>
        <p:spPr>
          <a:xfrm>
            <a:off x="0" y="5074920"/>
            <a:ext cx="9144000" cy="68580"/>
          </a:xfrm>
          <a:prstGeom prst="rect">
            <a:avLst/>
          </a:prstGeom>
          <a:solidFill>
            <a:schemeClr val="tx2"/>
          </a:solidFill>
          <a:ln/>
        </p:spPr>
      </p:sp>
      <p:sp>
        <p:nvSpPr>
          <p:cNvPr id="4" name="Text 1"/>
          <p:cNvSpPr>
            <a:spLocks noGrp="1"/>
          </p:cNvSpPr>
          <p:nvPr>
            <p:ph type="title" idx="102" hasCustomPrompt="1"/>
          </p:nvPr>
        </p:nvSpPr>
        <p:spPr>
          <a:xfrm>
            <a:off x="356616" y="658368"/>
            <a:ext cx="8412480" cy="438912"/>
          </a:xfrm>
          <a:prstGeom prst="rect">
            <a:avLst/>
          </a:prstGeom>
          <a:noFill/>
          <a:ln/>
        </p:spPr>
        <p:txBody>
          <a:bodyPr wrap="square" rtlCol="0"/>
          <a:lstStyle>
            <a:lvl1pPr marL="0" indent="0" algn="l">
              <a:buNone/>
              <a:defRPr lang="en-US" sz="2000" dirty="0">
                <a:solidFill>
                  <a:schemeClr val="tx1"/>
                </a:solidFill>
                <a:latin typeface="+mj-lt" pitchFamily="34" charset="0"/>
                <a:ea typeface="+mj-lt" pitchFamily="34" charset="-122"/>
                <a:cs typeface="+mj-lt" pitchFamily="34" charset="-120"/>
              </a:defRPr>
            </a:lvl1pPr>
          </a:lstStyle>
          <a:p>
            <a:pPr marL="0" indent="0" algn="l">
              <a:buNone/>
            </a:pPr>
            <a:endParaRPr lang="en-US" sz="20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6.jpg"/><Relationship Id="rId7"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4.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keane13/SenpaiQC"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senpaiqc-568251697792.us-central1.run.app"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Google Cloud AI Builder Cup banner"/>
          <p:cNvPicPr>
            <a:picLocks noChangeAspect="1"/>
          </p:cNvPicPr>
          <p:nvPr/>
        </p:nvPicPr>
        <p:blipFill>
          <a:blip r:embed="rId3"/>
          <a:stretch>
            <a:fillRect/>
          </a:stretch>
        </p:blipFill>
        <p:spPr>
          <a:xfrm>
            <a:off x="0" y="0"/>
            <a:ext cx="9144000" cy="2717597"/>
          </a:xfrm>
          <a:prstGeom prst="rect">
            <a:avLst/>
          </a:prstGeom>
        </p:spPr>
      </p:pic>
      <p:sp>
        <p:nvSpPr>
          <p:cNvPr id="3" name="Text 0"/>
          <p:cNvSpPr txBox="1"/>
          <p:nvPr/>
        </p:nvSpPr>
        <p:spPr>
          <a:xfrm>
            <a:off x="356616" y="2944368"/>
            <a:ext cx="4572000" cy="365760"/>
          </a:xfrm>
          <a:prstGeom prst="rect">
            <a:avLst/>
          </a:prstGeom>
          <a:noFill/>
          <a:ln/>
        </p:spPr>
        <p:txBody>
          <a:bodyPr wrap="square" lIns="0" tIns="0" rIns="0" bIns="0" rtlCol="0" anchor="t"/>
          <a:lstStyle/>
          <a:p>
            <a:pPr marL="0" indent="0">
              <a:buNone/>
            </a:pPr>
            <a:r>
              <a:rPr lang="en-US" sz="2000" b="1" dirty="0">
                <a:solidFill>
                  <a:schemeClr val="tx1"/>
                </a:solidFill>
              </a:rPr>
              <a:t>Team Details</a:t>
            </a:r>
            <a:endParaRPr lang="en-US" sz="2000" dirty="0"/>
          </a:p>
        </p:txBody>
      </p:sp>
      <p:sp>
        <p:nvSpPr>
          <p:cNvPr id="4" name="Text 1"/>
          <p:cNvSpPr txBox="1"/>
          <p:nvPr/>
        </p:nvSpPr>
        <p:spPr>
          <a:xfrm>
            <a:off x="685800" y="3401568"/>
            <a:ext cx="7955280" cy="1463040"/>
          </a:xfrm>
          <a:prstGeom prst="rect">
            <a:avLst/>
          </a:prstGeom>
          <a:noFill/>
          <a:ln/>
        </p:spPr>
        <p:txBody>
          <a:bodyPr wrap="square" lIns="0" tIns="0" rIns="0" bIns="0" rtlCol="0" anchor="t"/>
          <a:lstStyle/>
          <a:p>
            <a:pPr>
              <a:spcAft>
                <a:spcPts val="400"/>
              </a:spcAft>
            </a:pPr>
            <a:r>
              <a:rPr lang="en-US" sz="1300" b="1" dirty="0">
                <a:solidFill>
                  <a:schemeClr val="tx1"/>
                </a:solidFill>
              </a:rPr>
              <a:t>a.  Team name: </a:t>
            </a:r>
            <a:r>
              <a:rPr lang="en-US" sz="1300" b="1" dirty="0" err="1">
                <a:solidFill>
                  <a:schemeClr val="tx1"/>
                </a:solidFill>
              </a:rPr>
              <a:t>Tekno</a:t>
            </a:r>
            <a:r>
              <a:rPr lang="en-US" sz="1300" b="1" dirty="0">
                <a:solidFill>
                  <a:schemeClr val="tx1"/>
                </a:solidFill>
              </a:rPr>
              <a:t> Animo</a:t>
            </a:r>
          </a:p>
          <a:p>
            <a:pPr>
              <a:spcAft>
                <a:spcPts val="400"/>
              </a:spcAft>
            </a:pPr>
            <a:r>
              <a:rPr lang="en-US" sz="1300" b="1" dirty="0">
                <a:solidFill>
                  <a:schemeClr val="tx1"/>
                </a:solidFill>
              </a:rPr>
              <a:t>b.  Team leader name: </a:t>
            </a:r>
            <a:r>
              <a:rPr lang="en-US" sz="1300" dirty="0">
                <a:solidFill>
                  <a:schemeClr val="tx1"/>
                </a:solidFill>
              </a:rPr>
              <a:t>Simon Surya Keban</a:t>
            </a:r>
            <a:endParaRPr lang="en-US" sz="1300" dirty="0"/>
          </a:p>
          <a:p>
            <a:pPr marL="0" indent="0">
              <a:spcAft>
                <a:spcPts val="400"/>
              </a:spcAft>
              <a:buNone/>
            </a:pPr>
            <a:r>
              <a:rPr lang="en-US" sz="1300" b="1" dirty="0">
                <a:solidFill>
                  <a:schemeClr val="tx1"/>
                </a:solidFill>
              </a:rPr>
              <a:t>c.  Problem statement: </a:t>
            </a:r>
            <a:r>
              <a:rPr lang="en-US" sz="1300" dirty="0">
                <a:solidFill>
                  <a:schemeClr val="tx1"/>
                </a:solidFill>
              </a:rPr>
              <a:t>Casting SMEs in Southeast Asia rely on manual visual inspection, so quality depends on who is on shift, the best inspector's judgment leaves when they retire, and every escaped defect costs days of 8D work. Vision AI that needs thousands of labelled images per part is out of their reach.</a:t>
            </a:r>
            <a:endParaRPr lang="en-US" sz="1300" dirty="0"/>
          </a:p>
        </p:txBody>
      </p:sp>
      <p:sp>
        <p:nvSpPr>
          <p:cNvPr id="5" name="Shape 2"/>
          <p:cNvSpPr/>
          <p:nvPr/>
        </p:nvSpPr>
        <p:spPr>
          <a:xfrm>
            <a:off x="0" y="5074920"/>
            <a:ext cx="9144000" cy="68580"/>
          </a:xfrm>
          <a:prstGeom prst="rect">
            <a:avLst/>
          </a:prstGeom>
          <a:solidFill>
            <a:schemeClr val="tx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Brief about the idea</a:t>
            </a:r>
            <a:endParaRPr lang="en-US" sz="2000" dirty="0"/>
          </a:p>
        </p:txBody>
      </p:sp>
      <p:sp>
        <p:nvSpPr>
          <p:cNvPr id="3" name="Text 1"/>
          <p:cNvSpPr txBox="1"/>
          <p:nvPr/>
        </p:nvSpPr>
        <p:spPr>
          <a:xfrm>
            <a:off x="356616" y="1234440"/>
            <a:ext cx="8412480" cy="914400"/>
          </a:xfrm>
          <a:prstGeom prst="rect">
            <a:avLst/>
          </a:prstGeom>
          <a:noFill/>
          <a:ln/>
        </p:spPr>
        <p:txBody>
          <a:bodyPr wrap="square" lIns="0" tIns="0" rIns="0" bIns="0" rtlCol="0" anchor="t"/>
          <a:lstStyle/>
          <a:p>
            <a:pPr marL="0" indent="0">
              <a:buNone/>
            </a:pPr>
            <a:r>
              <a:rPr lang="en-US" sz="1300" b="1" dirty="0">
                <a:solidFill>
                  <a:schemeClr val="tx1"/>
                </a:solidFill>
              </a:rPr>
              <a:t>SenpaiQC is an expert-taught inspection and rework cell for casting SMEs. </a:t>
            </a:r>
            <a:r>
              <a:rPr lang="en-US" sz="1300" dirty="0">
                <a:solidFill>
                  <a:schemeClr val="tx1"/>
                </a:solidFill>
              </a:rPr>
              <a:t>A senior inspector teaches it once on video; it checks every part, decides pass / rework / scrap, guides the fix in the operator's language, and when defects spike it alerts the QC team, finds the root cause and drafts the 8D report. A person stays in charge of every scrap and every rule.</a:t>
            </a:r>
            <a:endParaRPr lang="en-US" sz="1300" dirty="0"/>
          </a:p>
        </p:txBody>
      </p:sp>
      <p:sp>
        <p:nvSpPr>
          <p:cNvPr id="4" name="Shape 2"/>
          <p:cNvSpPr/>
          <p:nvPr/>
        </p:nvSpPr>
        <p:spPr>
          <a:xfrm>
            <a:off x="356616" y="2331720"/>
            <a:ext cx="1554480" cy="2240280"/>
          </a:xfrm>
          <a:prstGeom prst="roundRect">
            <a:avLst>
              <a:gd name="adj" fmla="val 3529"/>
            </a:avLst>
          </a:prstGeom>
          <a:solidFill>
            <a:schemeClr val="bg2"/>
          </a:solidFill>
          <a:ln/>
        </p:spPr>
      </p:sp>
      <p:sp>
        <p:nvSpPr>
          <p:cNvPr id="5" name="Shape 3"/>
          <p:cNvSpPr/>
          <p:nvPr/>
        </p:nvSpPr>
        <p:spPr>
          <a:xfrm>
            <a:off x="493776" y="2487168"/>
            <a:ext cx="384048" cy="384048"/>
          </a:xfrm>
          <a:prstGeom prst="ellipse">
            <a:avLst/>
          </a:prstGeom>
          <a:solidFill>
            <a:srgbClr val="1A73E8"/>
          </a:solidFill>
          <a:ln/>
        </p:spPr>
      </p:sp>
      <p:sp>
        <p:nvSpPr>
          <p:cNvPr id="6" name="Text 4"/>
          <p:cNvSpPr txBox="1"/>
          <p:nvPr/>
        </p:nvSpPr>
        <p:spPr>
          <a:xfrm>
            <a:off x="493776" y="248716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7" name="Text 5"/>
          <p:cNvSpPr txBox="1"/>
          <p:nvPr/>
        </p:nvSpPr>
        <p:spPr>
          <a:xfrm>
            <a:off x="493776" y="2990088"/>
            <a:ext cx="1325880" cy="292608"/>
          </a:xfrm>
          <a:prstGeom prst="rect">
            <a:avLst/>
          </a:prstGeom>
          <a:noFill/>
          <a:ln/>
        </p:spPr>
        <p:txBody>
          <a:bodyPr wrap="square" lIns="0" tIns="0" rIns="0" bIns="0" rtlCol="0" anchor="t"/>
          <a:lstStyle/>
          <a:p>
            <a:pPr marL="0" indent="0">
              <a:buNone/>
            </a:pPr>
            <a:r>
              <a:rPr lang="en-US" sz="1400" b="1" dirty="0">
                <a:solidFill>
                  <a:schemeClr val="tx1"/>
                </a:solidFill>
              </a:rPr>
              <a:t>Teach</a:t>
            </a:r>
            <a:endParaRPr lang="en-US" sz="1400" dirty="0"/>
          </a:p>
        </p:txBody>
      </p:sp>
      <p:sp>
        <p:nvSpPr>
          <p:cNvPr id="8" name="Text 6"/>
          <p:cNvSpPr txBox="1"/>
          <p:nvPr/>
        </p:nvSpPr>
        <p:spPr>
          <a:xfrm>
            <a:off x="493776" y="3310128"/>
            <a:ext cx="1325880" cy="1188720"/>
          </a:xfrm>
          <a:prstGeom prst="rect">
            <a:avLst/>
          </a:prstGeom>
          <a:noFill/>
          <a:ln/>
        </p:spPr>
        <p:txBody>
          <a:bodyPr wrap="square" lIns="0" tIns="0" rIns="0" bIns="0" rtlCol="0" anchor="t"/>
          <a:lstStyle/>
          <a:p>
            <a:pPr marL="0" indent="0">
              <a:buNone/>
            </a:pPr>
            <a:r>
              <a:rPr lang="en-US" sz="1050" dirty="0">
                <a:solidFill>
                  <a:schemeClr val="accent5"/>
                </a:solidFill>
              </a:rPr>
              <a:t>Expert video becomes rule cards (Gemini on Vertex AI); the expert approves</a:t>
            </a:r>
            <a:endParaRPr lang="en-US" sz="1050" dirty="0"/>
          </a:p>
        </p:txBody>
      </p:sp>
      <p:sp>
        <p:nvSpPr>
          <p:cNvPr id="9" name="Shape 7"/>
          <p:cNvSpPr/>
          <p:nvPr/>
        </p:nvSpPr>
        <p:spPr>
          <a:xfrm>
            <a:off x="1911096" y="3447288"/>
            <a:ext cx="146304" cy="0"/>
          </a:xfrm>
          <a:prstGeom prst="line">
            <a:avLst/>
          </a:prstGeom>
          <a:noFill/>
          <a:ln w="12700">
            <a:solidFill>
              <a:schemeClr val="accent5"/>
            </a:solidFill>
            <a:prstDash val="solid"/>
            <a:tailEnd type="triangle"/>
          </a:ln>
        </p:spPr>
      </p:sp>
      <p:sp>
        <p:nvSpPr>
          <p:cNvPr id="10" name="Shape 8"/>
          <p:cNvSpPr/>
          <p:nvPr/>
        </p:nvSpPr>
        <p:spPr>
          <a:xfrm>
            <a:off x="2057400" y="2331720"/>
            <a:ext cx="1554480" cy="2240280"/>
          </a:xfrm>
          <a:prstGeom prst="roundRect">
            <a:avLst>
              <a:gd name="adj" fmla="val 3529"/>
            </a:avLst>
          </a:prstGeom>
          <a:solidFill>
            <a:schemeClr val="bg2"/>
          </a:solidFill>
          <a:ln/>
        </p:spPr>
      </p:sp>
      <p:sp>
        <p:nvSpPr>
          <p:cNvPr id="11" name="Shape 9"/>
          <p:cNvSpPr/>
          <p:nvPr/>
        </p:nvSpPr>
        <p:spPr>
          <a:xfrm>
            <a:off x="2194560" y="2487168"/>
            <a:ext cx="384048" cy="384048"/>
          </a:xfrm>
          <a:prstGeom prst="ellipse">
            <a:avLst/>
          </a:prstGeom>
          <a:solidFill>
            <a:srgbClr val="188038"/>
          </a:solidFill>
          <a:ln/>
        </p:spPr>
      </p:sp>
      <p:sp>
        <p:nvSpPr>
          <p:cNvPr id="12" name="Text 10"/>
          <p:cNvSpPr txBox="1"/>
          <p:nvPr/>
        </p:nvSpPr>
        <p:spPr>
          <a:xfrm>
            <a:off x="2194560" y="248716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1"/>
          <p:cNvSpPr txBox="1"/>
          <p:nvPr/>
        </p:nvSpPr>
        <p:spPr>
          <a:xfrm>
            <a:off x="2194560" y="2990088"/>
            <a:ext cx="1325880" cy="292608"/>
          </a:xfrm>
          <a:prstGeom prst="rect">
            <a:avLst/>
          </a:prstGeom>
          <a:noFill/>
          <a:ln/>
        </p:spPr>
        <p:txBody>
          <a:bodyPr wrap="square" lIns="0" tIns="0" rIns="0" bIns="0" rtlCol="0" anchor="t"/>
          <a:lstStyle/>
          <a:p>
            <a:pPr marL="0" indent="0">
              <a:buNone/>
            </a:pPr>
            <a:r>
              <a:rPr lang="en-US" sz="1400" b="1" dirty="0">
                <a:solidFill>
                  <a:schemeClr val="tx1"/>
                </a:solidFill>
              </a:rPr>
              <a:t>Inspect</a:t>
            </a:r>
            <a:endParaRPr lang="en-US" sz="1400" dirty="0"/>
          </a:p>
        </p:txBody>
      </p:sp>
      <p:sp>
        <p:nvSpPr>
          <p:cNvPr id="14" name="Text 12"/>
          <p:cNvSpPr txBox="1"/>
          <p:nvPr/>
        </p:nvSpPr>
        <p:spPr>
          <a:xfrm>
            <a:off x="2194560" y="3310128"/>
            <a:ext cx="1325880" cy="1188720"/>
          </a:xfrm>
          <a:prstGeom prst="rect">
            <a:avLst/>
          </a:prstGeom>
          <a:noFill/>
          <a:ln/>
        </p:spPr>
        <p:txBody>
          <a:bodyPr wrap="square" lIns="0" tIns="0" rIns="0" bIns="0" rtlCol="0" anchor="t"/>
          <a:lstStyle/>
          <a:p>
            <a:pPr marL="0" indent="0">
              <a:buNone/>
            </a:pPr>
            <a:r>
              <a:rPr lang="en-US" sz="1050" dirty="0">
                <a:solidFill>
                  <a:schemeClr val="accent5"/>
                </a:solidFill>
              </a:rPr>
              <a:t>YOLO on CPU decides easy parts; Gemini points at hard ones and cites the rule</a:t>
            </a:r>
            <a:endParaRPr lang="en-US" sz="1050" dirty="0"/>
          </a:p>
        </p:txBody>
      </p:sp>
      <p:sp>
        <p:nvSpPr>
          <p:cNvPr id="15" name="Shape 13"/>
          <p:cNvSpPr/>
          <p:nvPr/>
        </p:nvSpPr>
        <p:spPr>
          <a:xfrm>
            <a:off x="3611880" y="3447288"/>
            <a:ext cx="146304" cy="0"/>
          </a:xfrm>
          <a:prstGeom prst="line">
            <a:avLst/>
          </a:prstGeom>
          <a:noFill/>
          <a:ln w="12700">
            <a:solidFill>
              <a:schemeClr val="accent5"/>
            </a:solidFill>
            <a:prstDash val="solid"/>
            <a:tailEnd type="triangle"/>
          </a:ln>
        </p:spPr>
      </p:sp>
      <p:sp>
        <p:nvSpPr>
          <p:cNvPr id="16" name="Shape 14"/>
          <p:cNvSpPr/>
          <p:nvPr/>
        </p:nvSpPr>
        <p:spPr>
          <a:xfrm>
            <a:off x="3758184" y="2331720"/>
            <a:ext cx="1554480" cy="2240280"/>
          </a:xfrm>
          <a:prstGeom prst="roundRect">
            <a:avLst>
              <a:gd name="adj" fmla="val 3529"/>
            </a:avLst>
          </a:prstGeom>
          <a:solidFill>
            <a:schemeClr val="bg2"/>
          </a:solidFill>
          <a:ln/>
        </p:spPr>
      </p:sp>
      <p:sp>
        <p:nvSpPr>
          <p:cNvPr id="17" name="Shape 15"/>
          <p:cNvSpPr/>
          <p:nvPr/>
        </p:nvSpPr>
        <p:spPr>
          <a:xfrm>
            <a:off x="3895344" y="2487168"/>
            <a:ext cx="384048" cy="384048"/>
          </a:xfrm>
          <a:prstGeom prst="ellipse">
            <a:avLst/>
          </a:prstGeom>
          <a:solidFill>
            <a:srgbClr val="E37400"/>
          </a:solidFill>
          <a:ln/>
        </p:spPr>
      </p:sp>
      <p:sp>
        <p:nvSpPr>
          <p:cNvPr id="18" name="Text 16"/>
          <p:cNvSpPr txBox="1"/>
          <p:nvPr/>
        </p:nvSpPr>
        <p:spPr>
          <a:xfrm>
            <a:off x="3895344" y="248716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7"/>
          <p:cNvSpPr txBox="1"/>
          <p:nvPr/>
        </p:nvSpPr>
        <p:spPr>
          <a:xfrm>
            <a:off x="3895344" y="2990088"/>
            <a:ext cx="1325880" cy="292608"/>
          </a:xfrm>
          <a:prstGeom prst="rect">
            <a:avLst/>
          </a:prstGeom>
          <a:noFill/>
          <a:ln/>
        </p:spPr>
        <p:txBody>
          <a:bodyPr wrap="square" lIns="0" tIns="0" rIns="0" bIns="0" rtlCol="0" anchor="t"/>
          <a:lstStyle/>
          <a:p>
            <a:pPr marL="0" indent="0">
              <a:buNone/>
            </a:pPr>
            <a:r>
              <a:rPr lang="en-US" sz="1400" b="1" dirty="0">
                <a:solidFill>
                  <a:schemeClr val="tx1"/>
                </a:solidFill>
              </a:rPr>
              <a:t>Act</a:t>
            </a:r>
            <a:endParaRPr lang="en-US" sz="1400" dirty="0"/>
          </a:p>
        </p:txBody>
      </p:sp>
      <p:sp>
        <p:nvSpPr>
          <p:cNvPr id="20" name="Text 18"/>
          <p:cNvSpPr txBox="1"/>
          <p:nvPr/>
        </p:nvSpPr>
        <p:spPr>
          <a:xfrm>
            <a:off x="3895344" y="3310128"/>
            <a:ext cx="1325880" cy="1188720"/>
          </a:xfrm>
          <a:prstGeom prst="rect">
            <a:avLst/>
          </a:prstGeom>
          <a:noFill/>
          <a:ln/>
        </p:spPr>
        <p:txBody>
          <a:bodyPr wrap="square" lIns="0" tIns="0" rIns="0" bIns="0" rtlCol="0" anchor="t"/>
          <a:lstStyle/>
          <a:p>
            <a:pPr marL="0" indent="0">
              <a:buNone/>
            </a:pPr>
            <a:r>
              <a:rPr lang="en-US" sz="1050" dirty="0">
                <a:solidFill>
                  <a:schemeClr val="accent5"/>
                </a:solidFill>
              </a:rPr>
              <a:t>Rework steps in 4 languages, or a robot sort behind a safety gate</a:t>
            </a:r>
            <a:endParaRPr lang="en-US" sz="1050" dirty="0"/>
          </a:p>
        </p:txBody>
      </p:sp>
      <p:sp>
        <p:nvSpPr>
          <p:cNvPr id="21" name="Shape 19"/>
          <p:cNvSpPr/>
          <p:nvPr/>
        </p:nvSpPr>
        <p:spPr>
          <a:xfrm>
            <a:off x="5312664" y="3447288"/>
            <a:ext cx="146304" cy="0"/>
          </a:xfrm>
          <a:prstGeom prst="line">
            <a:avLst/>
          </a:prstGeom>
          <a:noFill/>
          <a:ln w="12700">
            <a:solidFill>
              <a:schemeClr val="accent5"/>
            </a:solidFill>
            <a:prstDash val="solid"/>
            <a:tailEnd type="triangle"/>
          </a:ln>
        </p:spPr>
      </p:sp>
      <p:sp>
        <p:nvSpPr>
          <p:cNvPr id="22" name="Shape 20"/>
          <p:cNvSpPr/>
          <p:nvPr/>
        </p:nvSpPr>
        <p:spPr>
          <a:xfrm>
            <a:off x="5458968" y="2331720"/>
            <a:ext cx="1554480" cy="2240280"/>
          </a:xfrm>
          <a:prstGeom prst="roundRect">
            <a:avLst>
              <a:gd name="adj" fmla="val 3529"/>
            </a:avLst>
          </a:prstGeom>
          <a:solidFill>
            <a:schemeClr val="bg2"/>
          </a:solidFill>
          <a:ln/>
        </p:spPr>
      </p:sp>
      <p:sp>
        <p:nvSpPr>
          <p:cNvPr id="23" name="Shape 21"/>
          <p:cNvSpPr/>
          <p:nvPr/>
        </p:nvSpPr>
        <p:spPr>
          <a:xfrm>
            <a:off x="5596128" y="2487168"/>
            <a:ext cx="384048" cy="384048"/>
          </a:xfrm>
          <a:prstGeom prst="ellipse">
            <a:avLst/>
          </a:prstGeom>
          <a:solidFill>
            <a:srgbClr val="D93025"/>
          </a:solidFill>
          <a:ln/>
        </p:spPr>
      </p:sp>
      <p:sp>
        <p:nvSpPr>
          <p:cNvPr id="24" name="Text 22"/>
          <p:cNvSpPr txBox="1"/>
          <p:nvPr/>
        </p:nvSpPr>
        <p:spPr>
          <a:xfrm>
            <a:off x="5596128" y="248716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5" name="Text 23"/>
          <p:cNvSpPr txBox="1"/>
          <p:nvPr/>
        </p:nvSpPr>
        <p:spPr>
          <a:xfrm>
            <a:off x="5596128" y="2990088"/>
            <a:ext cx="1325880" cy="292608"/>
          </a:xfrm>
          <a:prstGeom prst="rect">
            <a:avLst/>
          </a:prstGeom>
          <a:noFill/>
          <a:ln/>
        </p:spPr>
        <p:txBody>
          <a:bodyPr wrap="square" lIns="0" tIns="0" rIns="0" bIns="0" rtlCol="0" anchor="t"/>
          <a:lstStyle/>
          <a:p>
            <a:pPr marL="0" indent="0">
              <a:buNone/>
            </a:pPr>
            <a:r>
              <a:rPr lang="en-US" sz="1400" b="1" dirty="0">
                <a:solidFill>
                  <a:schemeClr val="tx1"/>
                </a:solidFill>
              </a:rPr>
              <a:t>Learn</a:t>
            </a:r>
            <a:endParaRPr lang="en-US" sz="1400" dirty="0"/>
          </a:p>
        </p:txBody>
      </p:sp>
      <p:sp>
        <p:nvSpPr>
          <p:cNvPr id="26" name="Text 24"/>
          <p:cNvSpPr txBox="1"/>
          <p:nvPr/>
        </p:nvSpPr>
        <p:spPr>
          <a:xfrm>
            <a:off x="5596128" y="3310128"/>
            <a:ext cx="1325880" cy="1188720"/>
          </a:xfrm>
          <a:prstGeom prst="rect">
            <a:avLst/>
          </a:prstGeom>
          <a:noFill/>
          <a:ln/>
        </p:spPr>
        <p:txBody>
          <a:bodyPr wrap="square" lIns="0" tIns="0" rIns="0" bIns="0" rtlCol="0" anchor="t"/>
          <a:lstStyle/>
          <a:p>
            <a:pPr marL="0" indent="0">
              <a:buNone/>
            </a:pPr>
            <a:r>
              <a:rPr lang="en-US" sz="1050" dirty="0">
                <a:solidFill>
                  <a:schemeClr val="accent5"/>
                </a:solidFill>
              </a:rPr>
              <a:t>BigQuery + p-chart → Telegram alert → ADK agent finds the cause, drafts the 8D</a:t>
            </a:r>
            <a:endParaRPr lang="en-US" sz="1050" dirty="0"/>
          </a:p>
        </p:txBody>
      </p:sp>
      <p:sp>
        <p:nvSpPr>
          <p:cNvPr id="27" name="Shape 25"/>
          <p:cNvSpPr/>
          <p:nvPr/>
        </p:nvSpPr>
        <p:spPr>
          <a:xfrm>
            <a:off x="7013448" y="3447288"/>
            <a:ext cx="146304" cy="0"/>
          </a:xfrm>
          <a:prstGeom prst="line">
            <a:avLst/>
          </a:prstGeom>
          <a:noFill/>
          <a:ln w="12700">
            <a:solidFill>
              <a:schemeClr val="accent5"/>
            </a:solidFill>
            <a:prstDash val="solid"/>
            <a:tailEnd type="triangle"/>
          </a:ln>
        </p:spPr>
      </p:sp>
      <p:sp>
        <p:nvSpPr>
          <p:cNvPr id="28" name="Shape 26"/>
          <p:cNvSpPr/>
          <p:nvPr/>
        </p:nvSpPr>
        <p:spPr>
          <a:xfrm>
            <a:off x="7159752" y="2331720"/>
            <a:ext cx="1554480" cy="2240280"/>
          </a:xfrm>
          <a:prstGeom prst="roundRect">
            <a:avLst>
              <a:gd name="adj" fmla="val 3529"/>
            </a:avLst>
          </a:prstGeom>
          <a:solidFill>
            <a:schemeClr val="bg2"/>
          </a:solidFill>
          <a:ln/>
        </p:spPr>
      </p:sp>
      <p:sp>
        <p:nvSpPr>
          <p:cNvPr id="29" name="Shape 27"/>
          <p:cNvSpPr/>
          <p:nvPr/>
        </p:nvSpPr>
        <p:spPr>
          <a:xfrm>
            <a:off x="7296912" y="2487168"/>
            <a:ext cx="384048" cy="384048"/>
          </a:xfrm>
          <a:prstGeom prst="ellipse">
            <a:avLst/>
          </a:prstGeom>
          <a:solidFill>
            <a:srgbClr val="5F6368"/>
          </a:solidFill>
          <a:ln/>
        </p:spPr>
      </p:sp>
      <p:sp>
        <p:nvSpPr>
          <p:cNvPr id="30" name="Text 28"/>
          <p:cNvSpPr txBox="1"/>
          <p:nvPr/>
        </p:nvSpPr>
        <p:spPr>
          <a:xfrm>
            <a:off x="7296912" y="2487168"/>
            <a:ext cx="384048" cy="384048"/>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31" name="Text 29"/>
          <p:cNvSpPr txBox="1"/>
          <p:nvPr/>
        </p:nvSpPr>
        <p:spPr>
          <a:xfrm>
            <a:off x="7296912" y="2990088"/>
            <a:ext cx="1325880" cy="292608"/>
          </a:xfrm>
          <a:prstGeom prst="rect">
            <a:avLst/>
          </a:prstGeom>
          <a:noFill/>
          <a:ln/>
        </p:spPr>
        <p:txBody>
          <a:bodyPr wrap="square" lIns="0" tIns="0" rIns="0" bIns="0" rtlCol="0" anchor="t"/>
          <a:lstStyle/>
          <a:p>
            <a:pPr marL="0" indent="0">
              <a:buNone/>
            </a:pPr>
            <a:r>
              <a:rPr lang="en-US" sz="1400" b="1" dirty="0">
                <a:solidFill>
                  <a:schemeClr val="tx1"/>
                </a:solidFill>
              </a:rPr>
              <a:t>Improve</a:t>
            </a:r>
            <a:endParaRPr lang="en-US" sz="1400" dirty="0"/>
          </a:p>
        </p:txBody>
      </p:sp>
      <p:sp>
        <p:nvSpPr>
          <p:cNvPr id="32" name="Text 30"/>
          <p:cNvSpPr txBox="1"/>
          <p:nvPr/>
        </p:nvSpPr>
        <p:spPr>
          <a:xfrm>
            <a:off x="7296912" y="3310128"/>
            <a:ext cx="1325880" cy="1188720"/>
          </a:xfrm>
          <a:prstGeom prst="rect">
            <a:avLst/>
          </a:prstGeom>
          <a:noFill/>
          <a:ln/>
        </p:spPr>
        <p:txBody>
          <a:bodyPr wrap="square" lIns="0" tIns="0" rIns="0" bIns="0" rtlCol="0" anchor="t"/>
          <a:lstStyle/>
          <a:p>
            <a:pPr marL="0" indent="0">
              <a:buNone/>
            </a:pPr>
            <a:r>
              <a:rPr lang="en-US" sz="1050" dirty="0">
                <a:solidFill>
                  <a:schemeClr val="accent5"/>
                </a:solidFill>
              </a:rPr>
              <a:t>Confirmed Gemini cases retrain YOLO, so cost falls over time</a:t>
            </a:r>
            <a:endParaRPr lang="en-US" sz="1050" dirty="0"/>
          </a:p>
        </p:txBody>
      </p:sp>
      <p:sp>
        <p:nvSpPr>
          <p:cNvPr id="33"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B65339F-5516-F775-1EDD-CC28F7D73A1F}"/>
              </a:ext>
            </a:extLst>
          </p:cNvPr>
          <p:cNvSpPr/>
          <p:nvPr/>
        </p:nvSpPr>
        <p:spPr>
          <a:xfrm>
            <a:off x="6041816" y="1262889"/>
            <a:ext cx="2667339" cy="13922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Rectangle: Rounded Corners 13">
            <a:extLst>
              <a:ext uri="{FF2B5EF4-FFF2-40B4-BE49-F238E27FC236}">
                <a16:creationId xmlns:a16="http://schemas.microsoft.com/office/drawing/2014/main" id="{648720D4-F1F8-14B7-5492-4618B0AE9644}"/>
              </a:ext>
            </a:extLst>
          </p:cNvPr>
          <p:cNvSpPr/>
          <p:nvPr/>
        </p:nvSpPr>
        <p:spPr>
          <a:xfrm>
            <a:off x="3217672" y="1248833"/>
            <a:ext cx="2667339" cy="125137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Rectangle: Rounded Corners 11">
            <a:extLst>
              <a:ext uri="{FF2B5EF4-FFF2-40B4-BE49-F238E27FC236}">
                <a16:creationId xmlns:a16="http://schemas.microsoft.com/office/drawing/2014/main" id="{C98DFAB6-A5CB-BDD8-6D6B-AB316BB07533}"/>
              </a:ext>
            </a:extLst>
          </p:cNvPr>
          <p:cNvSpPr/>
          <p:nvPr/>
        </p:nvSpPr>
        <p:spPr>
          <a:xfrm>
            <a:off x="356616" y="1262889"/>
            <a:ext cx="2697480" cy="1641178"/>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buNone/>
            </a:pPr>
            <a:r>
              <a:rPr lang="en-US" sz="2000" dirty="0">
                <a:solidFill>
                  <a:schemeClr val="tx1"/>
                </a:solidFill>
                <a:latin typeface="+mj-lt" pitchFamily="34" charset="0"/>
                <a:ea typeface="+mj-lt" pitchFamily="34" charset="-122"/>
                <a:cs typeface="+mj-lt" pitchFamily="34" charset="-120"/>
              </a:rPr>
              <a:t>Opportunities</a:t>
            </a:r>
            <a:endParaRPr lang="en-US" sz="2000" dirty="0"/>
          </a:p>
        </p:txBody>
      </p:sp>
      <p:sp>
        <p:nvSpPr>
          <p:cNvPr id="3" name="Shape 1"/>
          <p:cNvSpPr/>
          <p:nvPr/>
        </p:nvSpPr>
        <p:spPr>
          <a:xfrm>
            <a:off x="356616" y="1740746"/>
            <a:ext cx="2697480" cy="3105573"/>
          </a:xfrm>
          <a:prstGeom prst="roundRect">
            <a:avLst/>
          </a:prstGeom>
          <a:solidFill>
            <a:schemeClr val="bg2"/>
          </a:solidFill>
          <a:ln/>
        </p:spPr>
      </p:sp>
      <p:sp>
        <p:nvSpPr>
          <p:cNvPr id="4" name="Text 2"/>
          <p:cNvSpPr txBox="1"/>
          <p:nvPr/>
        </p:nvSpPr>
        <p:spPr>
          <a:xfrm>
            <a:off x="625685" y="1298786"/>
            <a:ext cx="2162556" cy="457200"/>
          </a:xfrm>
          <a:prstGeom prst="rect">
            <a:avLst/>
          </a:prstGeom>
          <a:noFill/>
          <a:ln/>
        </p:spPr>
        <p:txBody>
          <a:bodyPr wrap="square" lIns="0" tIns="0" rIns="0" bIns="0" rtlCol="0" anchor="t"/>
          <a:lstStyle/>
          <a:p>
            <a:pPr marL="0" indent="0" algn="ctr">
              <a:buNone/>
            </a:pPr>
            <a:r>
              <a:rPr lang="en-US" sz="1200" b="1" dirty="0">
                <a:solidFill>
                  <a:schemeClr val="bg1"/>
                </a:solidFill>
              </a:rPr>
              <a:t>How different is it from existing ideas?</a:t>
            </a:r>
            <a:endParaRPr lang="en-US" sz="1200" dirty="0">
              <a:solidFill>
                <a:schemeClr val="bg1"/>
              </a:solidFill>
            </a:endParaRPr>
          </a:p>
        </p:txBody>
      </p:sp>
      <p:sp>
        <p:nvSpPr>
          <p:cNvPr id="5" name="Text 3"/>
          <p:cNvSpPr txBox="1"/>
          <p:nvPr/>
        </p:nvSpPr>
        <p:spPr>
          <a:xfrm>
            <a:off x="521208" y="2100242"/>
            <a:ext cx="2395728" cy="1938867"/>
          </a:xfrm>
          <a:prstGeom prst="rect">
            <a:avLst/>
          </a:prstGeom>
          <a:noFill/>
          <a:ln/>
        </p:spPr>
        <p:txBody>
          <a:bodyPr wrap="square" lIns="0" tIns="0" rIns="0" bIns="0" rtlCol="0" anchor="t"/>
          <a:lstStyle/>
          <a:p>
            <a:pPr marL="152400" indent="-152400">
              <a:spcAft>
                <a:spcPts val="600"/>
              </a:spcAft>
              <a:buSzPct val="100000"/>
              <a:buChar char="•"/>
            </a:pPr>
            <a:r>
              <a:rPr lang="en-US" sz="1100" b="1" dirty="0">
                <a:solidFill>
                  <a:schemeClr val="tx1"/>
                </a:solidFill>
              </a:rPr>
              <a:t>Expert-taught, not label-trained: </a:t>
            </a:r>
            <a:r>
              <a:rPr lang="en-US" sz="1100" dirty="0">
                <a:solidFill>
                  <a:schemeClr val="tx1"/>
                </a:solidFill>
              </a:rPr>
              <a:t>one narrated video per part instead of thousands of labelled images.</a:t>
            </a:r>
            <a:endParaRPr lang="en-US" sz="1100" dirty="0"/>
          </a:p>
          <a:p>
            <a:pPr marL="152400" indent="-152400">
              <a:spcAft>
                <a:spcPts val="600"/>
              </a:spcAft>
              <a:buSzPct val="100000"/>
              <a:buChar char="•"/>
            </a:pPr>
            <a:r>
              <a:rPr lang="en-US" sz="1100" b="1" dirty="0">
                <a:solidFill>
                  <a:schemeClr val="tx1"/>
                </a:solidFill>
              </a:rPr>
              <a:t>Explains itself: </a:t>
            </a:r>
            <a:r>
              <a:rPr lang="en-US" sz="1100" dirty="0">
                <a:solidFill>
                  <a:schemeClr val="tx1"/>
                </a:solidFill>
              </a:rPr>
              <a:t>every AI decision points at the defect and cites the approved rule, not just a score.</a:t>
            </a:r>
            <a:endParaRPr lang="en-US" sz="1100" dirty="0"/>
          </a:p>
          <a:p>
            <a:pPr marL="152400" indent="-152400">
              <a:spcAft>
                <a:spcPts val="600"/>
              </a:spcAft>
              <a:buSzPct val="100000"/>
              <a:buChar char="•"/>
            </a:pPr>
            <a:r>
              <a:rPr lang="en-US" sz="1100" b="1" dirty="0">
                <a:solidFill>
                  <a:schemeClr val="tx1"/>
                </a:solidFill>
              </a:rPr>
              <a:t>Goes past detection: </a:t>
            </a:r>
            <a:r>
              <a:rPr lang="en-US" sz="1100" dirty="0">
                <a:solidFill>
                  <a:schemeClr val="tx1"/>
                </a:solidFill>
              </a:rPr>
              <a:t>fix steps, alert, root cause and 8D in one loop.</a:t>
            </a:r>
            <a:endParaRPr lang="en-US" sz="1100" dirty="0"/>
          </a:p>
        </p:txBody>
      </p:sp>
      <p:sp>
        <p:nvSpPr>
          <p:cNvPr id="6" name="Shape 4"/>
          <p:cNvSpPr/>
          <p:nvPr/>
        </p:nvSpPr>
        <p:spPr>
          <a:xfrm>
            <a:off x="3191256" y="1755986"/>
            <a:ext cx="2697480" cy="3090334"/>
          </a:xfrm>
          <a:prstGeom prst="roundRect">
            <a:avLst/>
          </a:prstGeom>
          <a:solidFill>
            <a:schemeClr val="bg2"/>
          </a:solidFill>
          <a:ln/>
        </p:spPr>
      </p:sp>
      <p:sp>
        <p:nvSpPr>
          <p:cNvPr id="8" name="Text 6"/>
          <p:cNvSpPr txBox="1"/>
          <p:nvPr/>
        </p:nvSpPr>
        <p:spPr>
          <a:xfrm>
            <a:off x="3355848" y="2100242"/>
            <a:ext cx="2395728" cy="2654638"/>
          </a:xfrm>
          <a:prstGeom prst="rect">
            <a:avLst/>
          </a:prstGeom>
          <a:noFill/>
          <a:ln/>
        </p:spPr>
        <p:txBody>
          <a:bodyPr wrap="square" lIns="0" tIns="0" rIns="0" bIns="0" rtlCol="0" anchor="t"/>
          <a:lstStyle/>
          <a:p>
            <a:pPr marL="152400" indent="-152400">
              <a:spcAft>
                <a:spcPts val="600"/>
              </a:spcAft>
              <a:buSzPct val="100000"/>
              <a:buChar char="•"/>
            </a:pPr>
            <a:r>
              <a:rPr lang="en-US" sz="1100" b="1" dirty="0">
                <a:solidFill>
                  <a:schemeClr val="tx1"/>
                </a:solidFill>
              </a:rPr>
              <a:t>Same check every shift: </a:t>
            </a:r>
            <a:r>
              <a:rPr lang="en-US" sz="1100" dirty="0">
                <a:solidFill>
                  <a:schemeClr val="tx1"/>
                </a:solidFill>
              </a:rPr>
              <a:t>99% recall, 0% false rejects on 200 held-out images.</a:t>
            </a:r>
            <a:endParaRPr lang="en-US" sz="1100" dirty="0"/>
          </a:p>
          <a:p>
            <a:pPr marL="152400" indent="-152400">
              <a:spcAft>
                <a:spcPts val="600"/>
              </a:spcAft>
              <a:buSzPct val="100000"/>
              <a:buChar char="•"/>
            </a:pPr>
            <a:r>
              <a:rPr lang="en-US" sz="1100" b="1" dirty="0">
                <a:solidFill>
                  <a:schemeClr val="tx1"/>
                </a:solidFill>
              </a:rPr>
              <a:t>Knowledge stays: </a:t>
            </a:r>
            <a:r>
              <a:rPr lang="en-US" sz="1100" dirty="0">
                <a:solidFill>
                  <a:schemeClr val="tx1"/>
                </a:solidFill>
              </a:rPr>
              <a:t>a 2-min video became 4 rule cards in 9.4 s.</a:t>
            </a:r>
            <a:endParaRPr lang="en-US" sz="1100" dirty="0"/>
          </a:p>
          <a:p>
            <a:pPr marL="152400" indent="-152400">
              <a:spcAft>
                <a:spcPts val="600"/>
              </a:spcAft>
              <a:buSzPct val="100000"/>
              <a:buChar char="•"/>
            </a:pPr>
            <a:r>
              <a:rPr lang="en-US" sz="1100" b="1" dirty="0">
                <a:solidFill>
                  <a:schemeClr val="tx1"/>
                </a:solidFill>
              </a:rPr>
              <a:t>Faster response: </a:t>
            </a:r>
            <a:r>
              <a:rPr lang="en-US" sz="1100" dirty="0">
                <a:solidFill>
                  <a:schemeClr val="tx1"/>
                </a:solidFill>
              </a:rPr>
              <a:t>spike → Telegram alert → root cause + 8D draft in about 30 s.</a:t>
            </a:r>
            <a:endParaRPr lang="en-US" sz="1100" dirty="0"/>
          </a:p>
          <a:p>
            <a:pPr marL="152400" indent="-152400">
              <a:spcAft>
                <a:spcPts val="600"/>
              </a:spcAft>
              <a:buSzPct val="100000"/>
              <a:buChar char="•"/>
            </a:pPr>
            <a:r>
              <a:rPr lang="en-US" sz="1100" b="1" dirty="0">
                <a:solidFill>
                  <a:schemeClr val="tx1"/>
                </a:solidFill>
              </a:rPr>
              <a:t>Affordable: </a:t>
            </a:r>
            <a:r>
              <a:rPr lang="en-US" sz="1100" dirty="0">
                <a:solidFill>
                  <a:schemeClr val="tx1"/>
                </a:solidFill>
              </a:rPr>
              <a:t>99% of parts stay on CPU; Gemini $0.07 per 1,000 parts.</a:t>
            </a:r>
            <a:endParaRPr lang="en-US" sz="1100" dirty="0"/>
          </a:p>
        </p:txBody>
      </p:sp>
      <p:sp>
        <p:nvSpPr>
          <p:cNvPr id="7" name="Text 5"/>
          <p:cNvSpPr txBox="1"/>
          <p:nvPr/>
        </p:nvSpPr>
        <p:spPr>
          <a:xfrm>
            <a:off x="3382940" y="1405465"/>
            <a:ext cx="2377440" cy="457200"/>
          </a:xfrm>
          <a:prstGeom prst="rect">
            <a:avLst/>
          </a:prstGeom>
          <a:noFill/>
          <a:ln/>
        </p:spPr>
        <p:txBody>
          <a:bodyPr wrap="square" lIns="0" tIns="0" rIns="0" bIns="0" rtlCol="0" anchor="t"/>
          <a:lstStyle/>
          <a:p>
            <a:pPr marL="0" indent="0">
              <a:buNone/>
            </a:pPr>
            <a:r>
              <a:rPr lang="en-US" sz="1300" b="1" dirty="0">
                <a:solidFill>
                  <a:schemeClr val="bg1"/>
                </a:solidFill>
              </a:rPr>
              <a:t>How will it solve the problem?</a:t>
            </a:r>
            <a:endParaRPr lang="en-US" sz="1300" dirty="0">
              <a:solidFill>
                <a:schemeClr val="bg1"/>
              </a:solidFill>
            </a:endParaRPr>
          </a:p>
        </p:txBody>
      </p:sp>
      <p:sp>
        <p:nvSpPr>
          <p:cNvPr id="9" name="Shape 7"/>
          <p:cNvSpPr/>
          <p:nvPr/>
        </p:nvSpPr>
        <p:spPr>
          <a:xfrm>
            <a:off x="6025896" y="1740746"/>
            <a:ext cx="2697480" cy="3105574"/>
          </a:xfrm>
          <a:prstGeom prst="roundRect">
            <a:avLst/>
          </a:prstGeom>
          <a:solidFill>
            <a:schemeClr val="bg2"/>
          </a:solidFill>
          <a:ln/>
        </p:spPr>
      </p:sp>
      <p:sp>
        <p:nvSpPr>
          <p:cNvPr id="10" name="Text 8"/>
          <p:cNvSpPr txBox="1"/>
          <p:nvPr/>
        </p:nvSpPr>
        <p:spPr>
          <a:xfrm>
            <a:off x="6190488" y="1371600"/>
            <a:ext cx="2377440" cy="457200"/>
          </a:xfrm>
          <a:prstGeom prst="rect">
            <a:avLst/>
          </a:prstGeom>
          <a:noFill/>
          <a:ln/>
        </p:spPr>
        <p:txBody>
          <a:bodyPr wrap="square" lIns="0" tIns="0" rIns="0" bIns="0" rtlCol="0" anchor="t"/>
          <a:lstStyle/>
          <a:p>
            <a:pPr marL="0" indent="0">
              <a:buNone/>
            </a:pPr>
            <a:r>
              <a:rPr lang="en-US" sz="1300" b="1" dirty="0">
                <a:solidFill>
                  <a:schemeClr val="bg1"/>
                </a:solidFill>
              </a:rPr>
              <a:t>USP of the proposed solution</a:t>
            </a:r>
            <a:endParaRPr lang="en-US" sz="1300" dirty="0">
              <a:solidFill>
                <a:schemeClr val="bg1"/>
              </a:solidFill>
            </a:endParaRPr>
          </a:p>
        </p:txBody>
      </p:sp>
      <p:sp>
        <p:nvSpPr>
          <p:cNvPr id="11" name="Text 9"/>
          <p:cNvSpPr txBox="1"/>
          <p:nvPr/>
        </p:nvSpPr>
        <p:spPr>
          <a:xfrm>
            <a:off x="6190488" y="2100242"/>
            <a:ext cx="2395728" cy="2654638"/>
          </a:xfrm>
          <a:prstGeom prst="rect">
            <a:avLst/>
          </a:prstGeom>
          <a:noFill/>
          <a:ln/>
        </p:spPr>
        <p:txBody>
          <a:bodyPr wrap="square" lIns="0" tIns="0" rIns="0" bIns="0" rtlCol="0" anchor="t"/>
          <a:lstStyle/>
          <a:p>
            <a:pPr marL="152400" indent="-152400">
              <a:spcAft>
                <a:spcPts val="600"/>
              </a:spcAft>
              <a:buSzPct val="100000"/>
              <a:buChar char="•"/>
            </a:pPr>
            <a:r>
              <a:rPr lang="en-US" sz="1100" b="1" dirty="0">
                <a:solidFill>
                  <a:schemeClr val="tx1"/>
                </a:solidFill>
              </a:rPr>
              <a:t>Teach once, </a:t>
            </a:r>
            <a:r>
              <a:rPr lang="en-US" sz="1100" dirty="0">
                <a:solidFill>
                  <a:schemeClr val="tx1"/>
                </a:solidFill>
              </a:rPr>
              <a:t>new part numbers work on day one.</a:t>
            </a:r>
            <a:endParaRPr lang="en-US" sz="1100" dirty="0"/>
          </a:p>
          <a:p>
            <a:pPr marL="152400" indent="-152400">
              <a:spcAft>
                <a:spcPts val="600"/>
              </a:spcAft>
              <a:buSzPct val="100000"/>
              <a:buChar char="•"/>
            </a:pPr>
            <a:r>
              <a:rPr lang="en-US" sz="1100" b="1" dirty="0">
                <a:solidFill>
                  <a:schemeClr val="tx1"/>
                </a:solidFill>
              </a:rPr>
              <a:t>Explainable by construction: </a:t>
            </a:r>
            <a:r>
              <a:rPr lang="en-US" sz="1100" dirty="0">
                <a:solidFill>
                  <a:schemeClr val="tx1"/>
                </a:solidFill>
              </a:rPr>
              <a:t>uncited defects never pass; scrap needs a person.</a:t>
            </a:r>
            <a:endParaRPr lang="en-US" sz="1100" dirty="0"/>
          </a:p>
          <a:p>
            <a:pPr marL="152400" indent="-152400">
              <a:spcAft>
                <a:spcPts val="600"/>
              </a:spcAft>
              <a:buSzPct val="100000"/>
              <a:buChar char="•"/>
            </a:pPr>
            <a:r>
              <a:rPr lang="en-US" sz="1100" b="1" dirty="0">
                <a:solidFill>
                  <a:schemeClr val="tx1"/>
                </a:solidFill>
              </a:rPr>
              <a:t>One decision drives a person or a robot.</a:t>
            </a:r>
            <a:endParaRPr lang="en-US" sz="1100" dirty="0"/>
          </a:p>
          <a:p>
            <a:pPr marL="152400" indent="-152400">
              <a:spcAft>
                <a:spcPts val="600"/>
              </a:spcAft>
              <a:buSzPct val="100000"/>
              <a:buChar char="•"/>
            </a:pPr>
            <a:r>
              <a:rPr lang="en-US" sz="1100" b="1" dirty="0">
                <a:solidFill>
                  <a:schemeClr val="tx1"/>
                </a:solidFill>
              </a:rPr>
              <a:t>Closed Kaizen loop </a:t>
            </a:r>
            <a:r>
              <a:rPr lang="en-US" sz="1100" dirty="0">
                <a:solidFill>
                  <a:schemeClr val="tx1"/>
                </a:solidFill>
              </a:rPr>
              <a:t>from detection to 8D and retraining.</a:t>
            </a:r>
            <a:endParaRPr lang="en-US" sz="1100" dirty="0"/>
          </a:p>
          <a:p>
            <a:pPr marL="152400" indent="-152400">
              <a:spcAft>
                <a:spcPts val="600"/>
              </a:spcAft>
              <a:buSzPct val="100000"/>
              <a:buChar char="•"/>
            </a:pPr>
            <a:r>
              <a:rPr lang="en-US" sz="1100" b="1" dirty="0">
                <a:solidFill>
                  <a:schemeClr val="tx1"/>
                </a:solidFill>
              </a:rPr>
              <a:t>Phone + browser + one Cloud Run URL.</a:t>
            </a:r>
            <a:endParaRPr lang="en-US" sz="11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List of features offered by the solution</a:t>
            </a:r>
            <a:endParaRPr lang="en-US" sz="2000" dirty="0"/>
          </a:p>
        </p:txBody>
      </p:sp>
      <p:sp>
        <p:nvSpPr>
          <p:cNvPr id="3" name="Shape 1"/>
          <p:cNvSpPr/>
          <p:nvPr/>
        </p:nvSpPr>
        <p:spPr>
          <a:xfrm>
            <a:off x="356616" y="1207008"/>
            <a:ext cx="2697480" cy="822960"/>
          </a:xfrm>
          <a:prstGeom prst="roundRect">
            <a:avLst/>
          </a:prstGeom>
          <a:solidFill>
            <a:srgbClr val="E4EEFC"/>
          </a:solidFill>
          <a:ln>
            <a:noFill/>
          </a:ln>
        </p:spPr>
      </p:sp>
      <p:sp>
        <p:nvSpPr>
          <p:cNvPr id="4" name="Text 2"/>
          <p:cNvSpPr txBox="1"/>
          <p:nvPr/>
        </p:nvSpPr>
        <p:spPr>
          <a:xfrm>
            <a:off x="493776" y="12801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Teach from video  </a:t>
            </a:r>
            <a:r>
              <a:rPr lang="en-US" sz="950" b="1" dirty="0">
                <a:solidFill>
                  <a:schemeClr val="accent2"/>
                </a:solidFill>
              </a:rPr>
              <a:t>Senior inspector</a:t>
            </a:r>
            <a:endParaRPr lang="en-US" sz="1150" dirty="0"/>
          </a:p>
        </p:txBody>
      </p:sp>
      <p:sp>
        <p:nvSpPr>
          <p:cNvPr id="5" name="Text 3"/>
          <p:cNvSpPr txBox="1"/>
          <p:nvPr/>
        </p:nvSpPr>
        <p:spPr>
          <a:xfrm>
            <a:off x="493776" y="15544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Narrated video (≤10 min / 500 MB) → rule cards with timestamps</a:t>
            </a:r>
            <a:endParaRPr lang="en-US" sz="1000" dirty="0"/>
          </a:p>
        </p:txBody>
      </p:sp>
      <p:sp>
        <p:nvSpPr>
          <p:cNvPr id="6" name="Shape 4"/>
          <p:cNvSpPr/>
          <p:nvPr/>
        </p:nvSpPr>
        <p:spPr>
          <a:xfrm>
            <a:off x="3191256" y="1207008"/>
            <a:ext cx="2697480" cy="822960"/>
          </a:xfrm>
          <a:prstGeom prst="roundRect">
            <a:avLst/>
          </a:prstGeom>
          <a:solidFill>
            <a:srgbClr val="E4EEFC"/>
          </a:solidFill>
          <a:ln>
            <a:noFill/>
          </a:ln>
        </p:spPr>
      </p:sp>
      <p:sp>
        <p:nvSpPr>
          <p:cNvPr id="7" name="Text 5"/>
          <p:cNvSpPr txBox="1"/>
          <p:nvPr/>
        </p:nvSpPr>
        <p:spPr>
          <a:xfrm>
            <a:off x="3328416" y="12801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Rule approval  </a:t>
            </a:r>
            <a:r>
              <a:rPr lang="en-US" sz="950" b="1" dirty="0">
                <a:solidFill>
                  <a:schemeClr val="accent2"/>
                </a:solidFill>
              </a:rPr>
              <a:t>Senior inspector</a:t>
            </a:r>
            <a:endParaRPr lang="en-US" sz="1150" dirty="0"/>
          </a:p>
        </p:txBody>
      </p:sp>
      <p:sp>
        <p:nvSpPr>
          <p:cNvPr id="8" name="Text 6"/>
          <p:cNvSpPr txBox="1"/>
          <p:nvPr/>
        </p:nvSpPr>
        <p:spPr>
          <a:xfrm>
            <a:off x="3328416" y="15544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Edit, approve, version; drafts never reach the line</a:t>
            </a:r>
            <a:endParaRPr lang="en-US" sz="1000" dirty="0"/>
          </a:p>
        </p:txBody>
      </p:sp>
      <p:sp>
        <p:nvSpPr>
          <p:cNvPr id="9" name="Shape 7"/>
          <p:cNvSpPr/>
          <p:nvPr/>
        </p:nvSpPr>
        <p:spPr>
          <a:xfrm>
            <a:off x="6025896" y="1207008"/>
            <a:ext cx="2697480" cy="822960"/>
          </a:xfrm>
          <a:prstGeom prst="roundRect">
            <a:avLst/>
          </a:prstGeom>
          <a:solidFill>
            <a:srgbClr val="E4EEFC"/>
          </a:solidFill>
          <a:ln>
            <a:noFill/>
          </a:ln>
        </p:spPr>
      </p:sp>
      <p:sp>
        <p:nvSpPr>
          <p:cNvPr id="10" name="Text 8"/>
          <p:cNvSpPr txBox="1"/>
          <p:nvPr/>
        </p:nvSpPr>
        <p:spPr>
          <a:xfrm>
            <a:off x="6163056" y="12801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Inspect  </a:t>
            </a:r>
            <a:r>
              <a:rPr lang="en-US" sz="950" b="1" dirty="0">
                <a:solidFill>
                  <a:schemeClr val="accent2"/>
                </a:solidFill>
              </a:rPr>
              <a:t>Line operator</a:t>
            </a:r>
            <a:endParaRPr lang="en-US" sz="1150" dirty="0"/>
          </a:p>
        </p:txBody>
      </p:sp>
      <p:sp>
        <p:nvSpPr>
          <p:cNvPr id="11" name="Text 9"/>
          <p:cNvSpPr txBox="1"/>
          <p:nvPr/>
        </p:nvSpPr>
        <p:spPr>
          <a:xfrm>
            <a:off x="6163056" y="15544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Phone photo → pass / rework / scrap, defect circled, rule cited</a:t>
            </a:r>
            <a:endParaRPr lang="en-US" sz="1000" dirty="0"/>
          </a:p>
        </p:txBody>
      </p:sp>
      <p:sp>
        <p:nvSpPr>
          <p:cNvPr id="12" name="Shape 10"/>
          <p:cNvSpPr/>
          <p:nvPr/>
        </p:nvSpPr>
        <p:spPr>
          <a:xfrm>
            <a:off x="356616" y="2121408"/>
            <a:ext cx="2697480" cy="822960"/>
          </a:xfrm>
          <a:prstGeom prst="roundRect">
            <a:avLst/>
          </a:prstGeom>
          <a:solidFill>
            <a:srgbClr val="E4EEFC"/>
          </a:solidFill>
          <a:ln>
            <a:noFill/>
          </a:ln>
        </p:spPr>
      </p:sp>
      <p:sp>
        <p:nvSpPr>
          <p:cNvPr id="13" name="Text 11"/>
          <p:cNvSpPr txBox="1"/>
          <p:nvPr/>
        </p:nvSpPr>
        <p:spPr>
          <a:xfrm>
            <a:off x="493776" y="21945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Rework guide  </a:t>
            </a:r>
            <a:r>
              <a:rPr lang="en-US" sz="950" b="1" dirty="0">
                <a:solidFill>
                  <a:schemeClr val="accent2"/>
                </a:solidFill>
              </a:rPr>
              <a:t>Line operator</a:t>
            </a:r>
            <a:endParaRPr lang="en-US" sz="1150" dirty="0"/>
          </a:p>
        </p:txBody>
      </p:sp>
      <p:sp>
        <p:nvSpPr>
          <p:cNvPr id="14" name="Text 12"/>
          <p:cNvSpPr txBox="1"/>
          <p:nvPr/>
        </p:nvSpPr>
        <p:spPr>
          <a:xfrm>
            <a:off x="493776" y="24688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Tick-box steps in English, Bahasa Indonesia, Thai, Vietnamese</a:t>
            </a:r>
            <a:endParaRPr lang="en-US" sz="1000" dirty="0"/>
          </a:p>
        </p:txBody>
      </p:sp>
      <p:sp>
        <p:nvSpPr>
          <p:cNvPr id="15" name="Shape 13"/>
          <p:cNvSpPr/>
          <p:nvPr/>
        </p:nvSpPr>
        <p:spPr>
          <a:xfrm>
            <a:off x="3191256" y="2121408"/>
            <a:ext cx="2697480" cy="822960"/>
          </a:xfrm>
          <a:prstGeom prst="roundRect">
            <a:avLst/>
          </a:prstGeom>
          <a:solidFill>
            <a:srgbClr val="E4EEFC"/>
          </a:solidFill>
          <a:ln>
            <a:noFill/>
          </a:ln>
        </p:spPr>
      </p:sp>
      <p:sp>
        <p:nvSpPr>
          <p:cNvPr id="16" name="Text 14"/>
          <p:cNvSpPr txBox="1"/>
          <p:nvPr/>
        </p:nvSpPr>
        <p:spPr>
          <a:xfrm>
            <a:off x="3328416" y="21945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Needs confirmation  </a:t>
            </a:r>
            <a:r>
              <a:rPr lang="en-US" sz="950" b="1" dirty="0">
                <a:solidFill>
                  <a:schemeClr val="accent2"/>
                </a:solidFill>
              </a:rPr>
              <a:t>Supervisor</a:t>
            </a:r>
            <a:endParaRPr lang="en-US" sz="1150" dirty="0"/>
          </a:p>
        </p:txBody>
      </p:sp>
      <p:sp>
        <p:nvSpPr>
          <p:cNvPr id="17" name="Text 15"/>
          <p:cNvSpPr txBox="1"/>
          <p:nvPr/>
        </p:nvSpPr>
        <p:spPr>
          <a:xfrm>
            <a:off x="3328416" y="24688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Every scrap, unknown defect and invalid result waits for a person</a:t>
            </a:r>
            <a:endParaRPr lang="en-US" sz="1000" dirty="0"/>
          </a:p>
        </p:txBody>
      </p:sp>
      <p:sp>
        <p:nvSpPr>
          <p:cNvPr id="18" name="Shape 16"/>
          <p:cNvSpPr/>
          <p:nvPr/>
        </p:nvSpPr>
        <p:spPr>
          <a:xfrm>
            <a:off x="6025896" y="2121408"/>
            <a:ext cx="2697480" cy="822960"/>
          </a:xfrm>
          <a:prstGeom prst="roundRect">
            <a:avLst/>
          </a:prstGeom>
          <a:solidFill>
            <a:srgbClr val="E4EEFC"/>
          </a:solidFill>
          <a:ln>
            <a:noFill/>
          </a:ln>
        </p:spPr>
      </p:sp>
      <p:sp>
        <p:nvSpPr>
          <p:cNvPr id="19" name="Text 17"/>
          <p:cNvSpPr txBox="1"/>
          <p:nvPr/>
        </p:nvSpPr>
        <p:spPr>
          <a:xfrm>
            <a:off x="6163056" y="21945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Quality analytics  </a:t>
            </a:r>
            <a:r>
              <a:rPr lang="en-US" sz="950" b="1" dirty="0">
                <a:solidFill>
                  <a:schemeClr val="accent2"/>
                </a:solidFill>
              </a:rPr>
              <a:t>QC engineer</a:t>
            </a:r>
            <a:endParaRPr lang="en-US" sz="1150" dirty="0"/>
          </a:p>
        </p:txBody>
      </p:sp>
      <p:sp>
        <p:nvSpPr>
          <p:cNvPr id="20" name="Text 18"/>
          <p:cNvSpPr txBox="1"/>
          <p:nvPr/>
        </p:nvSpPr>
        <p:spPr>
          <a:xfrm>
            <a:off x="6163056" y="24688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p-chart per defect and shift, Pareto, live cost and latency</a:t>
            </a:r>
            <a:endParaRPr lang="en-US" sz="1000" dirty="0"/>
          </a:p>
        </p:txBody>
      </p:sp>
      <p:sp>
        <p:nvSpPr>
          <p:cNvPr id="21" name="Shape 19"/>
          <p:cNvSpPr/>
          <p:nvPr/>
        </p:nvSpPr>
        <p:spPr>
          <a:xfrm>
            <a:off x="356616" y="3035808"/>
            <a:ext cx="2697480" cy="822960"/>
          </a:xfrm>
          <a:prstGeom prst="roundRect">
            <a:avLst/>
          </a:prstGeom>
          <a:solidFill>
            <a:srgbClr val="E4EEFC"/>
          </a:solidFill>
          <a:ln>
            <a:noFill/>
          </a:ln>
        </p:spPr>
      </p:sp>
      <p:sp>
        <p:nvSpPr>
          <p:cNvPr id="22" name="Text 20"/>
          <p:cNvSpPr txBox="1"/>
          <p:nvPr/>
        </p:nvSpPr>
        <p:spPr>
          <a:xfrm>
            <a:off x="493776" y="31089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Spike alerts  </a:t>
            </a:r>
            <a:r>
              <a:rPr lang="en-US" sz="950" b="1" dirty="0">
                <a:solidFill>
                  <a:schemeClr val="accent2"/>
                </a:solidFill>
              </a:rPr>
              <a:t>QC engineer</a:t>
            </a:r>
            <a:endParaRPr lang="en-US" sz="1150" dirty="0"/>
          </a:p>
        </p:txBody>
      </p:sp>
      <p:sp>
        <p:nvSpPr>
          <p:cNvPr id="23" name="Text 21"/>
          <p:cNvSpPr txBox="1"/>
          <p:nvPr/>
        </p:nvSpPr>
        <p:spPr>
          <a:xfrm>
            <a:off x="493776" y="33832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Pub/Sub → Telegram or Google Chat, with retries</a:t>
            </a:r>
            <a:endParaRPr lang="en-US" sz="1000" dirty="0"/>
          </a:p>
        </p:txBody>
      </p:sp>
      <p:sp>
        <p:nvSpPr>
          <p:cNvPr id="24" name="Shape 22"/>
          <p:cNvSpPr/>
          <p:nvPr/>
        </p:nvSpPr>
        <p:spPr>
          <a:xfrm>
            <a:off x="3191256" y="3035808"/>
            <a:ext cx="2697480" cy="822960"/>
          </a:xfrm>
          <a:prstGeom prst="roundRect">
            <a:avLst/>
          </a:prstGeom>
          <a:solidFill>
            <a:srgbClr val="E4EEFC"/>
          </a:solidFill>
          <a:ln>
            <a:noFill/>
          </a:ln>
        </p:spPr>
      </p:sp>
      <p:sp>
        <p:nvSpPr>
          <p:cNvPr id="25" name="Text 23"/>
          <p:cNvSpPr txBox="1"/>
          <p:nvPr/>
        </p:nvSpPr>
        <p:spPr>
          <a:xfrm>
            <a:off x="3328416" y="31089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Root-cause agent  </a:t>
            </a:r>
            <a:r>
              <a:rPr lang="en-US" sz="950" b="1" dirty="0">
                <a:solidFill>
                  <a:schemeClr val="accent2"/>
                </a:solidFill>
              </a:rPr>
              <a:t>QC engineer</a:t>
            </a:r>
            <a:endParaRPr lang="en-US" sz="1150" dirty="0"/>
          </a:p>
        </p:txBody>
      </p:sp>
      <p:sp>
        <p:nvSpPr>
          <p:cNvPr id="26" name="Text 24"/>
          <p:cNvSpPr txBox="1"/>
          <p:nvPr/>
        </p:nvSpPr>
        <p:spPr>
          <a:xfrm>
            <a:off x="3328416" y="33832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ADK agent ranks machine, mould, lot hypotheses with evidence</a:t>
            </a:r>
            <a:endParaRPr lang="en-US" sz="1000" dirty="0"/>
          </a:p>
        </p:txBody>
      </p:sp>
      <p:sp>
        <p:nvSpPr>
          <p:cNvPr id="27" name="Shape 25"/>
          <p:cNvSpPr/>
          <p:nvPr/>
        </p:nvSpPr>
        <p:spPr>
          <a:xfrm>
            <a:off x="6025896" y="3035808"/>
            <a:ext cx="2697480" cy="822960"/>
          </a:xfrm>
          <a:prstGeom prst="roundRect">
            <a:avLst/>
          </a:prstGeom>
          <a:solidFill>
            <a:srgbClr val="E4EEFC"/>
          </a:solidFill>
          <a:ln>
            <a:noFill/>
          </a:ln>
        </p:spPr>
      </p:sp>
      <p:sp>
        <p:nvSpPr>
          <p:cNvPr id="28" name="Text 26"/>
          <p:cNvSpPr txBox="1"/>
          <p:nvPr/>
        </p:nvSpPr>
        <p:spPr>
          <a:xfrm>
            <a:off x="6163056" y="31089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8D reports  </a:t>
            </a:r>
            <a:r>
              <a:rPr lang="en-US" sz="950" b="1" dirty="0">
                <a:solidFill>
                  <a:schemeClr val="accent2"/>
                </a:solidFill>
              </a:rPr>
              <a:t>QC engineer</a:t>
            </a:r>
            <a:endParaRPr lang="en-US" sz="1150" dirty="0"/>
          </a:p>
        </p:txBody>
      </p:sp>
      <p:sp>
        <p:nvSpPr>
          <p:cNvPr id="29" name="Text 27"/>
          <p:cNvSpPr txBox="1"/>
          <p:nvPr/>
        </p:nvSpPr>
        <p:spPr>
          <a:xfrm>
            <a:off x="6163056" y="33832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D1–D8 pre-filled; approve; export .docx for Word / Google Docs</a:t>
            </a:r>
            <a:endParaRPr lang="en-US" sz="1000" dirty="0"/>
          </a:p>
        </p:txBody>
      </p:sp>
      <p:sp>
        <p:nvSpPr>
          <p:cNvPr id="30" name="Shape 28"/>
          <p:cNvSpPr/>
          <p:nvPr/>
        </p:nvSpPr>
        <p:spPr>
          <a:xfrm>
            <a:off x="356616" y="3950208"/>
            <a:ext cx="2697480" cy="822960"/>
          </a:xfrm>
          <a:prstGeom prst="roundRect">
            <a:avLst/>
          </a:prstGeom>
          <a:solidFill>
            <a:srgbClr val="E4EEFC"/>
          </a:solidFill>
          <a:ln>
            <a:noFill/>
          </a:ln>
        </p:spPr>
      </p:sp>
      <p:sp>
        <p:nvSpPr>
          <p:cNvPr id="31" name="Text 29"/>
          <p:cNvSpPr txBox="1"/>
          <p:nvPr/>
        </p:nvSpPr>
        <p:spPr>
          <a:xfrm>
            <a:off x="493776" y="40233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Ask SenpaiQC  </a:t>
            </a:r>
            <a:r>
              <a:rPr lang="en-US" sz="950" b="1" dirty="0">
                <a:solidFill>
                  <a:schemeClr val="accent2"/>
                </a:solidFill>
              </a:rPr>
              <a:t>Everyone</a:t>
            </a:r>
            <a:endParaRPr lang="en-US" sz="1150" dirty="0"/>
          </a:p>
        </p:txBody>
      </p:sp>
      <p:sp>
        <p:nvSpPr>
          <p:cNvPr id="32" name="Text 30"/>
          <p:cNvSpPr txBox="1"/>
          <p:nvPr/>
        </p:nvSpPr>
        <p:spPr>
          <a:xfrm>
            <a:off x="493776" y="42976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Answers only from plant records, with citations</a:t>
            </a:r>
            <a:endParaRPr lang="en-US" sz="1000" dirty="0"/>
          </a:p>
        </p:txBody>
      </p:sp>
      <p:sp>
        <p:nvSpPr>
          <p:cNvPr id="33" name="Shape 31"/>
          <p:cNvSpPr/>
          <p:nvPr/>
        </p:nvSpPr>
        <p:spPr>
          <a:xfrm>
            <a:off x="3191256" y="3950208"/>
            <a:ext cx="2697480" cy="822960"/>
          </a:xfrm>
          <a:prstGeom prst="roundRect">
            <a:avLst/>
          </a:prstGeom>
          <a:solidFill>
            <a:srgbClr val="E4EEFC"/>
          </a:solidFill>
          <a:ln>
            <a:noFill/>
          </a:ln>
        </p:spPr>
      </p:sp>
      <p:sp>
        <p:nvSpPr>
          <p:cNvPr id="34" name="Text 32"/>
          <p:cNvSpPr txBox="1"/>
          <p:nvPr/>
        </p:nvSpPr>
        <p:spPr>
          <a:xfrm>
            <a:off x="3328416" y="40233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Robot cell  </a:t>
            </a:r>
            <a:r>
              <a:rPr lang="en-US" sz="950" b="1" dirty="0">
                <a:solidFill>
                  <a:schemeClr val="accent2"/>
                </a:solidFill>
              </a:rPr>
              <a:t>Optional</a:t>
            </a:r>
            <a:endParaRPr lang="en-US" sz="1150" dirty="0"/>
          </a:p>
        </p:txBody>
      </p:sp>
      <p:sp>
        <p:nvSpPr>
          <p:cNvPr id="35" name="Text 33"/>
          <p:cNvSpPr txBox="1"/>
          <p:nvPr/>
        </p:nvSpPr>
        <p:spPr>
          <a:xfrm>
            <a:off x="3328416" y="42976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Gemini plans moves; safety gate; hold bin; 3D replay</a:t>
            </a:r>
            <a:endParaRPr lang="en-US" sz="1000" dirty="0"/>
          </a:p>
        </p:txBody>
      </p:sp>
      <p:sp>
        <p:nvSpPr>
          <p:cNvPr id="36" name="Shape 34"/>
          <p:cNvSpPr/>
          <p:nvPr/>
        </p:nvSpPr>
        <p:spPr>
          <a:xfrm>
            <a:off x="6025896" y="3950208"/>
            <a:ext cx="2697480" cy="822960"/>
          </a:xfrm>
          <a:prstGeom prst="roundRect">
            <a:avLst/>
          </a:prstGeom>
          <a:solidFill>
            <a:srgbClr val="E4EEFC"/>
          </a:solidFill>
          <a:ln>
            <a:noFill/>
          </a:ln>
        </p:spPr>
      </p:sp>
      <p:sp>
        <p:nvSpPr>
          <p:cNvPr id="37" name="Text 35"/>
          <p:cNvSpPr txBox="1"/>
          <p:nvPr/>
        </p:nvSpPr>
        <p:spPr>
          <a:xfrm>
            <a:off x="6163056" y="4023360"/>
            <a:ext cx="2468880" cy="256032"/>
          </a:xfrm>
          <a:prstGeom prst="rect">
            <a:avLst/>
          </a:prstGeom>
          <a:noFill/>
          <a:ln/>
        </p:spPr>
        <p:txBody>
          <a:bodyPr wrap="square" lIns="0" tIns="0" rIns="0" bIns="0" rtlCol="0" anchor="t"/>
          <a:lstStyle/>
          <a:p>
            <a:pPr marL="0" indent="0">
              <a:buNone/>
            </a:pPr>
            <a:r>
              <a:rPr lang="en-US" sz="1150" b="1" dirty="0">
                <a:solidFill>
                  <a:schemeClr val="tx1"/>
                </a:solidFill>
              </a:rPr>
              <a:t>Guardrails  </a:t>
            </a:r>
            <a:r>
              <a:rPr lang="en-US" sz="950" b="1" dirty="0">
                <a:solidFill>
                  <a:schemeClr val="accent2"/>
                </a:solidFill>
              </a:rPr>
              <a:t>Platform</a:t>
            </a:r>
            <a:endParaRPr lang="en-US" sz="1150" dirty="0"/>
          </a:p>
        </p:txBody>
      </p:sp>
      <p:sp>
        <p:nvSpPr>
          <p:cNvPr id="38" name="Text 36"/>
          <p:cNvSpPr txBox="1"/>
          <p:nvPr/>
        </p:nvSpPr>
        <p:spPr>
          <a:xfrm>
            <a:off x="6163056" y="4297680"/>
            <a:ext cx="2468880" cy="438912"/>
          </a:xfrm>
          <a:prstGeom prst="rect">
            <a:avLst/>
          </a:prstGeom>
          <a:noFill/>
          <a:ln/>
        </p:spPr>
        <p:txBody>
          <a:bodyPr wrap="square" lIns="0" tIns="0" rIns="0" bIns="0" rtlCol="0" anchor="t"/>
          <a:lstStyle/>
          <a:p>
            <a:pPr marL="0" indent="0">
              <a:buNone/>
            </a:pPr>
            <a:r>
              <a:rPr lang="en-US" sz="1000" dirty="0">
                <a:solidFill>
                  <a:schemeClr val="accent5"/>
                </a:solidFill>
              </a:rPr>
              <a:t>Schema-checked AI, AI budgets, CSP, Secret Manager</a:t>
            </a:r>
            <a:endParaRPr lang="en-US" sz="1000" dirty="0"/>
          </a:p>
        </p:txBody>
      </p:sp>
      <p:sp>
        <p:nvSpPr>
          <p:cNvPr id="39"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Process flow diagram</a:t>
            </a:r>
            <a:endParaRPr lang="en-US" sz="2000" dirty="0"/>
          </a:p>
        </p:txBody>
      </p:sp>
      <p:sp>
        <p:nvSpPr>
          <p:cNvPr id="3" name="Shape 1"/>
          <p:cNvSpPr/>
          <p:nvPr/>
        </p:nvSpPr>
        <p:spPr>
          <a:xfrm>
            <a:off x="356616" y="1261872"/>
            <a:ext cx="8430768" cy="1051560"/>
          </a:xfrm>
          <a:prstGeom prst="rect">
            <a:avLst/>
          </a:prstGeom>
          <a:solidFill>
            <a:schemeClr val="bg2"/>
          </a:solidFill>
          <a:ln/>
        </p:spPr>
      </p:sp>
      <p:sp>
        <p:nvSpPr>
          <p:cNvPr id="4" name="Text 2"/>
          <p:cNvSpPr txBox="1"/>
          <p:nvPr/>
        </p:nvSpPr>
        <p:spPr>
          <a:xfrm>
            <a:off x="457200" y="1261872"/>
            <a:ext cx="1005840" cy="1051560"/>
          </a:xfrm>
          <a:prstGeom prst="rect">
            <a:avLst/>
          </a:prstGeom>
          <a:noFill/>
          <a:ln/>
        </p:spPr>
        <p:txBody>
          <a:bodyPr wrap="square" lIns="0" tIns="0" rIns="0" bIns="0" rtlCol="0" anchor="ctr"/>
          <a:lstStyle/>
          <a:p>
            <a:pPr marL="0" indent="0">
              <a:buNone/>
            </a:pPr>
            <a:r>
              <a:rPr lang="en-US" sz="1200" b="1" dirty="0">
                <a:solidFill>
                  <a:srgbClr val="1A73E8"/>
                </a:solidFill>
              </a:rPr>
              <a:t>Teach</a:t>
            </a:r>
            <a:endParaRPr lang="en-US" sz="1200" dirty="0"/>
          </a:p>
        </p:txBody>
      </p:sp>
      <p:sp>
        <p:nvSpPr>
          <p:cNvPr id="5" name="box Narrated video"/>
          <p:cNvSpPr/>
          <p:nvPr/>
        </p:nvSpPr>
        <p:spPr>
          <a:xfrm>
            <a:off x="1508760" y="1444752"/>
            <a:ext cx="1252728" cy="685800"/>
          </a:xfrm>
          <a:prstGeom prst="roundRect">
            <a:avLst>
              <a:gd name="adj" fmla="val 6667"/>
            </a:avLst>
          </a:prstGeom>
          <a:solidFill>
            <a:schemeClr val="bg1"/>
          </a:solidFill>
          <a:ln w="15875">
            <a:solidFill>
              <a:srgbClr val="1A73E8"/>
            </a:solidFill>
            <a:prstDash val="solid"/>
          </a:ln>
        </p:spPr>
      </p:sp>
      <p:sp>
        <p:nvSpPr>
          <p:cNvPr id="6" name="Text 4"/>
          <p:cNvSpPr txBox="1"/>
          <p:nvPr/>
        </p:nvSpPr>
        <p:spPr>
          <a:xfrm>
            <a:off x="1563624" y="1444752"/>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Narrated video</a:t>
            </a:r>
            <a:endParaRPr lang="en-US" sz="1100" dirty="0"/>
          </a:p>
          <a:p>
            <a:pPr marL="0" indent="0" algn="ctr">
              <a:buNone/>
            </a:pPr>
            <a:r>
              <a:rPr lang="en-US" sz="950" dirty="0">
                <a:solidFill>
                  <a:schemeClr val="accent5"/>
                </a:solidFill>
              </a:rPr>
              <a:t>senior inspector</a:t>
            </a:r>
            <a:endParaRPr lang="en-US" sz="1100" dirty="0"/>
          </a:p>
        </p:txBody>
      </p:sp>
      <p:sp>
        <p:nvSpPr>
          <p:cNvPr id="7" name="Shape 5"/>
          <p:cNvSpPr/>
          <p:nvPr/>
        </p:nvSpPr>
        <p:spPr>
          <a:xfrm>
            <a:off x="2761488" y="1787652"/>
            <a:ext cx="201168" cy="0"/>
          </a:xfrm>
          <a:prstGeom prst="line">
            <a:avLst/>
          </a:prstGeom>
          <a:noFill/>
          <a:ln w="12700">
            <a:solidFill>
              <a:schemeClr val="accent5"/>
            </a:solidFill>
            <a:prstDash val="solid"/>
            <a:tailEnd type="triangle"/>
          </a:ln>
        </p:spPr>
      </p:sp>
      <p:sp>
        <p:nvSpPr>
          <p:cNvPr id="8" name="box Gemini drafts"/>
          <p:cNvSpPr/>
          <p:nvPr/>
        </p:nvSpPr>
        <p:spPr>
          <a:xfrm>
            <a:off x="2962656" y="1444752"/>
            <a:ext cx="1252728" cy="685800"/>
          </a:xfrm>
          <a:prstGeom prst="roundRect">
            <a:avLst>
              <a:gd name="adj" fmla="val 6667"/>
            </a:avLst>
          </a:prstGeom>
          <a:solidFill>
            <a:schemeClr val="bg1"/>
          </a:solidFill>
          <a:ln w="15875">
            <a:solidFill>
              <a:srgbClr val="1A73E8"/>
            </a:solidFill>
            <a:prstDash val="solid"/>
          </a:ln>
        </p:spPr>
      </p:sp>
      <p:sp>
        <p:nvSpPr>
          <p:cNvPr id="9" name="Text 7"/>
          <p:cNvSpPr txBox="1"/>
          <p:nvPr/>
        </p:nvSpPr>
        <p:spPr>
          <a:xfrm>
            <a:off x="3017520" y="1444752"/>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Gemini drafts</a:t>
            </a:r>
            <a:endParaRPr lang="en-US" sz="1100" dirty="0"/>
          </a:p>
          <a:p>
            <a:pPr marL="0" indent="0" algn="ctr">
              <a:buNone/>
            </a:pPr>
            <a:r>
              <a:rPr lang="en-US" sz="950" dirty="0">
                <a:solidFill>
                  <a:schemeClr val="accent5"/>
                </a:solidFill>
              </a:rPr>
              <a:t>rule cards + timestamps</a:t>
            </a:r>
            <a:endParaRPr lang="en-US" sz="1100" dirty="0"/>
          </a:p>
        </p:txBody>
      </p:sp>
      <p:sp>
        <p:nvSpPr>
          <p:cNvPr id="10" name="Shape 8"/>
          <p:cNvSpPr/>
          <p:nvPr/>
        </p:nvSpPr>
        <p:spPr>
          <a:xfrm>
            <a:off x="4215384" y="1787652"/>
            <a:ext cx="201168" cy="0"/>
          </a:xfrm>
          <a:prstGeom prst="line">
            <a:avLst/>
          </a:prstGeom>
          <a:noFill/>
          <a:ln w="12700">
            <a:solidFill>
              <a:schemeClr val="accent5"/>
            </a:solidFill>
            <a:prstDash val="solid"/>
            <a:tailEnd type="triangle"/>
          </a:ln>
        </p:spPr>
      </p:sp>
      <p:sp>
        <p:nvSpPr>
          <p:cNvPr id="11" name="box Expert approves"/>
          <p:cNvSpPr/>
          <p:nvPr/>
        </p:nvSpPr>
        <p:spPr>
          <a:xfrm>
            <a:off x="4416552" y="1444752"/>
            <a:ext cx="1252728" cy="685800"/>
          </a:xfrm>
          <a:prstGeom prst="roundRect">
            <a:avLst>
              <a:gd name="adj" fmla="val 6667"/>
            </a:avLst>
          </a:prstGeom>
          <a:solidFill>
            <a:schemeClr val="bg1"/>
          </a:solidFill>
          <a:ln w="15875">
            <a:solidFill>
              <a:srgbClr val="1A73E8"/>
            </a:solidFill>
            <a:prstDash val="solid"/>
          </a:ln>
        </p:spPr>
      </p:sp>
      <p:sp>
        <p:nvSpPr>
          <p:cNvPr id="12" name="Text 10"/>
          <p:cNvSpPr txBox="1"/>
          <p:nvPr/>
        </p:nvSpPr>
        <p:spPr>
          <a:xfrm>
            <a:off x="4471416" y="1444752"/>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Expert approves</a:t>
            </a:r>
            <a:endParaRPr lang="en-US" sz="1100" dirty="0"/>
          </a:p>
          <a:p>
            <a:pPr marL="0" indent="0" algn="ctr">
              <a:buNone/>
            </a:pPr>
            <a:r>
              <a:rPr lang="en-US" sz="950" dirty="0">
                <a:solidFill>
                  <a:schemeClr val="accent5"/>
                </a:solidFill>
              </a:rPr>
              <a:t>or edits</a:t>
            </a:r>
            <a:endParaRPr lang="en-US" sz="1100" dirty="0"/>
          </a:p>
        </p:txBody>
      </p:sp>
      <p:sp>
        <p:nvSpPr>
          <p:cNvPr id="13" name="Shape 11"/>
          <p:cNvSpPr/>
          <p:nvPr/>
        </p:nvSpPr>
        <p:spPr>
          <a:xfrm>
            <a:off x="5669280" y="1787652"/>
            <a:ext cx="201168" cy="0"/>
          </a:xfrm>
          <a:prstGeom prst="line">
            <a:avLst/>
          </a:prstGeom>
          <a:noFill/>
          <a:ln w="12700">
            <a:solidFill>
              <a:schemeClr val="accent5"/>
            </a:solidFill>
            <a:prstDash val="solid"/>
            <a:tailEnd type="triangle"/>
          </a:ln>
        </p:spPr>
      </p:sp>
      <p:sp>
        <p:nvSpPr>
          <p:cNvPr id="14" name="box Approved rules"/>
          <p:cNvSpPr/>
          <p:nvPr/>
        </p:nvSpPr>
        <p:spPr>
          <a:xfrm>
            <a:off x="5870448" y="1444752"/>
            <a:ext cx="1252728" cy="685800"/>
          </a:xfrm>
          <a:prstGeom prst="roundRect">
            <a:avLst>
              <a:gd name="adj" fmla="val 6667"/>
            </a:avLst>
          </a:prstGeom>
          <a:solidFill>
            <a:schemeClr val="bg1"/>
          </a:solidFill>
          <a:ln w="15875">
            <a:solidFill>
              <a:srgbClr val="1A73E8"/>
            </a:solidFill>
            <a:prstDash val="solid"/>
          </a:ln>
        </p:spPr>
      </p:sp>
      <p:sp>
        <p:nvSpPr>
          <p:cNvPr id="15" name="Text 13"/>
          <p:cNvSpPr txBox="1"/>
          <p:nvPr/>
        </p:nvSpPr>
        <p:spPr>
          <a:xfrm>
            <a:off x="5925312" y="1444752"/>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Approved rules</a:t>
            </a:r>
            <a:endParaRPr lang="en-US" sz="1100" dirty="0"/>
          </a:p>
          <a:p>
            <a:pPr marL="0" indent="0" algn="ctr">
              <a:buNone/>
            </a:pPr>
            <a:r>
              <a:rPr lang="en-US" sz="950" dirty="0">
                <a:solidFill>
                  <a:schemeClr val="accent5"/>
                </a:solidFill>
              </a:rPr>
              <a:t>Firestore</a:t>
            </a:r>
            <a:endParaRPr lang="en-US" sz="1100" dirty="0"/>
          </a:p>
        </p:txBody>
      </p:sp>
      <p:sp>
        <p:nvSpPr>
          <p:cNvPr id="16" name="Shape 14"/>
          <p:cNvSpPr/>
          <p:nvPr/>
        </p:nvSpPr>
        <p:spPr>
          <a:xfrm>
            <a:off x="356616" y="2478024"/>
            <a:ext cx="8430768" cy="1051560"/>
          </a:xfrm>
          <a:prstGeom prst="rect">
            <a:avLst/>
          </a:prstGeom>
          <a:solidFill>
            <a:schemeClr val="bg2"/>
          </a:solidFill>
          <a:ln/>
        </p:spPr>
      </p:sp>
      <p:sp>
        <p:nvSpPr>
          <p:cNvPr id="17" name="Text 15"/>
          <p:cNvSpPr txBox="1"/>
          <p:nvPr/>
        </p:nvSpPr>
        <p:spPr>
          <a:xfrm>
            <a:off x="457200" y="2478024"/>
            <a:ext cx="1005840" cy="1051560"/>
          </a:xfrm>
          <a:prstGeom prst="rect">
            <a:avLst/>
          </a:prstGeom>
          <a:noFill/>
          <a:ln/>
        </p:spPr>
        <p:txBody>
          <a:bodyPr wrap="square" lIns="0" tIns="0" rIns="0" bIns="0" rtlCol="0" anchor="ctr"/>
          <a:lstStyle/>
          <a:p>
            <a:pPr marL="0" indent="0">
              <a:buNone/>
            </a:pPr>
            <a:r>
              <a:rPr lang="en-US" sz="1200" b="1" dirty="0">
                <a:solidFill>
                  <a:srgbClr val="188038"/>
                </a:solidFill>
              </a:rPr>
              <a:t>Inspect &amp; Act</a:t>
            </a:r>
            <a:endParaRPr lang="en-US" sz="1200" dirty="0"/>
          </a:p>
        </p:txBody>
      </p:sp>
      <p:sp>
        <p:nvSpPr>
          <p:cNvPr id="18" name="box Phone photo"/>
          <p:cNvSpPr/>
          <p:nvPr/>
        </p:nvSpPr>
        <p:spPr>
          <a:xfrm>
            <a:off x="1508760" y="2660904"/>
            <a:ext cx="1252728" cy="685800"/>
          </a:xfrm>
          <a:prstGeom prst="roundRect">
            <a:avLst>
              <a:gd name="adj" fmla="val 6667"/>
            </a:avLst>
          </a:prstGeom>
          <a:solidFill>
            <a:schemeClr val="bg1"/>
          </a:solidFill>
          <a:ln w="15875">
            <a:solidFill>
              <a:srgbClr val="188038"/>
            </a:solidFill>
            <a:prstDash val="solid"/>
          </a:ln>
        </p:spPr>
      </p:sp>
      <p:sp>
        <p:nvSpPr>
          <p:cNvPr id="19" name="Text 17"/>
          <p:cNvSpPr txBox="1"/>
          <p:nvPr/>
        </p:nvSpPr>
        <p:spPr>
          <a:xfrm>
            <a:off x="1563624" y="2660904"/>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Phone photo</a:t>
            </a:r>
            <a:endParaRPr lang="en-US" sz="1100" dirty="0"/>
          </a:p>
          <a:p>
            <a:pPr marL="0" indent="0" algn="ctr">
              <a:buNone/>
            </a:pPr>
            <a:r>
              <a:rPr lang="en-US" sz="950" dirty="0">
                <a:solidFill>
                  <a:schemeClr val="accent5"/>
                </a:solidFill>
              </a:rPr>
              <a:t>operator</a:t>
            </a:r>
            <a:endParaRPr lang="en-US" sz="1100" dirty="0"/>
          </a:p>
        </p:txBody>
      </p:sp>
      <p:sp>
        <p:nvSpPr>
          <p:cNvPr id="20" name="Shape 18"/>
          <p:cNvSpPr/>
          <p:nvPr/>
        </p:nvSpPr>
        <p:spPr>
          <a:xfrm>
            <a:off x="2761488" y="3003804"/>
            <a:ext cx="201168" cy="0"/>
          </a:xfrm>
          <a:prstGeom prst="line">
            <a:avLst/>
          </a:prstGeom>
          <a:noFill/>
          <a:ln w="12700">
            <a:solidFill>
              <a:schemeClr val="accent5"/>
            </a:solidFill>
            <a:prstDash val="solid"/>
            <a:tailEnd type="triangle"/>
          </a:ln>
        </p:spPr>
      </p:sp>
      <p:sp>
        <p:nvSpPr>
          <p:cNvPr id="21" name="box YOLO on CPU"/>
          <p:cNvSpPr/>
          <p:nvPr/>
        </p:nvSpPr>
        <p:spPr>
          <a:xfrm>
            <a:off x="2962656" y="2660904"/>
            <a:ext cx="1252728" cy="685800"/>
          </a:xfrm>
          <a:prstGeom prst="roundRect">
            <a:avLst>
              <a:gd name="adj" fmla="val 6667"/>
            </a:avLst>
          </a:prstGeom>
          <a:solidFill>
            <a:schemeClr val="bg1"/>
          </a:solidFill>
          <a:ln w="15875">
            <a:solidFill>
              <a:srgbClr val="188038"/>
            </a:solidFill>
            <a:prstDash val="solid"/>
          </a:ln>
        </p:spPr>
      </p:sp>
      <p:sp>
        <p:nvSpPr>
          <p:cNvPr id="22" name="Text 20"/>
          <p:cNvSpPr txBox="1"/>
          <p:nvPr/>
        </p:nvSpPr>
        <p:spPr>
          <a:xfrm>
            <a:off x="3017520" y="2660904"/>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YOLO on CPU</a:t>
            </a:r>
            <a:endParaRPr lang="en-US" sz="1100" dirty="0"/>
          </a:p>
          <a:p>
            <a:pPr marL="0" indent="0" algn="ctr">
              <a:buNone/>
            </a:pPr>
            <a:r>
              <a:rPr lang="en-US" sz="950" dirty="0">
                <a:solidFill>
                  <a:schemeClr val="accent5"/>
                </a:solidFill>
              </a:rPr>
              <a:t>confident → decide</a:t>
            </a:r>
            <a:endParaRPr lang="en-US" sz="1100" dirty="0"/>
          </a:p>
        </p:txBody>
      </p:sp>
      <p:sp>
        <p:nvSpPr>
          <p:cNvPr id="23" name="Shape 21"/>
          <p:cNvSpPr/>
          <p:nvPr/>
        </p:nvSpPr>
        <p:spPr>
          <a:xfrm>
            <a:off x="4215384" y="3003804"/>
            <a:ext cx="201168" cy="0"/>
          </a:xfrm>
          <a:prstGeom prst="line">
            <a:avLst/>
          </a:prstGeom>
          <a:noFill/>
          <a:ln w="12700">
            <a:solidFill>
              <a:schemeClr val="accent5"/>
            </a:solidFill>
            <a:prstDash val="solid"/>
            <a:tailEnd type="triangle"/>
          </a:ln>
        </p:spPr>
      </p:sp>
      <p:sp>
        <p:nvSpPr>
          <p:cNvPr id="24" name="box Gemini"/>
          <p:cNvSpPr/>
          <p:nvPr/>
        </p:nvSpPr>
        <p:spPr>
          <a:xfrm>
            <a:off x="4416552" y="2660904"/>
            <a:ext cx="1252728" cy="685800"/>
          </a:xfrm>
          <a:prstGeom prst="roundRect">
            <a:avLst>
              <a:gd name="adj" fmla="val 6667"/>
            </a:avLst>
          </a:prstGeom>
          <a:solidFill>
            <a:schemeClr val="bg1"/>
          </a:solidFill>
          <a:ln w="15875">
            <a:solidFill>
              <a:srgbClr val="188038"/>
            </a:solidFill>
            <a:prstDash val="solid"/>
          </a:ln>
        </p:spPr>
      </p:sp>
      <p:sp>
        <p:nvSpPr>
          <p:cNvPr id="25" name="Text 23"/>
          <p:cNvSpPr txBox="1"/>
          <p:nvPr/>
        </p:nvSpPr>
        <p:spPr>
          <a:xfrm>
            <a:off x="4471416" y="2660904"/>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Gemini</a:t>
            </a:r>
            <a:endParaRPr lang="en-US" sz="1100" dirty="0"/>
          </a:p>
          <a:p>
            <a:pPr marL="0" indent="0" algn="ctr">
              <a:buNone/>
            </a:pPr>
            <a:r>
              <a:rPr lang="en-US" sz="950" dirty="0">
                <a:solidFill>
                  <a:schemeClr val="accent5"/>
                </a:solidFill>
              </a:rPr>
              <a:t>unsure / new part, cites rule</a:t>
            </a:r>
            <a:endParaRPr lang="en-US" sz="1100" dirty="0"/>
          </a:p>
        </p:txBody>
      </p:sp>
      <p:sp>
        <p:nvSpPr>
          <p:cNvPr id="26" name="Shape 24"/>
          <p:cNvSpPr/>
          <p:nvPr/>
        </p:nvSpPr>
        <p:spPr>
          <a:xfrm>
            <a:off x="5669280" y="3003804"/>
            <a:ext cx="201168" cy="0"/>
          </a:xfrm>
          <a:prstGeom prst="line">
            <a:avLst/>
          </a:prstGeom>
          <a:noFill/>
          <a:ln w="12700">
            <a:solidFill>
              <a:schemeClr val="accent5"/>
            </a:solidFill>
            <a:prstDash val="solid"/>
            <a:tailEnd type="triangle"/>
          </a:ln>
        </p:spPr>
      </p:sp>
      <p:sp>
        <p:nvSpPr>
          <p:cNvPr id="27" name="box Decision"/>
          <p:cNvSpPr/>
          <p:nvPr/>
        </p:nvSpPr>
        <p:spPr>
          <a:xfrm>
            <a:off x="5870448" y="2660904"/>
            <a:ext cx="1252728" cy="685800"/>
          </a:xfrm>
          <a:prstGeom prst="roundRect">
            <a:avLst>
              <a:gd name="adj" fmla="val 6667"/>
            </a:avLst>
          </a:prstGeom>
          <a:solidFill>
            <a:schemeClr val="bg1"/>
          </a:solidFill>
          <a:ln w="15875">
            <a:solidFill>
              <a:srgbClr val="188038"/>
            </a:solidFill>
            <a:prstDash val="solid"/>
          </a:ln>
        </p:spPr>
      </p:sp>
      <p:sp>
        <p:nvSpPr>
          <p:cNvPr id="28" name="Text 26"/>
          <p:cNvSpPr txBox="1"/>
          <p:nvPr/>
        </p:nvSpPr>
        <p:spPr>
          <a:xfrm>
            <a:off x="5925312" y="2660904"/>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Decision</a:t>
            </a:r>
            <a:endParaRPr lang="en-US" sz="1100" dirty="0"/>
          </a:p>
          <a:p>
            <a:pPr marL="0" indent="0" algn="ctr">
              <a:buNone/>
            </a:pPr>
            <a:r>
              <a:rPr lang="en-US" sz="950" dirty="0">
                <a:solidFill>
                  <a:schemeClr val="accent5"/>
                </a:solidFill>
              </a:rPr>
              <a:t>scrap → person confirms</a:t>
            </a:r>
            <a:endParaRPr lang="en-US" sz="1100" dirty="0"/>
          </a:p>
        </p:txBody>
      </p:sp>
      <p:sp>
        <p:nvSpPr>
          <p:cNvPr id="29" name="Shape 27"/>
          <p:cNvSpPr/>
          <p:nvPr/>
        </p:nvSpPr>
        <p:spPr>
          <a:xfrm>
            <a:off x="7123176" y="3003804"/>
            <a:ext cx="201168" cy="0"/>
          </a:xfrm>
          <a:prstGeom prst="line">
            <a:avLst/>
          </a:prstGeom>
          <a:noFill/>
          <a:ln w="12700">
            <a:solidFill>
              <a:schemeClr val="accent5"/>
            </a:solidFill>
            <a:prstDash val="solid"/>
            <a:tailEnd type="triangle"/>
          </a:ln>
        </p:spPr>
      </p:sp>
      <p:sp>
        <p:nvSpPr>
          <p:cNvPr id="30" name="box Rework steps"/>
          <p:cNvSpPr/>
          <p:nvPr/>
        </p:nvSpPr>
        <p:spPr>
          <a:xfrm>
            <a:off x="7324344" y="2660904"/>
            <a:ext cx="1252728" cy="685800"/>
          </a:xfrm>
          <a:prstGeom prst="roundRect">
            <a:avLst>
              <a:gd name="adj" fmla="val 6667"/>
            </a:avLst>
          </a:prstGeom>
          <a:solidFill>
            <a:schemeClr val="bg1"/>
          </a:solidFill>
          <a:ln w="15875">
            <a:solidFill>
              <a:srgbClr val="188038"/>
            </a:solidFill>
            <a:prstDash val="solid"/>
          </a:ln>
        </p:spPr>
      </p:sp>
      <p:sp>
        <p:nvSpPr>
          <p:cNvPr id="31" name="Text 29"/>
          <p:cNvSpPr txBox="1"/>
          <p:nvPr/>
        </p:nvSpPr>
        <p:spPr>
          <a:xfrm>
            <a:off x="7379208" y="2660904"/>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Rework steps</a:t>
            </a:r>
            <a:endParaRPr lang="en-US" sz="1100" dirty="0"/>
          </a:p>
          <a:p>
            <a:pPr marL="0" indent="0" algn="ctr">
              <a:buNone/>
            </a:pPr>
            <a:r>
              <a:rPr lang="en-US" sz="950" dirty="0">
                <a:solidFill>
                  <a:schemeClr val="accent5"/>
                </a:solidFill>
              </a:rPr>
              <a:t>or robot sort</a:t>
            </a:r>
            <a:endParaRPr lang="en-US" sz="1100" dirty="0"/>
          </a:p>
        </p:txBody>
      </p:sp>
      <p:sp>
        <p:nvSpPr>
          <p:cNvPr id="32" name="Shape 30"/>
          <p:cNvSpPr/>
          <p:nvPr/>
        </p:nvSpPr>
        <p:spPr>
          <a:xfrm>
            <a:off x="356616" y="3694176"/>
            <a:ext cx="8430768" cy="1051560"/>
          </a:xfrm>
          <a:prstGeom prst="rect">
            <a:avLst/>
          </a:prstGeom>
          <a:solidFill>
            <a:schemeClr val="bg2"/>
          </a:solidFill>
          <a:ln/>
        </p:spPr>
      </p:sp>
      <p:sp>
        <p:nvSpPr>
          <p:cNvPr id="33" name="Text 31"/>
          <p:cNvSpPr txBox="1"/>
          <p:nvPr/>
        </p:nvSpPr>
        <p:spPr>
          <a:xfrm>
            <a:off x="457200" y="3694176"/>
            <a:ext cx="1005840" cy="1051560"/>
          </a:xfrm>
          <a:prstGeom prst="rect">
            <a:avLst/>
          </a:prstGeom>
          <a:noFill/>
          <a:ln/>
        </p:spPr>
        <p:txBody>
          <a:bodyPr wrap="square" lIns="0" tIns="0" rIns="0" bIns="0" rtlCol="0" anchor="ctr"/>
          <a:lstStyle/>
          <a:p>
            <a:pPr marL="0" indent="0">
              <a:buNone/>
            </a:pPr>
            <a:r>
              <a:rPr lang="en-US" sz="1200" b="1" dirty="0">
                <a:solidFill>
                  <a:srgbClr val="D93025"/>
                </a:solidFill>
              </a:rPr>
              <a:t>Learn &amp; Improve</a:t>
            </a:r>
            <a:endParaRPr lang="en-US" sz="1200" dirty="0"/>
          </a:p>
        </p:txBody>
      </p:sp>
      <p:sp>
        <p:nvSpPr>
          <p:cNvPr id="34" name="box BigQuery"/>
          <p:cNvSpPr/>
          <p:nvPr/>
        </p:nvSpPr>
        <p:spPr>
          <a:xfrm>
            <a:off x="1508760" y="3877056"/>
            <a:ext cx="1252728" cy="685800"/>
          </a:xfrm>
          <a:prstGeom prst="roundRect">
            <a:avLst>
              <a:gd name="adj" fmla="val 6667"/>
            </a:avLst>
          </a:prstGeom>
          <a:solidFill>
            <a:schemeClr val="bg1"/>
          </a:solidFill>
          <a:ln w="15875">
            <a:solidFill>
              <a:srgbClr val="D93025"/>
            </a:solidFill>
            <a:prstDash val="solid"/>
          </a:ln>
        </p:spPr>
      </p:sp>
      <p:sp>
        <p:nvSpPr>
          <p:cNvPr id="35" name="Text 33"/>
          <p:cNvSpPr txBox="1"/>
          <p:nvPr/>
        </p:nvSpPr>
        <p:spPr>
          <a:xfrm>
            <a:off x="1563624" y="3877056"/>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BigQuery</a:t>
            </a:r>
            <a:endParaRPr lang="en-US" sz="1100" dirty="0"/>
          </a:p>
          <a:p>
            <a:pPr marL="0" indent="0" algn="ctr">
              <a:buNone/>
            </a:pPr>
            <a:r>
              <a:rPr lang="en-US" sz="950" dirty="0">
                <a:solidFill>
                  <a:schemeClr val="accent5"/>
                </a:solidFill>
              </a:rPr>
              <a:t>every decision</a:t>
            </a:r>
            <a:endParaRPr lang="en-US" sz="1100" dirty="0"/>
          </a:p>
        </p:txBody>
      </p:sp>
      <p:sp>
        <p:nvSpPr>
          <p:cNvPr id="36" name="Shape 34"/>
          <p:cNvSpPr/>
          <p:nvPr/>
        </p:nvSpPr>
        <p:spPr>
          <a:xfrm>
            <a:off x="2761488" y="4219956"/>
            <a:ext cx="201168" cy="0"/>
          </a:xfrm>
          <a:prstGeom prst="line">
            <a:avLst/>
          </a:prstGeom>
          <a:noFill/>
          <a:ln w="12700">
            <a:solidFill>
              <a:schemeClr val="accent5"/>
            </a:solidFill>
            <a:prstDash val="solid"/>
            <a:tailEnd type="triangle"/>
          </a:ln>
        </p:spPr>
      </p:sp>
      <p:sp>
        <p:nvSpPr>
          <p:cNvPr id="37" name="box p-chart"/>
          <p:cNvSpPr/>
          <p:nvPr/>
        </p:nvSpPr>
        <p:spPr>
          <a:xfrm>
            <a:off x="2962656" y="3877056"/>
            <a:ext cx="1252728" cy="685800"/>
          </a:xfrm>
          <a:prstGeom prst="roundRect">
            <a:avLst>
              <a:gd name="adj" fmla="val 6667"/>
            </a:avLst>
          </a:prstGeom>
          <a:solidFill>
            <a:schemeClr val="bg1"/>
          </a:solidFill>
          <a:ln w="15875">
            <a:solidFill>
              <a:srgbClr val="D93025"/>
            </a:solidFill>
            <a:prstDash val="solid"/>
          </a:ln>
        </p:spPr>
      </p:sp>
      <p:sp>
        <p:nvSpPr>
          <p:cNvPr id="38" name="Text 36"/>
          <p:cNvSpPr txBox="1"/>
          <p:nvPr/>
        </p:nvSpPr>
        <p:spPr>
          <a:xfrm>
            <a:off x="3017520" y="3877056"/>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p-chart</a:t>
            </a:r>
            <a:endParaRPr lang="en-US" sz="1100" dirty="0"/>
          </a:p>
          <a:p>
            <a:pPr marL="0" indent="0" algn="ctr">
              <a:buNone/>
            </a:pPr>
            <a:r>
              <a:rPr lang="en-US" sz="950" dirty="0">
                <a:solidFill>
                  <a:schemeClr val="accent5"/>
                </a:solidFill>
              </a:rPr>
              <a:t>spike?</a:t>
            </a:r>
            <a:endParaRPr lang="en-US" sz="1100" dirty="0"/>
          </a:p>
        </p:txBody>
      </p:sp>
      <p:sp>
        <p:nvSpPr>
          <p:cNvPr id="39" name="Shape 37"/>
          <p:cNvSpPr/>
          <p:nvPr/>
        </p:nvSpPr>
        <p:spPr>
          <a:xfrm>
            <a:off x="4215384" y="4219956"/>
            <a:ext cx="201168" cy="0"/>
          </a:xfrm>
          <a:prstGeom prst="line">
            <a:avLst/>
          </a:prstGeom>
          <a:noFill/>
          <a:ln w="12700">
            <a:solidFill>
              <a:schemeClr val="accent5"/>
            </a:solidFill>
            <a:prstDash val="solid"/>
            <a:tailEnd type="triangle"/>
          </a:ln>
        </p:spPr>
      </p:sp>
      <p:sp>
        <p:nvSpPr>
          <p:cNvPr id="40" name="box Pub/Sub alert"/>
          <p:cNvSpPr/>
          <p:nvPr/>
        </p:nvSpPr>
        <p:spPr>
          <a:xfrm>
            <a:off x="4416552" y="3877056"/>
            <a:ext cx="1252728" cy="685800"/>
          </a:xfrm>
          <a:prstGeom prst="roundRect">
            <a:avLst>
              <a:gd name="adj" fmla="val 6667"/>
            </a:avLst>
          </a:prstGeom>
          <a:solidFill>
            <a:schemeClr val="bg1"/>
          </a:solidFill>
          <a:ln w="15875">
            <a:solidFill>
              <a:srgbClr val="D93025"/>
            </a:solidFill>
            <a:prstDash val="solid"/>
          </a:ln>
        </p:spPr>
      </p:sp>
      <p:sp>
        <p:nvSpPr>
          <p:cNvPr id="41" name="Text 39"/>
          <p:cNvSpPr txBox="1"/>
          <p:nvPr/>
        </p:nvSpPr>
        <p:spPr>
          <a:xfrm>
            <a:off x="4471416" y="3877056"/>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Pub/Sub alert</a:t>
            </a:r>
            <a:endParaRPr lang="en-US" sz="1100" dirty="0"/>
          </a:p>
          <a:p>
            <a:pPr marL="0" indent="0" algn="ctr">
              <a:buNone/>
            </a:pPr>
            <a:r>
              <a:rPr lang="en-US" sz="950" dirty="0">
                <a:solidFill>
                  <a:schemeClr val="accent5"/>
                </a:solidFill>
              </a:rPr>
              <a:t>Telegram</a:t>
            </a:r>
            <a:endParaRPr lang="en-US" sz="1100" dirty="0"/>
          </a:p>
        </p:txBody>
      </p:sp>
      <p:sp>
        <p:nvSpPr>
          <p:cNvPr id="42" name="Shape 40"/>
          <p:cNvSpPr/>
          <p:nvPr/>
        </p:nvSpPr>
        <p:spPr>
          <a:xfrm>
            <a:off x="5669280" y="4219956"/>
            <a:ext cx="201168" cy="0"/>
          </a:xfrm>
          <a:prstGeom prst="line">
            <a:avLst/>
          </a:prstGeom>
          <a:noFill/>
          <a:ln w="12700">
            <a:solidFill>
              <a:schemeClr val="accent5"/>
            </a:solidFill>
            <a:prstDash val="solid"/>
            <a:tailEnd type="triangle"/>
          </a:ln>
        </p:spPr>
      </p:sp>
      <p:sp>
        <p:nvSpPr>
          <p:cNvPr id="43" name="box ADK agent"/>
          <p:cNvSpPr/>
          <p:nvPr/>
        </p:nvSpPr>
        <p:spPr>
          <a:xfrm>
            <a:off x="5870448" y="3877056"/>
            <a:ext cx="1252728" cy="685800"/>
          </a:xfrm>
          <a:prstGeom prst="roundRect">
            <a:avLst>
              <a:gd name="adj" fmla="val 6667"/>
            </a:avLst>
          </a:prstGeom>
          <a:solidFill>
            <a:schemeClr val="bg1"/>
          </a:solidFill>
          <a:ln w="15875">
            <a:solidFill>
              <a:srgbClr val="D93025"/>
            </a:solidFill>
            <a:prstDash val="solid"/>
          </a:ln>
        </p:spPr>
      </p:sp>
      <p:sp>
        <p:nvSpPr>
          <p:cNvPr id="44" name="Text 42"/>
          <p:cNvSpPr txBox="1"/>
          <p:nvPr/>
        </p:nvSpPr>
        <p:spPr>
          <a:xfrm>
            <a:off x="5925312" y="3877056"/>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ADK agent</a:t>
            </a:r>
            <a:endParaRPr lang="en-US" sz="1100" dirty="0"/>
          </a:p>
          <a:p>
            <a:pPr marL="0" indent="0" algn="ctr">
              <a:buNone/>
            </a:pPr>
            <a:r>
              <a:rPr lang="en-US" sz="950" dirty="0">
                <a:solidFill>
                  <a:schemeClr val="accent5"/>
                </a:solidFill>
              </a:rPr>
              <a:t>root cause</a:t>
            </a:r>
            <a:endParaRPr lang="en-US" sz="1100" dirty="0"/>
          </a:p>
        </p:txBody>
      </p:sp>
      <p:sp>
        <p:nvSpPr>
          <p:cNvPr id="45" name="Shape 43"/>
          <p:cNvSpPr/>
          <p:nvPr/>
        </p:nvSpPr>
        <p:spPr>
          <a:xfrm>
            <a:off x="7123176" y="4219956"/>
            <a:ext cx="201168" cy="0"/>
          </a:xfrm>
          <a:prstGeom prst="line">
            <a:avLst/>
          </a:prstGeom>
          <a:noFill/>
          <a:ln w="12700">
            <a:solidFill>
              <a:schemeClr val="accent5"/>
            </a:solidFill>
            <a:prstDash val="solid"/>
            <a:tailEnd type="triangle"/>
          </a:ln>
        </p:spPr>
      </p:sp>
      <p:sp>
        <p:nvSpPr>
          <p:cNvPr id="46" name="box 8D draft"/>
          <p:cNvSpPr/>
          <p:nvPr/>
        </p:nvSpPr>
        <p:spPr>
          <a:xfrm>
            <a:off x="7324344" y="3877056"/>
            <a:ext cx="1252728" cy="685800"/>
          </a:xfrm>
          <a:prstGeom prst="roundRect">
            <a:avLst>
              <a:gd name="adj" fmla="val 6667"/>
            </a:avLst>
          </a:prstGeom>
          <a:solidFill>
            <a:schemeClr val="bg1"/>
          </a:solidFill>
          <a:ln w="15875">
            <a:solidFill>
              <a:srgbClr val="D93025"/>
            </a:solidFill>
            <a:prstDash val="solid"/>
          </a:ln>
        </p:spPr>
      </p:sp>
      <p:sp>
        <p:nvSpPr>
          <p:cNvPr id="47" name="Text 45"/>
          <p:cNvSpPr txBox="1"/>
          <p:nvPr/>
        </p:nvSpPr>
        <p:spPr>
          <a:xfrm>
            <a:off x="7379208" y="3877056"/>
            <a:ext cx="1143000" cy="685800"/>
          </a:xfrm>
          <a:prstGeom prst="rect">
            <a:avLst/>
          </a:prstGeom>
          <a:noFill/>
          <a:ln/>
        </p:spPr>
        <p:txBody>
          <a:bodyPr wrap="square" lIns="0" tIns="0" rIns="0" bIns="0" rtlCol="0" anchor="ctr"/>
          <a:lstStyle/>
          <a:p>
            <a:pPr marL="0" indent="0" algn="ctr">
              <a:buNone/>
            </a:pPr>
            <a:r>
              <a:rPr lang="en-US" sz="1100" b="1" dirty="0">
                <a:solidFill>
                  <a:schemeClr val="tx1"/>
                </a:solidFill>
              </a:rPr>
              <a:t>8D draft</a:t>
            </a:r>
            <a:endParaRPr lang="en-US" sz="1100" dirty="0"/>
          </a:p>
          <a:p>
            <a:pPr marL="0" indent="0" algn="ctr">
              <a:buNone/>
            </a:pPr>
            <a:r>
              <a:rPr lang="en-US" sz="950" dirty="0">
                <a:solidFill>
                  <a:schemeClr val="accent5"/>
                </a:solidFill>
              </a:rPr>
              <a:t>approve, .docx</a:t>
            </a:r>
            <a:endParaRPr lang="en-US" sz="1100" dirty="0"/>
          </a:p>
        </p:txBody>
      </p:sp>
      <p:sp>
        <p:nvSpPr>
          <p:cNvPr id="48" name="Shape 46"/>
          <p:cNvSpPr/>
          <p:nvPr/>
        </p:nvSpPr>
        <p:spPr>
          <a:xfrm flipH="1">
            <a:off x="5038344" y="2130552"/>
            <a:ext cx="1453896" cy="530352"/>
          </a:xfrm>
          <a:prstGeom prst="line">
            <a:avLst/>
          </a:prstGeom>
          <a:noFill/>
          <a:ln w="12700">
            <a:solidFill>
              <a:schemeClr val="accent5"/>
            </a:solidFill>
            <a:prstDash val="dash"/>
            <a:tailEnd type="triangle"/>
          </a:ln>
        </p:spPr>
      </p:sp>
      <p:sp>
        <p:nvSpPr>
          <p:cNvPr id="49" name="Shape 47"/>
          <p:cNvSpPr/>
          <p:nvPr/>
        </p:nvSpPr>
        <p:spPr>
          <a:xfrm flipH="1">
            <a:off x="2130552" y="3346704"/>
            <a:ext cx="4361688" cy="530352"/>
          </a:xfrm>
          <a:prstGeom prst="line">
            <a:avLst/>
          </a:prstGeom>
          <a:noFill/>
          <a:ln w="12700">
            <a:solidFill>
              <a:schemeClr val="accent5"/>
            </a:solidFill>
            <a:prstDash val="dash"/>
            <a:tailEnd type="triangle"/>
          </a:ln>
        </p:spPr>
      </p:sp>
      <p:sp>
        <p:nvSpPr>
          <p:cNvPr id="50" name="Text 48"/>
          <p:cNvSpPr txBox="1"/>
          <p:nvPr/>
        </p:nvSpPr>
        <p:spPr>
          <a:xfrm>
            <a:off x="376935" y="4812457"/>
            <a:ext cx="7955280" cy="274320"/>
          </a:xfrm>
          <a:prstGeom prst="rect">
            <a:avLst/>
          </a:prstGeom>
          <a:noFill/>
          <a:ln/>
        </p:spPr>
        <p:txBody>
          <a:bodyPr wrap="square" lIns="0" tIns="0" rIns="0" bIns="0" rtlCol="0" anchor="t"/>
          <a:lstStyle/>
          <a:p>
            <a:pPr marL="0" indent="0">
              <a:buNone/>
            </a:pPr>
            <a:r>
              <a:rPr lang="en-US" sz="950" dirty="0">
                <a:solidFill>
                  <a:schemeClr val="accent5"/>
                </a:solidFill>
              </a:rPr>
              <a:t>Dashed: approved rules feed Gemini; every final decision is written to BigQuery. Confirmed Gemini cases become YOLO training labels.</a:t>
            </a:r>
            <a:endParaRPr lang="en-US" sz="950" dirty="0"/>
          </a:p>
        </p:txBody>
      </p:sp>
      <p:sp>
        <p:nvSpPr>
          <p:cNvPr id="51"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Wireframes / mock diagrams of the proposed solution</a:t>
            </a:r>
            <a:endParaRPr lang="en-US" sz="2000" dirty="0"/>
          </a:p>
        </p:txBody>
      </p:sp>
      <p:pic>
        <p:nvPicPr>
          <p:cNvPr id="3" name="Phone at the line: one-tap inspect" descr="Phone at the line: one-tap inspect"/>
          <p:cNvPicPr>
            <a:picLocks noChangeAspect="1"/>
          </p:cNvPicPr>
          <p:nvPr/>
        </p:nvPicPr>
        <p:blipFill>
          <a:blip r:embed="rId3"/>
          <a:stretch>
            <a:fillRect/>
          </a:stretch>
        </p:blipFill>
        <p:spPr>
          <a:xfrm>
            <a:off x="520757" y="1234440"/>
            <a:ext cx="1500518" cy="3246120"/>
          </a:xfrm>
          <a:prstGeom prst="rect">
            <a:avLst/>
          </a:prstGeom>
        </p:spPr>
      </p:pic>
      <p:sp>
        <p:nvSpPr>
          <p:cNvPr id="4" name="Shape 1"/>
          <p:cNvSpPr/>
          <p:nvPr/>
        </p:nvSpPr>
        <p:spPr>
          <a:xfrm>
            <a:off x="520757" y="1234440"/>
            <a:ext cx="1500518" cy="3246120"/>
          </a:xfrm>
          <a:prstGeom prst="rect">
            <a:avLst/>
          </a:prstGeom>
          <a:ln w="9525">
            <a:solidFill>
              <a:schemeClr val="accent6"/>
            </a:solidFill>
            <a:prstDash val="solid"/>
          </a:ln>
        </p:spPr>
      </p:sp>
      <p:sp>
        <p:nvSpPr>
          <p:cNvPr id="5" name="Text 2"/>
          <p:cNvSpPr txBox="1"/>
          <p:nvPr/>
        </p:nvSpPr>
        <p:spPr>
          <a:xfrm>
            <a:off x="356616" y="4553712"/>
            <a:ext cx="1828800" cy="274320"/>
          </a:xfrm>
          <a:prstGeom prst="rect">
            <a:avLst/>
          </a:prstGeom>
          <a:noFill/>
          <a:ln/>
        </p:spPr>
        <p:txBody>
          <a:bodyPr wrap="square" lIns="0" tIns="0" rIns="0" bIns="0" rtlCol="0" anchor="t"/>
          <a:lstStyle/>
          <a:p>
            <a:pPr marL="0" indent="0" algn="ctr">
              <a:buNone/>
            </a:pPr>
            <a:r>
              <a:rPr lang="en-US" sz="1000" dirty="0">
                <a:solidFill>
                  <a:schemeClr val="accent5"/>
                </a:solidFill>
              </a:rPr>
              <a:t>Phone at the line: one-tap inspect</a:t>
            </a:r>
            <a:endParaRPr lang="en-US" sz="1000" dirty="0"/>
          </a:p>
        </p:txBody>
      </p:sp>
      <p:pic>
        <p:nvPicPr>
          <p:cNvPr id="6" name="Gemini decision: defect circled, rule cited" descr="Gemini decision: defect circled, rule cited"/>
          <p:cNvPicPr>
            <a:picLocks noChangeAspect="1"/>
          </p:cNvPicPr>
          <p:nvPr/>
        </p:nvPicPr>
        <p:blipFill>
          <a:blip r:embed="rId4"/>
          <a:stretch>
            <a:fillRect/>
          </a:stretch>
        </p:blipFill>
        <p:spPr>
          <a:xfrm>
            <a:off x="2423160" y="1885950"/>
            <a:ext cx="3108960" cy="1943100"/>
          </a:xfrm>
          <a:prstGeom prst="rect">
            <a:avLst/>
          </a:prstGeom>
        </p:spPr>
      </p:pic>
      <p:sp>
        <p:nvSpPr>
          <p:cNvPr id="7" name="Shape 3"/>
          <p:cNvSpPr/>
          <p:nvPr/>
        </p:nvSpPr>
        <p:spPr>
          <a:xfrm>
            <a:off x="2423160" y="1885950"/>
            <a:ext cx="3108960" cy="1943100"/>
          </a:xfrm>
          <a:prstGeom prst="rect">
            <a:avLst/>
          </a:prstGeom>
          <a:ln w="9525">
            <a:solidFill>
              <a:schemeClr val="accent6"/>
            </a:solidFill>
            <a:prstDash val="solid"/>
          </a:ln>
        </p:spPr>
      </p:sp>
      <p:sp>
        <p:nvSpPr>
          <p:cNvPr id="8" name="Text 4"/>
          <p:cNvSpPr txBox="1"/>
          <p:nvPr/>
        </p:nvSpPr>
        <p:spPr>
          <a:xfrm>
            <a:off x="2423160" y="3902202"/>
            <a:ext cx="3108960" cy="274320"/>
          </a:xfrm>
          <a:prstGeom prst="rect">
            <a:avLst/>
          </a:prstGeom>
          <a:noFill/>
          <a:ln/>
        </p:spPr>
        <p:txBody>
          <a:bodyPr wrap="square" lIns="0" tIns="0" rIns="0" bIns="0" rtlCol="0" anchor="t"/>
          <a:lstStyle/>
          <a:p>
            <a:pPr marL="0" indent="0" algn="ctr">
              <a:buNone/>
            </a:pPr>
            <a:r>
              <a:rPr lang="en-US" sz="1000" dirty="0">
                <a:solidFill>
                  <a:schemeClr val="accent5"/>
                </a:solidFill>
              </a:rPr>
              <a:t>Gemini decision: defect circled, rule cited</a:t>
            </a:r>
            <a:endParaRPr lang="en-US" sz="1000" dirty="0"/>
          </a:p>
        </p:txBody>
      </p:sp>
      <p:pic>
        <p:nvPicPr>
          <p:cNvPr id="9" name="Rework steps in the operator's language" descr="Rework steps in the operator's language"/>
          <p:cNvPicPr>
            <a:picLocks noChangeAspect="1"/>
          </p:cNvPicPr>
          <p:nvPr/>
        </p:nvPicPr>
        <p:blipFill>
          <a:blip r:embed="rId5"/>
          <a:stretch>
            <a:fillRect/>
          </a:stretch>
        </p:blipFill>
        <p:spPr>
          <a:xfrm>
            <a:off x="5760720" y="1914525"/>
            <a:ext cx="3017520" cy="1885950"/>
          </a:xfrm>
          <a:prstGeom prst="rect">
            <a:avLst/>
          </a:prstGeom>
        </p:spPr>
      </p:pic>
      <p:sp>
        <p:nvSpPr>
          <p:cNvPr id="10" name="Shape 5"/>
          <p:cNvSpPr/>
          <p:nvPr/>
        </p:nvSpPr>
        <p:spPr>
          <a:xfrm>
            <a:off x="5760720" y="1914525"/>
            <a:ext cx="3017520" cy="1885950"/>
          </a:xfrm>
          <a:prstGeom prst="rect">
            <a:avLst/>
          </a:prstGeom>
          <a:ln w="9525">
            <a:solidFill>
              <a:schemeClr val="accent6"/>
            </a:solidFill>
            <a:prstDash val="solid"/>
          </a:ln>
        </p:spPr>
      </p:sp>
      <p:sp>
        <p:nvSpPr>
          <p:cNvPr id="11" name="Text 6"/>
          <p:cNvSpPr txBox="1"/>
          <p:nvPr/>
        </p:nvSpPr>
        <p:spPr>
          <a:xfrm>
            <a:off x="5760720" y="3873627"/>
            <a:ext cx="3017520" cy="274320"/>
          </a:xfrm>
          <a:prstGeom prst="rect">
            <a:avLst/>
          </a:prstGeom>
          <a:noFill/>
          <a:ln/>
        </p:spPr>
        <p:txBody>
          <a:bodyPr wrap="square" lIns="0" tIns="0" rIns="0" bIns="0" rtlCol="0" anchor="t"/>
          <a:lstStyle/>
          <a:p>
            <a:pPr marL="0" indent="0" algn="ctr">
              <a:buNone/>
            </a:pPr>
            <a:r>
              <a:rPr lang="en-US" sz="1000" dirty="0">
                <a:solidFill>
                  <a:schemeClr val="accent5"/>
                </a:solidFill>
              </a:rPr>
              <a:t>Rework steps in the operator's language</a:t>
            </a:r>
            <a:endParaRPr lang="en-US" sz="10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Architecture diagram of the proposed solution</a:t>
            </a:r>
            <a:endParaRPr lang="en-US" sz="2000" dirty="0"/>
          </a:p>
        </p:txBody>
      </p:sp>
      <p:sp>
        <p:nvSpPr>
          <p:cNvPr id="3" name="Shape 1"/>
          <p:cNvSpPr/>
          <p:nvPr/>
        </p:nvSpPr>
        <p:spPr>
          <a:xfrm>
            <a:off x="356616" y="1234440"/>
            <a:ext cx="1325880" cy="1463040"/>
          </a:xfrm>
          <a:prstGeom prst="roundRect">
            <a:avLst>
              <a:gd name="adj" fmla="val 4138"/>
            </a:avLst>
          </a:prstGeom>
          <a:solidFill>
            <a:schemeClr val="bg2"/>
          </a:solidFill>
          <a:ln/>
        </p:spPr>
      </p:sp>
      <p:sp>
        <p:nvSpPr>
          <p:cNvPr id="4" name="Text 2"/>
          <p:cNvSpPr txBox="1"/>
          <p:nvPr/>
        </p:nvSpPr>
        <p:spPr>
          <a:xfrm>
            <a:off x="466344" y="1289304"/>
            <a:ext cx="1143000" cy="228600"/>
          </a:xfrm>
          <a:prstGeom prst="rect">
            <a:avLst/>
          </a:prstGeom>
          <a:noFill/>
          <a:ln/>
        </p:spPr>
        <p:txBody>
          <a:bodyPr wrap="square" lIns="0" tIns="0" rIns="0" bIns="0" rtlCol="0" anchor="t"/>
          <a:lstStyle/>
          <a:p>
            <a:pPr marL="0" indent="0">
              <a:buNone/>
            </a:pPr>
            <a:r>
              <a:rPr lang="en-US" sz="1000" b="1" dirty="0">
                <a:solidFill>
                  <a:srgbClr val="5F6368"/>
                </a:solidFill>
              </a:rPr>
              <a:t>Shop floor</a:t>
            </a:r>
            <a:endParaRPr lang="en-US" sz="1000" dirty="0"/>
          </a:p>
        </p:txBody>
      </p:sp>
      <p:sp>
        <p:nvSpPr>
          <p:cNvPr id="5" name="box Browser"/>
          <p:cNvSpPr/>
          <p:nvPr/>
        </p:nvSpPr>
        <p:spPr>
          <a:xfrm>
            <a:off x="457200" y="1600200"/>
            <a:ext cx="1124712" cy="868680"/>
          </a:xfrm>
          <a:prstGeom prst="roundRect">
            <a:avLst>
              <a:gd name="adj" fmla="val 5263"/>
            </a:avLst>
          </a:prstGeom>
          <a:solidFill>
            <a:schemeClr val="bg1"/>
          </a:solidFill>
          <a:ln w="15875">
            <a:solidFill>
              <a:srgbClr val="5F6368"/>
            </a:solidFill>
            <a:prstDash val="solid"/>
          </a:ln>
        </p:spPr>
      </p:sp>
      <p:sp>
        <p:nvSpPr>
          <p:cNvPr id="6" name="Text 4"/>
          <p:cNvSpPr txBox="1"/>
          <p:nvPr/>
        </p:nvSpPr>
        <p:spPr>
          <a:xfrm>
            <a:off x="512064" y="1600200"/>
            <a:ext cx="1014984" cy="868680"/>
          </a:xfrm>
          <a:prstGeom prst="rect">
            <a:avLst/>
          </a:prstGeom>
          <a:noFill/>
          <a:ln/>
        </p:spPr>
        <p:txBody>
          <a:bodyPr wrap="square" lIns="0" tIns="0" rIns="0" bIns="0" rtlCol="0" anchor="ctr"/>
          <a:lstStyle/>
          <a:p>
            <a:pPr marL="0" indent="0" algn="ctr">
              <a:buNone/>
            </a:pPr>
            <a:r>
              <a:rPr lang="en-US" sz="1100" b="1" dirty="0">
                <a:solidFill>
                  <a:schemeClr val="tx1"/>
                </a:solidFill>
              </a:rPr>
              <a:t>Browser</a:t>
            </a:r>
            <a:endParaRPr lang="en-US" sz="1100" dirty="0"/>
          </a:p>
          <a:p>
            <a:pPr marL="0" indent="0" algn="ctr">
              <a:buNone/>
            </a:pPr>
            <a:r>
              <a:rPr lang="en-US" sz="950" dirty="0">
                <a:solidFill>
                  <a:schemeClr val="accent5"/>
                </a:solidFill>
              </a:rPr>
              <a:t>phone or laptop</a:t>
            </a:r>
            <a:endParaRPr lang="en-US" sz="1100" dirty="0"/>
          </a:p>
        </p:txBody>
      </p:sp>
      <p:sp>
        <p:nvSpPr>
          <p:cNvPr id="7" name="Shape 5"/>
          <p:cNvSpPr/>
          <p:nvPr/>
        </p:nvSpPr>
        <p:spPr>
          <a:xfrm>
            <a:off x="1920240" y="1234440"/>
            <a:ext cx="2377440" cy="2743200"/>
          </a:xfrm>
          <a:prstGeom prst="roundRect">
            <a:avLst>
              <a:gd name="adj" fmla="val 2308"/>
            </a:avLst>
          </a:prstGeom>
          <a:solidFill>
            <a:schemeClr val="bg2"/>
          </a:solidFill>
          <a:ln/>
        </p:spPr>
      </p:sp>
      <p:sp>
        <p:nvSpPr>
          <p:cNvPr id="8" name="Text 6"/>
          <p:cNvSpPr txBox="1"/>
          <p:nvPr/>
        </p:nvSpPr>
        <p:spPr>
          <a:xfrm>
            <a:off x="2029968" y="1289304"/>
            <a:ext cx="2194560" cy="228600"/>
          </a:xfrm>
          <a:prstGeom prst="rect">
            <a:avLst/>
          </a:prstGeom>
          <a:noFill/>
          <a:ln/>
        </p:spPr>
        <p:txBody>
          <a:bodyPr wrap="square" lIns="0" tIns="0" rIns="0" bIns="0" rtlCol="0" anchor="t"/>
          <a:lstStyle/>
          <a:p>
            <a:pPr marL="0" indent="0">
              <a:buNone/>
            </a:pPr>
            <a:r>
              <a:rPr lang="en-US" sz="1000" b="1" dirty="0">
                <a:solidFill>
                  <a:srgbClr val="1A73E8"/>
                </a:solidFill>
              </a:rPr>
              <a:t>Cloud Run (one service)</a:t>
            </a:r>
            <a:endParaRPr lang="en-US" sz="1000" dirty="0"/>
          </a:p>
        </p:txBody>
      </p:sp>
      <p:sp>
        <p:nvSpPr>
          <p:cNvPr id="9" name="box FastAPI web + API"/>
          <p:cNvSpPr/>
          <p:nvPr/>
        </p:nvSpPr>
        <p:spPr>
          <a:xfrm>
            <a:off x="2029968" y="1554480"/>
            <a:ext cx="2157984" cy="502920"/>
          </a:xfrm>
          <a:prstGeom prst="roundRect">
            <a:avLst>
              <a:gd name="adj" fmla="val 9091"/>
            </a:avLst>
          </a:prstGeom>
          <a:solidFill>
            <a:schemeClr val="bg1"/>
          </a:solidFill>
          <a:ln w="15875">
            <a:solidFill>
              <a:srgbClr val="1A73E8"/>
            </a:solidFill>
            <a:prstDash val="solid"/>
          </a:ln>
        </p:spPr>
      </p:sp>
      <p:sp>
        <p:nvSpPr>
          <p:cNvPr id="10" name="Text 8"/>
          <p:cNvSpPr txBox="1"/>
          <p:nvPr/>
        </p:nvSpPr>
        <p:spPr>
          <a:xfrm>
            <a:off x="2084832" y="1554480"/>
            <a:ext cx="2048256" cy="502920"/>
          </a:xfrm>
          <a:prstGeom prst="rect">
            <a:avLst/>
          </a:prstGeom>
          <a:noFill/>
          <a:ln/>
        </p:spPr>
        <p:txBody>
          <a:bodyPr wrap="square" lIns="0" tIns="0" rIns="0" bIns="0" rtlCol="0" anchor="ctr"/>
          <a:lstStyle/>
          <a:p>
            <a:pPr marL="0" indent="0" algn="ctr">
              <a:buNone/>
            </a:pPr>
            <a:r>
              <a:rPr lang="en-US" sz="1100" b="1" dirty="0">
                <a:solidFill>
                  <a:schemeClr val="tx1"/>
                </a:solidFill>
              </a:rPr>
              <a:t>FastAPI web + API</a:t>
            </a:r>
            <a:endParaRPr lang="en-US" sz="1100" dirty="0"/>
          </a:p>
          <a:p>
            <a:pPr marL="0" indent="0" algn="ctr">
              <a:buNone/>
            </a:pPr>
            <a:r>
              <a:rPr lang="en-US" sz="950" dirty="0">
                <a:solidFill>
                  <a:schemeClr val="accent5"/>
                </a:solidFill>
              </a:rPr>
              <a:t>Teach · Inspect · Act · Learn · Ask</a:t>
            </a:r>
            <a:endParaRPr lang="en-US" sz="1100" dirty="0"/>
          </a:p>
        </p:txBody>
      </p:sp>
      <p:sp>
        <p:nvSpPr>
          <p:cNvPr id="11" name="box YOLO11n"/>
          <p:cNvSpPr/>
          <p:nvPr/>
        </p:nvSpPr>
        <p:spPr>
          <a:xfrm>
            <a:off x="2029968" y="2148840"/>
            <a:ext cx="1033272" cy="548640"/>
          </a:xfrm>
          <a:prstGeom prst="roundRect">
            <a:avLst>
              <a:gd name="adj" fmla="val 8333"/>
            </a:avLst>
          </a:prstGeom>
          <a:solidFill>
            <a:schemeClr val="bg1"/>
          </a:solidFill>
          <a:ln w="15875">
            <a:solidFill>
              <a:srgbClr val="1A73E8"/>
            </a:solidFill>
            <a:prstDash val="solid"/>
          </a:ln>
        </p:spPr>
      </p:sp>
      <p:sp>
        <p:nvSpPr>
          <p:cNvPr id="12" name="Text 10"/>
          <p:cNvSpPr txBox="1"/>
          <p:nvPr/>
        </p:nvSpPr>
        <p:spPr>
          <a:xfrm>
            <a:off x="2084832" y="2148840"/>
            <a:ext cx="923544" cy="548640"/>
          </a:xfrm>
          <a:prstGeom prst="rect">
            <a:avLst/>
          </a:prstGeom>
          <a:noFill/>
          <a:ln/>
        </p:spPr>
        <p:txBody>
          <a:bodyPr wrap="square" lIns="0" tIns="0" rIns="0" bIns="0" rtlCol="0" anchor="ctr"/>
          <a:lstStyle/>
          <a:p>
            <a:pPr marL="0" indent="0" algn="ctr">
              <a:buNone/>
            </a:pPr>
            <a:r>
              <a:rPr lang="en-US" sz="1100" b="1" dirty="0">
                <a:solidFill>
                  <a:schemeClr val="tx1"/>
                </a:solidFill>
              </a:rPr>
              <a:t>YOLO11n</a:t>
            </a:r>
            <a:endParaRPr lang="en-US" sz="1100" dirty="0"/>
          </a:p>
          <a:p>
            <a:pPr marL="0" indent="0" algn="ctr">
              <a:buNone/>
            </a:pPr>
            <a:r>
              <a:rPr lang="en-US" sz="950" dirty="0">
                <a:solidFill>
                  <a:schemeClr val="accent5"/>
                </a:solidFill>
              </a:rPr>
              <a:t>CPU fast path</a:t>
            </a:r>
            <a:endParaRPr lang="en-US" sz="1100" dirty="0"/>
          </a:p>
        </p:txBody>
      </p:sp>
      <p:sp>
        <p:nvSpPr>
          <p:cNvPr id="13" name="box Policy"/>
          <p:cNvSpPr/>
          <p:nvPr/>
        </p:nvSpPr>
        <p:spPr>
          <a:xfrm>
            <a:off x="3154680" y="2148840"/>
            <a:ext cx="1033272" cy="548640"/>
          </a:xfrm>
          <a:prstGeom prst="roundRect">
            <a:avLst>
              <a:gd name="adj" fmla="val 8333"/>
            </a:avLst>
          </a:prstGeom>
          <a:solidFill>
            <a:schemeClr val="bg1"/>
          </a:solidFill>
          <a:ln w="15875">
            <a:solidFill>
              <a:srgbClr val="1A73E8"/>
            </a:solidFill>
            <a:prstDash val="solid"/>
          </a:ln>
        </p:spPr>
      </p:sp>
      <p:sp>
        <p:nvSpPr>
          <p:cNvPr id="14" name="Text 12"/>
          <p:cNvSpPr txBox="1"/>
          <p:nvPr/>
        </p:nvSpPr>
        <p:spPr>
          <a:xfrm>
            <a:off x="3209544" y="2148840"/>
            <a:ext cx="923544" cy="548640"/>
          </a:xfrm>
          <a:prstGeom prst="rect">
            <a:avLst/>
          </a:prstGeom>
          <a:noFill/>
          <a:ln/>
        </p:spPr>
        <p:txBody>
          <a:bodyPr wrap="square" lIns="0" tIns="0" rIns="0" bIns="0" rtlCol="0" anchor="ctr"/>
          <a:lstStyle/>
          <a:p>
            <a:pPr marL="0" indent="0" algn="ctr">
              <a:buNone/>
            </a:pPr>
            <a:r>
              <a:rPr lang="en-US" sz="1100" b="1" dirty="0">
                <a:solidFill>
                  <a:schemeClr val="tx1"/>
                </a:solidFill>
              </a:rPr>
              <a:t>Policy</a:t>
            </a:r>
            <a:endParaRPr lang="en-US" sz="1100" dirty="0"/>
          </a:p>
          <a:p>
            <a:pPr marL="0" indent="0" algn="ctr">
              <a:buNone/>
            </a:pPr>
            <a:r>
              <a:rPr lang="en-US" sz="950" dirty="0">
                <a:solidFill>
                  <a:schemeClr val="accent5"/>
                </a:solidFill>
              </a:rPr>
              <a:t>escalate?</a:t>
            </a:r>
            <a:endParaRPr lang="en-US" sz="1100" dirty="0"/>
          </a:p>
        </p:txBody>
      </p:sp>
      <p:sp>
        <p:nvSpPr>
          <p:cNvPr id="15" name="box Safety gate"/>
          <p:cNvSpPr/>
          <p:nvPr/>
        </p:nvSpPr>
        <p:spPr>
          <a:xfrm>
            <a:off x="2029968" y="2788920"/>
            <a:ext cx="1033272" cy="548640"/>
          </a:xfrm>
          <a:prstGeom prst="roundRect">
            <a:avLst>
              <a:gd name="adj" fmla="val 8333"/>
            </a:avLst>
          </a:prstGeom>
          <a:solidFill>
            <a:schemeClr val="bg1"/>
          </a:solidFill>
          <a:ln w="15875">
            <a:solidFill>
              <a:srgbClr val="1A73E8"/>
            </a:solidFill>
            <a:prstDash val="solid"/>
          </a:ln>
        </p:spPr>
      </p:sp>
      <p:sp>
        <p:nvSpPr>
          <p:cNvPr id="16" name="Text 14"/>
          <p:cNvSpPr txBox="1"/>
          <p:nvPr/>
        </p:nvSpPr>
        <p:spPr>
          <a:xfrm>
            <a:off x="2084832" y="2788920"/>
            <a:ext cx="923544" cy="548640"/>
          </a:xfrm>
          <a:prstGeom prst="rect">
            <a:avLst/>
          </a:prstGeom>
          <a:noFill/>
          <a:ln/>
        </p:spPr>
        <p:txBody>
          <a:bodyPr wrap="square" lIns="0" tIns="0" rIns="0" bIns="0" rtlCol="0" anchor="ctr"/>
          <a:lstStyle/>
          <a:p>
            <a:pPr marL="0" indent="0" algn="ctr">
              <a:buNone/>
            </a:pPr>
            <a:r>
              <a:rPr lang="en-US" sz="1100" b="1" dirty="0">
                <a:solidFill>
                  <a:schemeClr val="tx1"/>
                </a:solidFill>
              </a:rPr>
              <a:t>Safety gate</a:t>
            </a:r>
            <a:endParaRPr lang="en-US" sz="1100" dirty="0"/>
          </a:p>
          <a:p>
            <a:pPr marL="0" indent="0" algn="ctr">
              <a:buNone/>
            </a:pPr>
            <a:r>
              <a:rPr lang="en-US" sz="950" dirty="0">
                <a:solidFill>
                  <a:schemeClr val="accent5"/>
                </a:solidFill>
              </a:rPr>
              <a:t>robot calls</a:t>
            </a:r>
            <a:endParaRPr lang="en-US" sz="1100" dirty="0"/>
          </a:p>
        </p:txBody>
      </p:sp>
      <p:sp>
        <p:nvSpPr>
          <p:cNvPr id="17" name="box SO-101 sim"/>
          <p:cNvSpPr/>
          <p:nvPr/>
        </p:nvSpPr>
        <p:spPr>
          <a:xfrm>
            <a:off x="3154680" y="2788920"/>
            <a:ext cx="1033272" cy="548640"/>
          </a:xfrm>
          <a:prstGeom prst="roundRect">
            <a:avLst>
              <a:gd name="adj" fmla="val 8333"/>
            </a:avLst>
          </a:prstGeom>
          <a:solidFill>
            <a:schemeClr val="bg1"/>
          </a:solidFill>
          <a:ln w="15875">
            <a:solidFill>
              <a:srgbClr val="1A73E8"/>
            </a:solidFill>
            <a:prstDash val="solid"/>
          </a:ln>
        </p:spPr>
      </p:sp>
      <p:sp>
        <p:nvSpPr>
          <p:cNvPr id="18" name="Text 16"/>
          <p:cNvSpPr txBox="1"/>
          <p:nvPr/>
        </p:nvSpPr>
        <p:spPr>
          <a:xfrm>
            <a:off x="3209544" y="2788920"/>
            <a:ext cx="923544" cy="548640"/>
          </a:xfrm>
          <a:prstGeom prst="rect">
            <a:avLst/>
          </a:prstGeom>
          <a:noFill/>
          <a:ln/>
        </p:spPr>
        <p:txBody>
          <a:bodyPr wrap="square" lIns="0" tIns="0" rIns="0" bIns="0" rtlCol="0" anchor="ctr"/>
          <a:lstStyle/>
          <a:p>
            <a:pPr marL="0" indent="0" algn="ctr">
              <a:buNone/>
            </a:pPr>
            <a:r>
              <a:rPr lang="en-US" sz="1100" b="1" dirty="0">
                <a:solidFill>
                  <a:schemeClr val="tx1"/>
                </a:solidFill>
              </a:rPr>
              <a:t>SO-101 sim</a:t>
            </a:r>
            <a:endParaRPr lang="en-US" sz="1100" dirty="0"/>
          </a:p>
          <a:p>
            <a:pPr marL="0" indent="0" algn="ctr">
              <a:buNone/>
            </a:pPr>
            <a:r>
              <a:rPr lang="en-US" sz="950" dirty="0">
                <a:solidFill>
                  <a:schemeClr val="accent5"/>
                </a:solidFill>
              </a:rPr>
              <a:t>3D replay</a:t>
            </a:r>
            <a:endParaRPr lang="en-US" sz="1100" dirty="0"/>
          </a:p>
        </p:txBody>
      </p:sp>
      <p:sp>
        <p:nvSpPr>
          <p:cNvPr id="19" name="box AI budget · CSP · auth"/>
          <p:cNvSpPr/>
          <p:nvPr/>
        </p:nvSpPr>
        <p:spPr>
          <a:xfrm>
            <a:off x="2029968" y="3429000"/>
            <a:ext cx="2157984" cy="411480"/>
          </a:xfrm>
          <a:prstGeom prst="roundRect">
            <a:avLst>
              <a:gd name="adj" fmla="val 11111"/>
            </a:avLst>
          </a:prstGeom>
          <a:solidFill>
            <a:schemeClr val="bg1"/>
          </a:solidFill>
          <a:ln w="15875">
            <a:solidFill>
              <a:srgbClr val="1A73E8"/>
            </a:solidFill>
            <a:prstDash val="solid"/>
          </a:ln>
        </p:spPr>
      </p:sp>
      <p:sp>
        <p:nvSpPr>
          <p:cNvPr id="20" name="Text 18"/>
          <p:cNvSpPr txBox="1"/>
          <p:nvPr/>
        </p:nvSpPr>
        <p:spPr>
          <a:xfrm>
            <a:off x="2084832" y="3429000"/>
            <a:ext cx="2048256" cy="411480"/>
          </a:xfrm>
          <a:prstGeom prst="rect">
            <a:avLst/>
          </a:prstGeom>
          <a:noFill/>
          <a:ln/>
        </p:spPr>
        <p:txBody>
          <a:bodyPr wrap="square" lIns="0" tIns="0" rIns="0" bIns="0" rtlCol="0" anchor="ctr"/>
          <a:lstStyle/>
          <a:p>
            <a:pPr marL="0" indent="0" algn="ctr">
              <a:buNone/>
            </a:pPr>
            <a:r>
              <a:rPr lang="en-US" sz="1100" b="1" dirty="0">
                <a:solidFill>
                  <a:schemeClr val="tx1"/>
                </a:solidFill>
              </a:rPr>
              <a:t>AI budget · CSP · auth</a:t>
            </a:r>
            <a:endParaRPr lang="en-US" sz="1100" dirty="0"/>
          </a:p>
        </p:txBody>
      </p:sp>
      <p:sp>
        <p:nvSpPr>
          <p:cNvPr id="21" name="Shape 19"/>
          <p:cNvSpPr/>
          <p:nvPr/>
        </p:nvSpPr>
        <p:spPr>
          <a:xfrm>
            <a:off x="4526280" y="1234440"/>
            <a:ext cx="2011680" cy="2743200"/>
          </a:xfrm>
          <a:prstGeom prst="roundRect">
            <a:avLst>
              <a:gd name="adj" fmla="val 2727"/>
            </a:avLst>
          </a:prstGeom>
          <a:solidFill>
            <a:schemeClr val="bg2"/>
          </a:solidFill>
          <a:ln/>
        </p:spPr>
      </p:sp>
      <p:sp>
        <p:nvSpPr>
          <p:cNvPr id="22" name="Text 20"/>
          <p:cNvSpPr txBox="1"/>
          <p:nvPr/>
        </p:nvSpPr>
        <p:spPr>
          <a:xfrm>
            <a:off x="4636008" y="1289304"/>
            <a:ext cx="1828800" cy="228600"/>
          </a:xfrm>
          <a:prstGeom prst="rect">
            <a:avLst/>
          </a:prstGeom>
          <a:noFill/>
          <a:ln/>
        </p:spPr>
        <p:txBody>
          <a:bodyPr wrap="square" lIns="0" tIns="0" rIns="0" bIns="0" rtlCol="0" anchor="t"/>
          <a:lstStyle/>
          <a:p>
            <a:pPr marL="0" indent="0">
              <a:buNone/>
            </a:pPr>
            <a:r>
              <a:rPr lang="en-US" sz="1000" b="1" dirty="0">
                <a:solidFill>
                  <a:srgbClr val="188038"/>
                </a:solidFill>
              </a:rPr>
              <a:t>Google AI</a:t>
            </a:r>
            <a:endParaRPr lang="en-US" sz="1000" dirty="0"/>
          </a:p>
        </p:txBody>
      </p:sp>
      <p:sp>
        <p:nvSpPr>
          <p:cNvPr id="23" name="box Gemini Robotics ER 2"/>
          <p:cNvSpPr/>
          <p:nvPr/>
        </p:nvSpPr>
        <p:spPr>
          <a:xfrm>
            <a:off x="4636008" y="1554480"/>
            <a:ext cx="1792224" cy="640080"/>
          </a:xfrm>
          <a:prstGeom prst="roundRect">
            <a:avLst>
              <a:gd name="adj" fmla="val 7143"/>
            </a:avLst>
          </a:prstGeom>
          <a:solidFill>
            <a:schemeClr val="bg1"/>
          </a:solidFill>
          <a:ln w="15875">
            <a:solidFill>
              <a:srgbClr val="188038"/>
            </a:solidFill>
            <a:prstDash val="solid"/>
          </a:ln>
        </p:spPr>
      </p:sp>
      <p:sp>
        <p:nvSpPr>
          <p:cNvPr id="24" name="Text 22"/>
          <p:cNvSpPr txBox="1"/>
          <p:nvPr/>
        </p:nvSpPr>
        <p:spPr>
          <a:xfrm>
            <a:off x="4690872" y="1554480"/>
            <a:ext cx="1682496" cy="640080"/>
          </a:xfrm>
          <a:prstGeom prst="rect">
            <a:avLst/>
          </a:prstGeom>
          <a:noFill/>
          <a:ln/>
        </p:spPr>
        <p:txBody>
          <a:bodyPr wrap="square" lIns="0" tIns="0" rIns="0" bIns="0" rtlCol="0" anchor="ctr"/>
          <a:lstStyle/>
          <a:p>
            <a:pPr marL="0" indent="0" algn="ctr">
              <a:buNone/>
            </a:pPr>
            <a:r>
              <a:rPr lang="en-US" sz="1100" b="1" dirty="0">
                <a:solidFill>
                  <a:schemeClr val="tx1"/>
                </a:solidFill>
              </a:rPr>
              <a:t>Gemini Robotics ER 2</a:t>
            </a:r>
            <a:endParaRPr lang="en-US" sz="1100" dirty="0"/>
          </a:p>
          <a:p>
            <a:pPr marL="0" indent="0" algn="ctr">
              <a:buNone/>
            </a:pPr>
            <a:r>
              <a:rPr lang="en-US" sz="950" dirty="0">
                <a:solidFill>
                  <a:schemeClr val="accent5"/>
                </a:solidFill>
              </a:rPr>
              <a:t>points + cites rule</a:t>
            </a:r>
            <a:endParaRPr lang="en-US" sz="1100" dirty="0"/>
          </a:p>
        </p:txBody>
      </p:sp>
      <p:sp>
        <p:nvSpPr>
          <p:cNvPr id="25" name="box Gemini on Vertex AI"/>
          <p:cNvSpPr/>
          <p:nvPr/>
        </p:nvSpPr>
        <p:spPr>
          <a:xfrm>
            <a:off x="4636008" y="2304288"/>
            <a:ext cx="1792224" cy="640080"/>
          </a:xfrm>
          <a:prstGeom prst="roundRect">
            <a:avLst>
              <a:gd name="adj" fmla="val 7143"/>
            </a:avLst>
          </a:prstGeom>
          <a:solidFill>
            <a:schemeClr val="bg1"/>
          </a:solidFill>
          <a:ln w="15875">
            <a:solidFill>
              <a:srgbClr val="188038"/>
            </a:solidFill>
            <a:prstDash val="solid"/>
          </a:ln>
        </p:spPr>
      </p:sp>
      <p:sp>
        <p:nvSpPr>
          <p:cNvPr id="26" name="Text 24"/>
          <p:cNvSpPr txBox="1"/>
          <p:nvPr/>
        </p:nvSpPr>
        <p:spPr>
          <a:xfrm>
            <a:off x="4690872" y="2304288"/>
            <a:ext cx="1682496" cy="640080"/>
          </a:xfrm>
          <a:prstGeom prst="rect">
            <a:avLst/>
          </a:prstGeom>
          <a:noFill/>
          <a:ln/>
        </p:spPr>
        <p:txBody>
          <a:bodyPr wrap="square" lIns="0" tIns="0" rIns="0" bIns="0" rtlCol="0" anchor="ctr"/>
          <a:lstStyle/>
          <a:p>
            <a:pPr marL="0" indent="0" algn="ctr">
              <a:buNone/>
            </a:pPr>
            <a:r>
              <a:rPr lang="en-US" sz="1100" b="1" dirty="0">
                <a:solidFill>
                  <a:schemeClr val="tx1"/>
                </a:solidFill>
              </a:rPr>
              <a:t>Gemini on Vertex AI</a:t>
            </a:r>
            <a:endParaRPr lang="en-US" sz="1100" dirty="0"/>
          </a:p>
          <a:p>
            <a:pPr marL="0" indent="0" algn="ctr">
              <a:buNone/>
            </a:pPr>
            <a:r>
              <a:rPr lang="en-US" sz="950" dirty="0">
                <a:solidFill>
                  <a:schemeClr val="accent5"/>
                </a:solidFill>
              </a:rPr>
              <a:t>3.5 Flash-Lite: video, steps, Q&amp;A, fallback</a:t>
            </a:r>
            <a:endParaRPr lang="en-US" sz="1100" dirty="0"/>
          </a:p>
        </p:txBody>
      </p:sp>
      <p:sp>
        <p:nvSpPr>
          <p:cNvPr id="27" name="box ADK agent"/>
          <p:cNvSpPr/>
          <p:nvPr/>
        </p:nvSpPr>
        <p:spPr>
          <a:xfrm>
            <a:off x="4636008" y="3054096"/>
            <a:ext cx="1792224" cy="640080"/>
          </a:xfrm>
          <a:prstGeom prst="roundRect">
            <a:avLst>
              <a:gd name="adj" fmla="val 7143"/>
            </a:avLst>
          </a:prstGeom>
          <a:solidFill>
            <a:schemeClr val="bg1"/>
          </a:solidFill>
          <a:ln w="15875">
            <a:solidFill>
              <a:srgbClr val="188038"/>
            </a:solidFill>
            <a:prstDash val="solid"/>
          </a:ln>
        </p:spPr>
      </p:sp>
      <p:sp>
        <p:nvSpPr>
          <p:cNvPr id="28" name="Text 26"/>
          <p:cNvSpPr txBox="1"/>
          <p:nvPr/>
        </p:nvSpPr>
        <p:spPr>
          <a:xfrm>
            <a:off x="4690872" y="3054096"/>
            <a:ext cx="1682496" cy="640080"/>
          </a:xfrm>
          <a:prstGeom prst="rect">
            <a:avLst/>
          </a:prstGeom>
          <a:noFill/>
          <a:ln/>
        </p:spPr>
        <p:txBody>
          <a:bodyPr wrap="square" lIns="0" tIns="0" rIns="0" bIns="0" rtlCol="0" anchor="ctr"/>
          <a:lstStyle/>
          <a:p>
            <a:pPr marL="0" indent="0" algn="ctr">
              <a:buNone/>
            </a:pPr>
            <a:r>
              <a:rPr lang="en-US" sz="1100" b="1" dirty="0">
                <a:solidFill>
                  <a:schemeClr val="tx1"/>
                </a:solidFill>
              </a:rPr>
              <a:t>ADK agent</a:t>
            </a:r>
            <a:endParaRPr lang="en-US" sz="1100" dirty="0"/>
          </a:p>
          <a:p>
            <a:pPr marL="0" indent="0" algn="ctr">
              <a:buNone/>
            </a:pPr>
            <a:r>
              <a:rPr lang="en-US" sz="950" dirty="0">
                <a:solidFill>
                  <a:schemeClr val="accent5"/>
                </a:solidFill>
              </a:rPr>
              <a:t>root cause, read-only SQL</a:t>
            </a:r>
            <a:endParaRPr lang="en-US" sz="1100" dirty="0"/>
          </a:p>
        </p:txBody>
      </p:sp>
      <p:sp>
        <p:nvSpPr>
          <p:cNvPr id="29" name="Shape 27"/>
          <p:cNvSpPr/>
          <p:nvPr/>
        </p:nvSpPr>
        <p:spPr>
          <a:xfrm>
            <a:off x="6766560" y="1234440"/>
            <a:ext cx="2020824" cy="2743200"/>
          </a:xfrm>
          <a:prstGeom prst="roundRect">
            <a:avLst>
              <a:gd name="adj" fmla="val 2715"/>
            </a:avLst>
          </a:prstGeom>
          <a:solidFill>
            <a:schemeClr val="bg2"/>
          </a:solidFill>
          <a:ln/>
        </p:spPr>
      </p:sp>
      <p:sp>
        <p:nvSpPr>
          <p:cNvPr id="30" name="Text 28"/>
          <p:cNvSpPr txBox="1"/>
          <p:nvPr/>
        </p:nvSpPr>
        <p:spPr>
          <a:xfrm>
            <a:off x="6876288" y="1289304"/>
            <a:ext cx="1837944" cy="228600"/>
          </a:xfrm>
          <a:prstGeom prst="rect">
            <a:avLst/>
          </a:prstGeom>
          <a:noFill/>
          <a:ln/>
        </p:spPr>
        <p:txBody>
          <a:bodyPr wrap="square" lIns="0" tIns="0" rIns="0" bIns="0" rtlCol="0" anchor="t"/>
          <a:lstStyle/>
          <a:p>
            <a:pPr marL="0" indent="0">
              <a:buNone/>
            </a:pPr>
            <a:r>
              <a:rPr lang="en-US" sz="1000" b="1" dirty="0">
                <a:solidFill>
                  <a:srgbClr val="E37400"/>
                </a:solidFill>
              </a:rPr>
              <a:t>Google Cloud data</a:t>
            </a:r>
            <a:endParaRPr lang="en-US" sz="1000" dirty="0"/>
          </a:p>
        </p:txBody>
      </p:sp>
      <p:sp>
        <p:nvSpPr>
          <p:cNvPr id="31" name="box Firestore"/>
          <p:cNvSpPr/>
          <p:nvPr/>
        </p:nvSpPr>
        <p:spPr>
          <a:xfrm>
            <a:off x="6876288" y="1554480"/>
            <a:ext cx="1801368" cy="640080"/>
          </a:xfrm>
          <a:prstGeom prst="roundRect">
            <a:avLst>
              <a:gd name="adj" fmla="val 7143"/>
            </a:avLst>
          </a:prstGeom>
          <a:solidFill>
            <a:schemeClr val="bg1"/>
          </a:solidFill>
          <a:ln w="15875">
            <a:solidFill>
              <a:srgbClr val="E37400"/>
            </a:solidFill>
            <a:prstDash val="solid"/>
          </a:ln>
        </p:spPr>
      </p:sp>
      <p:sp>
        <p:nvSpPr>
          <p:cNvPr id="32" name="Text 30"/>
          <p:cNvSpPr txBox="1"/>
          <p:nvPr/>
        </p:nvSpPr>
        <p:spPr>
          <a:xfrm>
            <a:off x="6931152" y="1554480"/>
            <a:ext cx="1691640" cy="640080"/>
          </a:xfrm>
          <a:prstGeom prst="rect">
            <a:avLst/>
          </a:prstGeom>
          <a:noFill/>
          <a:ln/>
        </p:spPr>
        <p:txBody>
          <a:bodyPr wrap="square" lIns="0" tIns="0" rIns="0" bIns="0" rtlCol="0" anchor="ctr"/>
          <a:lstStyle/>
          <a:p>
            <a:pPr marL="0" indent="0" algn="ctr">
              <a:buNone/>
            </a:pPr>
            <a:r>
              <a:rPr lang="en-US" sz="1100" b="1" dirty="0">
                <a:solidFill>
                  <a:schemeClr val="tx1"/>
                </a:solidFill>
              </a:rPr>
              <a:t>Firestore</a:t>
            </a:r>
            <a:endParaRPr lang="en-US" sz="1100" dirty="0"/>
          </a:p>
          <a:p>
            <a:pPr marL="0" indent="0" algn="ctr">
              <a:buNone/>
            </a:pPr>
            <a:r>
              <a:rPr lang="en-US" sz="950" dirty="0">
                <a:solidFill>
                  <a:schemeClr val="accent5"/>
                </a:solidFill>
              </a:rPr>
              <a:t>rules, decisions, 8D</a:t>
            </a:r>
            <a:endParaRPr lang="en-US" sz="1100" dirty="0"/>
          </a:p>
        </p:txBody>
      </p:sp>
      <p:sp>
        <p:nvSpPr>
          <p:cNvPr id="33" name="box Cloud Storage"/>
          <p:cNvSpPr/>
          <p:nvPr/>
        </p:nvSpPr>
        <p:spPr>
          <a:xfrm>
            <a:off x="6876288" y="2304288"/>
            <a:ext cx="1801368" cy="640080"/>
          </a:xfrm>
          <a:prstGeom prst="roundRect">
            <a:avLst>
              <a:gd name="adj" fmla="val 7143"/>
            </a:avLst>
          </a:prstGeom>
          <a:solidFill>
            <a:schemeClr val="bg1"/>
          </a:solidFill>
          <a:ln w="15875">
            <a:solidFill>
              <a:srgbClr val="E37400"/>
            </a:solidFill>
            <a:prstDash val="solid"/>
          </a:ln>
        </p:spPr>
      </p:sp>
      <p:sp>
        <p:nvSpPr>
          <p:cNvPr id="34" name="Text 32"/>
          <p:cNvSpPr txBox="1"/>
          <p:nvPr/>
        </p:nvSpPr>
        <p:spPr>
          <a:xfrm>
            <a:off x="6931152" y="2304288"/>
            <a:ext cx="1691640" cy="640080"/>
          </a:xfrm>
          <a:prstGeom prst="rect">
            <a:avLst/>
          </a:prstGeom>
          <a:noFill/>
          <a:ln/>
        </p:spPr>
        <p:txBody>
          <a:bodyPr wrap="square" lIns="0" tIns="0" rIns="0" bIns="0" rtlCol="0" anchor="ctr"/>
          <a:lstStyle/>
          <a:p>
            <a:pPr marL="0" indent="0" algn="ctr">
              <a:buNone/>
            </a:pPr>
            <a:r>
              <a:rPr lang="en-US" sz="1100" b="1" dirty="0">
                <a:solidFill>
                  <a:schemeClr val="tx1"/>
                </a:solidFill>
              </a:rPr>
              <a:t>Cloud Storage</a:t>
            </a:r>
            <a:endParaRPr lang="en-US" sz="1100" dirty="0"/>
          </a:p>
          <a:p>
            <a:pPr marL="0" indent="0" algn="ctr">
              <a:buNone/>
            </a:pPr>
            <a:r>
              <a:rPr lang="en-US" sz="950" dirty="0">
                <a:solidFill>
                  <a:schemeClr val="accent5"/>
                </a:solidFill>
              </a:rPr>
              <a:t>photos, videos (signed URL)</a:t>
            </a:r>
            <a:endParaRPr lang="en-US" sz="1100" dirty="0"/>
          </a:p>
        </p:txBody>
      </p:sp>
      <p:sp>
        <p:nvSpPr>
          <p:cNvPr id="35" name="box BigQuery"/>
          <p:cNvSpPr/>
          <p:nvPr/>
        </p:nvSpPr>
        <p:spPr>
          <a:xfrm>
            <a:off x="6876288" y="3054096"/>
            <a:ext cx="1801368" cy="640080"/>
          </a:xfrm>
          <a:prstGeom prst="roundRect">
            <a:avLst>
              <a:gd name="adj" fmla="val 7143"/>
            </a:avLst>
          </a:prstGeom>
          <a:solidFill>
            <a:schemeClr val="bg1"/>
          </a:solidFill>
          <a:ln w="15875">
            <a:solidFill>
              <a:srgbClr val="E37400"/>
            </a:solidFill>
            <a:prstDash val="solid"/>
          </a:ln>
        </p:spPr>
      </p:sp>
      <p:sp>
        <p:nvSpPr>
          <p:cNvPr id="36" name="Text 34"/>
          <p:cNvSpPr txBox="1"/>
          <p:nvPr/>
        </p:nvSpPr>
        <p:spPr>
          <a:xfrm>
            <a:off x="6931152" y="3054096"/>
            <a:ext cx="1691640" cy="640080"/>
          </a:xfrm>
          <a:prstGeom prst="rect">
            <a:avLst/>
          </a:prstGeom>
          <a:noFill/>
          <a:ln/>
        </p:spPr>
        <p:txBody>
          <a:bodyPr wrap="square" lIns="0" tIns="0" rIns="0" bIns="0" rtlCol="0" anchor="ctr"/>
          <a:lstStyle/>
          <a:p>
            <a:pPr marL="0" indent="0" algn="ctr">
              <a:buNone/>
            </a:pPr>
            <a:r>
              <a:rPr lang="en-US" sz="1100" b="1" dirty="0">
                <a:solidFill>
                  <a:schemeClr val="tx1"/>
                </a:solidFill>
              </a:rPr>
              <a:t>BigQuery</a:t>
            </a:r>
            <a:endParaRPr lang="en-US" sz="1100" dirty="0"/>
          </a:p>
          <a:p>
            <a:pPr marL="0" indent="0" algn="ctr">
              <a:buNone/>
            </a:pPr>
            <a:r>
              <a:rPr lang="en-US" sz="950" dirty="0">
                <a:solidFill>
                  <a:schemeClr val="accent5"/>
                </a:solidFill>
              </a:rPr>
              <a:t>every inspection event</a:t>
            </a:r>
            <a:endParaRPr lang="en-US" sz="1100" dirty="0"/>
          </a:p>
        </p:txBody>
      </p:sp>
      <p:sp>
        <p:nvSpPr>
          <p:cNvPr id="37" name="Shape 35"/>
          <p:cNvSpPr/>
          <p:nvPr/>
        </p:nvSpPr>
        <p:spPr>
          <a:xfrm>
            <a:off x="1920240" y="4114800"/>
            <a:ext cx="6867144" cy="804672"/>
          </a:xfrm>
          <a:prstGeom prst="roundRect">
            <a:avLst>
              <a:gd name="adj" fmla="val 6818"/>
            </a:avLst>
          </a:prstGeom>
          <a:solidFill>
            <a:schemeClr val="bg2"/>
          </a:solidFill>
          <a:ln/>
        </p:spPr>
      </p:sp>
      <p:sp>
        <p:nvSpPr>
          <p:cNvPr id="38" name="Text 36"/>
          <p:cNvSpPr txBox="1"/>
          <p:nvPr/>
        </p:nvSpPr>
        <p:spPr>
          <a:xfrm>
            <a:off x="2029968" y="4169664"/>
            <a:ext cx="6684264" cy="228600"/>
          </a:xfrm>
          <a:prstGeom prst="rect">
            <a:avLst/>
          </a:prstGeom>
          <a:noFill/>
          <a:ln/>
        </p:spPr>
        <p:txBody>
          <a:bodyPr wrap="square" lIns="0" tIns="0" rIns="0" bIns="0" rtlCol="0" anchor="t"/>
          <a:lstStyle/>
          <a:p>
            <a:pPr marL="0" indent="0">
              <a:buNone/>
            </a:pPr>
            <a:r>
              <a:rPr lang="en-US" sz="1000" b="1" dirty="0">
                <a:solidFill>
                  <a:srgbClr val="D93025"/>
                </a:solidFill>
              </a:rPr>
              <a:t>Operations</a:t>
            </a:r>
            <a:endParaRPr lang="en-US" sz="1000" dirty="0"/>
          </a:p>
        </p:txBody>
      </p:sp>
      <p:sp>
        <p:nvSpPr>
          <p:cNvPr id="39" name="box Pub/Sub"/>
          <p:cNvSpPr/>
          <p:nvPr/>
        </p:nvSpPr>
        <p:spPr>
          <a:xfrm>
            <a:off x="2029968" y="4370832"/>
            <a:ext cx="1554480" cy="457200"/>
          </a:xfrm>
          <a:prstGeom prst="roundRect">
            <a:avLst>
              <a:gd name="adj" fmla="val 10000"/>
            </a:avLst>
          </a:prstGeom>
          <a:solidFill>
            <a:schemeClr val="bg1"/>
          </a:solidFill>
          <a:ln w="15875">
            <a:solidFill>
              <a:srgbClr val="D93025"/>
            </a:solidFill>
            <a:prstDash val="solid"/>
          </a:ln>
        </p:spPr>
      </p:sp>
      <p:sp>
        <p:nvSpPr>
          <p:cNvPr id="40" name="Text 38"/>
          <p:cNvSpPr txBox="1"/>
          <p:nvPr/>
        </p:nvSpPr>
        <p:spPr>
          <a:xfrm>
            <a:off x="2084832" y="4370832"/>
            <a:ext cx="1444752" cy="457200"/>
          </a:xfrm>
          <a:prstGeom prst="rect">
            <a:avLst/>
          </a:prstGeom>
          <a:noFill/>
          <a:ln/>
        </p:spPr>
        <p:txBody>
          <a:bodyPr wrap="square" lIns="0" tIns="0" rIns="0" bIns="0" rtlCol="0" anchor="ctr"/>
          <a:lstStyle/>
          <a:p>
            <a:pPr marL="0" indent="0" algn="ctr">
              <a:buNone/>
            </a:pPr>
            <a:r>
              <a:rPr lang="en-US" sz="1100" b="1" dirty="0">
                <a:solidFill>
                  <a:schemeClr val="tx1"/>
                </a:solidFill>
              </a:rPr>
              <a:t>Pub/Sub</a:t>
            </a:r>
            <a:endParaRPr lang="en-US" sz="1100" dirty="0"/>
          </a:p>
          <a:p>
            <a:pPr marL="0" indent="0" algn="ctr">
              <a:buNone/>
            </a:pPr>
            <a:r>
              <a:rPr lang="en-US" sz="950" dirty="0">
                <a:solidFill>
                  <a:schemeClr val="accent5"/>
                </a:solidFill>
              </a:rPr>
              <a:t>spike alerts, OIDC push</a:t>
            </a:r>
            <a:endParaRPr lang="en-US" sz="1100" dirty="0"/>
          </a:p>
        </p:txBody>
      </p:sp>
      <p:sp>
        <p:nvSpPr>
          <p:cNvPr id="41" name="box Telegram / Chat"/>
          <p:cNvSpPr/>
          <p:nvPr/>
        </p:nvSpPr>
        <p:spPr>
          <a:xfrm>
            <a:off x="3767328" y="4370832"/>
            <a:ext cx="1554480" cy="457200"/>
          </a:xfrm>
          <a:prstGeom prst="roundRect">
            <a:avLst>
              <a:gd name="adj" fmla="val 10000"/>
            </a:avLst>
          </a:prstGeom>
          <a:solidFill>
            <a:schemeClr val="bg1"/>
          </a:solidFill>
          <a:ln w="15875">
            <a:solidFill>
              <a:srgbClr val="D93025"/>
            </a:solidFill>
            <a:prstDash val="solid"/>
          </a:ln>
        </p:spPr>
      </p:sp>
      <p:sp>
        <p:nvSpPr>
          <p:cNvPr id="42" name="Text 40"/>
          <p:cNvSpPr txBox="1"/>
          <p:nvPr/>
        </p:nvSpPr>
        <p:spPr>
          <a:xfrm>
            <a:off x="3822192" y="4370832"/>
            <a:ext cx="1444752" cy="457200"/>
          </a:xfrm>
          <a:prstGeom prst="rect">
            <a:avLst/>
          </a:prstGeom>
          <a:noFill/>
          <a:ln/>
        </p:spPr>
        <p:txBody>
          <a:bodyPr wrap="square" lIns="0" tIns="0" rIns="0" bIns="0" rtlCol="0" anchor="ctr"/>
          <a:lstStyle/>
          <a:p>
            <a:pPr marL="0" indent="0" algn="ctr">
              <a:buNone/>
            </a:pPr>
            <a:r>
              <a:rPr lang="en-US" sz="1100" b="1" dirty="0">
                <a:solidFill>
                  <a:schemeClr val="tx1"/>
                </a:solidFill>
              </a:rPr>
              <a:t>Telegram / Chat</a:t>
            </a:r>
            <a:endParaRPr lang="en-US" sz="1100" dirty="0"/>
          </a:p>
          <a:p>
            <a:pPr marL="0" indent="0" algn="ctr">
              <a:buNone/>
            </a:pPr>
            <a:r>
              <a:rPr lang="en-US" sz="950" dirty="0">
                <a:solidFill>
                  <a:schemeClr val="accent5"/>
                </a:solidFill>
              </a:rPr>
              <a:t>QC team</a:t>
            </a:r>
            <a:endParaRPr lang="en-US" sz="1100" dirty="0"/>
          </a:p>
        </p:txBody>
      </p:sp>
      <p:sp>
        <p:nvSpPr>
          <p:cNvPr id="43" name="box Secret Manager"/>
          <p:cNvSpPr/>
          <p:nvPr/>
        </p:nvSpPr>
        <p:spPr>
          <a:xfrm>
            <a:off x="5504688" y="4370832"/>
            <a:ext cx="1554480" cy="457200"/>
          </a:xfrm>
          <a:prstGeom prst="roundRect">
            <a:avLst>
              <a:gd name="adj" fmla="val 10000"/>
            </a:avLst>
          </a:prstGeom>
          <a:solidFill>
            <a:schemeClr val="bg1"/>
          </a:solidFill>
          <a:ln w="15875">
            <a:solidFill>
              <a:srgbClr val="D93025"/>
            </a:solidFill>
            <a:prstDash val="solid"/>
          </a:ln>
        </p:spPr>
      </p:sp>
      <p:sp>
        <p:nvSpPr>
          <p:cNvPr id="44" name="Text 42"/>
          <p:cNvSpPr txBox="1"/>
          <p:nvPr/>
        </p:nvSpPr>
        <p:spPr>
          <a:xfrm>
            <a:off x="5559552" y="4370832"/>
            <a:ext cx="1444752" cy="457200"/>
          </a:xfrm>
          <a:prstGeom prst="rect">
            <a:avLst/>
          </a:prstGeom>
          <a:noFill/>
          <a:ln/>
        </p:spPr>
        <p:txBody>
          <a:bodyPr wrap="square" lIns="0" tIns="0" rIns="0" bIns="0" rtlCol="0" anchor="ctr"/>
          <a:lstStyle/>
          <a:p>
            <a:pPr marL="0" indent="0" algn="ctr">
              <a:buNone/>
            </a:pPr>
            <a:r>
              <a:rPr lang="en-US" sz="1100" b="1" dirty="0">
                <a:solidFill>
                  <a:schemeClr val="tx1"/>
                </a:solidFill>
              </a:rPr>
              <a:t>Secret Manager</a:t>
            </a:r>
            <a:endParaRPr lang="en-US" sz="1100" dirty="0"/>
          </a:p>
          <a:p>
            <a:pPr marL="0" indent="0" algn="ctr">
              <a:buNone/>
            </a:pPr>
            <a:r>
              <a:rPr lang="en-US" sz="950" dirty="0">
                <a:solidFill>
                  <a:schemeClr val="accent5"/>
                </a:solidFill>
              </a:rPr>
              <a:t>keys, tokens</a:t>
            </a:r>
            <a:endParaRPr lang="en-US" sz="1100" dirty="0"/>
          </a:p>
        </p:txBody>
      </p:sp>
      <p:sp>
        <p:nvSpPr>
          <p:cNvPr id="45" name="box Cloud Build"/>
          <p:cNvSpPr/>
          <p:nvPr/>
        </p:nvSpPr>
        <p:spPr>
          <a:xfrm>
            <a:off x="7150608" y="4370832"/>
            <a:ext cx="1527048" cy="457200"/>
          </a:xfrm>
          <a:prstGeom prst="roundRect">
            <a:avLst>
              <a:gd name="adj" fmla="val 10000"/>
            </a:avLst>
          </a:prstGeom>
          <a:solidFill>
            <a:schemeClr val="bg1"/>
          </a:solidFill>
          <a:ln w="15875">
            <a:solidFill>
              <a:srgbClr val="D93025"/>
            </a:solidFill>
            <a:prstDash val="solid"/>
          </a:ln>
        </p:spPr>
      </p:sp>
      <p:sp>
        <p:nvSpPr>
          <p:cNvPr id="46" name="Text 44"/>
          <p:cNvSpPr txBox="1"/>
          <p:nvPr/>
        </p:nvSpPr>
        <p:spPr>
          <a:xfrm>
            <a:off x="7205472" y="4370832"/>
            <a:ext cx="1417320" cy="457200"/>
          </a:xfrm>
          <a:prstGeom prst="rect">
            <a:avLst/>
          </a:prstGeom>
          <a:noFill/>
          <a:ln/>
        </p:spPr>
        <p:txBody>
          <a:bodyPr wrap="square" lIns="0" tIns="0" rIns="0" bIns="0" rtlCol="0" anchor="ctr"/>
          <a:lstStyle/>
          <a:p>
            <a:pPr marL="0" indent="0" algn="ctr">
              <a:buNone/>
            </a:pPr>
            <a:r>
              <a:rPr lang="en-US" sz="1100" b="1" dirty="0">
                <a:solidFill>
                  <a:schemeClr val="tx1"/>
                </a:solidFill>
              </a:rPr>
              <a:t>Cloud Build</a:t>
            </a:r>
            <a:endParaRPr lang="en-US" sz="1100" dirty="0"/>
          </a:p>
          <a:p>
            <a:pPr marL="0" indent="0" algn="ctr">
              <a:buNone/>
            </a:pPr>
            <a:r>
              <a:rPr lang="en-US" sz="950" dirty="0">
                <a:solidFill>
                  <a:schemeClr val="accent5"/>
                </a:solidFill>
              </a:rPr>
              <a:t>+ Artifact Registry</a:t>
            </a:r>
            <a:endParaRPr lang="en-US" sz="1100" dirty="0"/>
          </a:p>
        </p:txBody>
      </p:sp>
      <p:sp>
        <p:nvSpPr>
          <p:cNvPr id="47" name="Shape 45"/>
          <p:cNvSpPr/>
          <p:nvPr/>
        </p:nvSpPr>
        <p:spPr>
          <a:xfrm flipV="1">
            <a:off x="1581912" y="1828800"/>
            <a:ext cx="448056" cy="201168"/>
          </a:xfrm>
          <a:prstGeom prst="line">
            <a:avLst/>
          </a:prstGeom>
          <a:noFill/>
          <a:ln w="12700">
            <a:solidFill>
              <a:schemeClr val="accent5"/>
            </a:solidFill>
            <a:prstDash val="solid"/>
            <a:tailEnd type="triangle"/>
          </a:ln>
        </p:spPr>
      </p:sp>
      <p:sp>
        <p:nvSpPr>
          <p:cNvPr id="48" name="Shape 46"/>
          <p:cNvSpPr/>
          <p:nvPr/>
        </p:nvSpPr>
        <p:spPr>
          <a:xfrm>
            <a:off x="4187952" y="1828800"/>
            <a:ext cx="448056" cy="45720"/>
          </a:xfrm>
          <a:prstGeom prst="line">
            <a:avLst/>
          </a:prstGeom>
          <a:noFill/>
          <a:ln w="12700">
            <a:solidFill>
              <a:schemeClr val="accent5"/>
            </a:solidFill>
            <a:prstDash val="solid"/>
            <a:tailEnd type="triangle"/>
          </a:ln>
        </p:spPr>
      </p:sp>
      <p:sp>
        <p:nvSpPr>
          <p:cNvPr id="49" name="Shape 47"/>
          <p:cNvSpPr/>
          <p:nvPr/>
        </p:nvSpPr>
        <p:spPr>
          <a:xfrm>
            <a:off x="6428232" y="2624328"/>
            <a:ext cx="448056" cy="0"/>
          </a:xfrm>
          <a:prstGeom prst="line">
            <a:avLst/>
          </a:prstGeom>
          <a:noFill/>
          <a:ln w="12700">
            <a:solidFill>
              <a:schemeClr val="accent5"/>
            </a:solidFill>
            <a:prstDash val="solid"/>
            <a:tailEnd type="triangle"/>
          </a:ln>
        </p:spPr>
      </p:sp>
      <p:sp>
        <p:nvSpPr>
          <p:cNvPr id="50" name="Shape 48"/>
          <p:cNvSpPr/>
          <p:nvPr/>
        </p:nvSpPr>
        <p:spPr>
          <a:xfrm>
            <a:off x="6428232" y="3374136"/>
            <a:ext cx="448056" cy="0"/>
          </a:xfrm>
          <a:prstGeom prst="line">
            <a:avLst/>
          </a:prstGeom>
          <a:noFill/>
          <a:ln w="12700">
            <a:solidFill>
              <a:schemeClr val="accent5"/>
            </a:solidFill>
            <a:prstDash val="solid"/>
            <a:tailEnd type="triangle"/>
          </a:ln>
        </p:spPr>
      </p:sp>
      <p:sp>
        <p:nvSpPr>
          <p:cNvPr id="51" name="Shape 49"/>
          <p:cNvSpPr/>
          <p:nvPr/>
        </p:nvSpPr>
        <p:spPr>
          <a:xfrm>
            <a:off x="2807208" y="3840480"/>
            <a:ext cx="0" cy="530352"/>
          </a:xfrm>
          <a:prstGeom prst="line">
            <a:avLst/>
          </a:prstGeom>
          <a:noFill/>
          <a:ln w="12700">
            <a:solidFill>
              <a:schemeClr val="accent5"/>
            </a:solidFill>
            <a:prstDash val="solid"/>
            <a:tailEnd type="triangle"/>
          </a:ln>
        </p:spPr>
      </p:sp>
      <p:sp>
        <p:nvSpPr>
          <p:cNvPr id="52" name="Shape 50"/>
          <p:cNvSpPr/>
          <p:nvPr/>
        </p:nvSpPr>
        <p:spPr>
          <a:xfrm>
            <a:off x="3584448" y="4599432"/>
            <a:ext cx="182880" cy="0"/>
          </a:xfrm>
          <a:prstGeom prst="line">
            <a:avLst/>
          </a:prstGeom>
          <a:noFill/>
          <a:ln w="12700">
            <a:solidFill>
              <a:schemeClr val="accent5"/>
            </a:solidFill>
            <a:prstDash val="solid"/>
            <a:tailEnd type="triangle"/>
          </a:ln>
        </p:spPr>
      </p:sp>
      <p:sp>
        <p:nvSpPr>
          <p:cNvPr id="53" name="Text 51"/>
          <p:cNvSpPr txBox="1"/>
          <p:nvPr/>
        </p:nvSpPr>
        <p:spPr>
          <a:xfrm>
            <a:off x="356616" y="2880360"/>
            <a:ext cx="1371600" cy="1097280"/>
          </a:xfrm>
          <a:prstGeom prst="rect">
            <a:avLst/>
          </a:prstGeom>
          <a:noFill/>
          <a:ln/>
        </p:spPr>
        <p:txBody>
          <a:bodyPr wrap="square" lIns="0" tIns="0" rIns="0" bIns="0" rtlCol="0" anchor="t"/>
          <a:lstStyle/>
          <a:p>
            <a:pPr marL="0" indent="0">
              <a:buNone/>
            </a:pPr>
            <a:r>
              <a:rPr lang="en-US" sz="900" dirty="0">
                <a:solidFill>
                  <a:schemeClr val="accent5"/>
                </a:solidFill>
              </a:rPr>
              <a:t>Hexagonal design: models and stores sit behind ports, so ER 2 falls back to Flash-Lite automatically.</a:t>
            </a:r>
            <a:endParaRPr lang="en-US" sz="900" dirty="0"/>
          </a:p>
        </p:txBody>
      </p:sp>
      <p:sp>
        <p:nvSpPr>
          <p:cNvPr id="54"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Technologies to be used in the solution</a:t>
            </a:r>
            <a:endParaRPr lang="en-US" sz="2000" dirty="0"/>
          </a:p>
        </p:txBody>
      </p:sp>
      <p:sp>
        <p:nvSpPr>
          <p:cNvPr id="3" name="Shape 1"/>
          <p:cNvSpPr/>
          <p:nvPr/>
        </p:nvSpPr>
        <p:spPr>
          <a:xfrm>
            <a:off x="356616" y="1216152"/>
            <a:ext cx="8430768" cy="457200"/>
          </a:xfrm>
          <a:prstGeom prst="rect">
            <a:avLst/>
          </a:prstGeom>
          <a:solidFill>
            <a:schemeClr val="bg2"/>
          </a:solidFill>
          <a:ln/>
        </p:spPr>
      </p:sp>
      <p:sp>
        <p:nvSpPr>
          <p:cNvPr id="4" name="Shape 2"/>
          <p:cNvSpPr/>
          <p:nvPr/>
        </p:nvSpPr>
        <p:spPr>
          <a:xfrm>
            <a:off x="475488" y="1380744"/>
            <a:ext cx="128016" cy="128016"/>
          </a:xfrm>
          <a:prstGeom prst="ellipse">
            <a:avLst/>
          </a:prstGeom>
          <a:solidFill>
            <a:srgbClr val="188038"/>
          </a:solidFill>
          <a:ln/>
        </p:spPr>
      </p:sp>
      <p:sp>
        <p:nvSpPr>
          <p:cNvPr id="5" name="Text 3"/>
          <p:cNvSpPr txBox="1"/>
          <p:nvPr/>
        </p:nvSpPr>
        <p:spPr>
          <a:xfrm>
            <a:off x="713232" y="1216152"/>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Google AI</a:t>
            </a:r>
            <a:endParaRPr lang="en-US" sz="1150" dirty="0"/>
          </a:p>
        </p:txBody>
      </p:sp>
      <p:sp>
        <p:nvSpPr>
          <p:cNvPr id="6" name="Text 4"/>
          <p:cNvSpPr txBox="1"/>
          <p:nvPr/>
        </p:nvSpPr>
        <p:spPr>
          <a:xfrm>
            <a:off x="2331720" y="1216152"/>
            <a:ext cx="6355080" cy="457200"/>
          </a:xfrm>
          <a:prstGeom prst="rect">
            <a:avLst/>
          </a:prstGeom>
          <a:noFill/>
          <a:ln/>
        </p:spPr>
        <p:txBody>
          <a:bodyPr wrap="square" lIns="0" tIns="0" rIns="0" bIns="0" rtlCol="0" anchor="ctr"/>
          <a:lstStyle/>
          <a:p>
            <a:pPr marL="0" indent="0">
              <a:buNone/>
            </a:pPr>
            <a:r>
              <a:rPr lang="en-US" sz="1050" dirty="0">
                <a:solidFill>
                  <a:schemeClr val="tx1"/>
                </a:solidFill>
              </a:rPr>
              <a:t>Gemini Robotics ER 2 · Gemini 3.5 Flash-Lite on Vertex AI · Agent Development Kit (ADK) · google-genai SDK</a:t>
            </a:r>
            <a:endParaRPr lang="en-US" sz="1050" dirty="0"/>
          </a:p>
        </p:txBody>
      </p:sp>
      <p:sp>
        <p:nvSpPr>
          <p:cNvPr id="7" name="Shape 5"/>
          <p:cNvSpPr/>
          <p:nvPr/>
        </p:nvSpPr>
        <p:spPr>
          <a:xfrm>
            <a:off x="356616" y="1737360"/>
            <a:ext cx="8430768" cy="457200"/>
          </a:xfrm>
          <a:prstGeom prst="rect">
            <a:avLst/>
          </a:prstGeom>
          <a:solidFill>
            <a:schemeClr val="bg1"/>
          </a:solidFill>
          <a:ln/>
        </p:spPr>
      </p:sp>
      <p:sp>
        <p:nvSpPr>
          <p:cNvPr id="8" name="Shape 6"/>
          <p:cNvSpPr/>
          <p:nvPr/>
        </p:nvSpPr>
        <p:spPr>
          <a:xfrm>
            <a:off x="475488" y="1901952"/>
            <a:ext cx="128016" cy="128016"/>
          </a:xfrm>
          <a:prstGeom prst="ellipse">
            <a:avLst/>
          </a:prstGeom>
          <a:solidFill>
            <a:srgbClr val="1A73E8"/>
          </a:solidFill>
          <a:ln/>
        </p:spPr>
      </p:sp>
      <p:sp>
        <p:nvSpPr>
          <p:cNvPr id="9" name="Text 7"/>
          <p:cNvSpPr txBox="1"/>
          <p:nvPr/>
        </p:nvSpPr>
        <p:spPr>
          <a:xfrm>
            <a:off x="713232" y="1737360"/>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Google Cloud (11)</a:t>
            </a:r>
            <a:endParaRPr lang="en-US" sz="1150" dirty="0"/>
          </a:p>
        </p:txBody>
      </p:sp>
      <p:sp>
        <p:nvSpPr>
          <p:cNvPr id="10" name="Text 8"/>
          <p:cNvSpPr txBox="1"/>
          <p:nvPr/>
        </p:nvSpPr>
        <p:spPr>
          <a:xfrm>
            <a:off x="2331720" y="1737360"/>
            <a:ext cx="6355080" cy="457200"/>
          </a:xfrm>
          <a:prstGeom prst="rect">
            <a:avLst/>
          </a:prstGeom>
          <a:noFill/>
          <a:ln/>
        </p:spPr>
        <p:txBody>
          <a:bodyPr wrap="square" lIns="0" tIns="0" rIns="0" bIns="0" rtlCol="0" anchor="ctr"/>
          <a:lstStyle/>
          <a:p>
            <a:pPr marL="0" indent="0">
              <a:buNone/>
            </a:pPr>
            <a:r>
              <a:rPr lang="en-US" sz="1050" dirty="0">
                <a:solidFill>
                  <a:schemeClr val="tx1"/>
                </a:solidFill>
              </a:rPr>
              <a:t>Cloud Run · Cloud Build · Artifact Registry · Vertex AI · Gemini API · Firestore · Cloud Storage · BigQuery · Pub/Sub · Secret Manager · IAM Credentials</a:t>
            </a:r>
            <a:endParaRPr lang="en-US" sz="1050" dirty="0"/>
          </a:p>
        </p:txBody>
      </p:sp>
      <p:sp>
        <p:nvSpPr>
          <p:cNvPr id="11" name="Shape 9"/>
          <p:cNvSpPr/>
          <p:nvPr/>
        </p:nvSpPr>
        <p:spPr>
          <a:xfrm>
            <a:off x="356616" y="2258568"/>
            <a:ext cx="8430768" cy="457200"/>
          </a:xfrm>
          <a:prstGeom prst="rect">
            <a:avLst/>
          </a:prstGeom>
          <a:solidFill>
            <a:schemeClr val="bg2"/>
          </a:solidFill>
          <a:ln/>
        </p:spPr>
      </p:sp>
      <p:sp>
        <p:nvSpPr>
          <p:cNvPr id="12" name="Shape 10"/>
          <p:cNvSpPr/>
          <p:nvPr/>
        </p:nvSpPr>
        <p:spPr>
          <a:xfrm>
            <a:off x="475488" y="2423160"/>
            <a:ext cx="128016" cy="128016"/>
          </a:xfrm>
          <a:prstGeom prst="ellipse">
            <a:avLst/>
          </a:prstGeom>
          <a:solidFill>
            <a:srgbClr val="E37400"/>
          </a:solidFill>
          <a:ln/>
        </p:spPr>
      </p:sp>
      <p:sp>
        <p:nvSpPr>
          <p:cNvPr id="13" name="Text 11"/>
          <p:cNvSpPr txBox="1"/>
          <p:nvPr/>
        </p:nvSpPr>
        <p:spPr>
          <a:xfrm>
            <a:off x="713232" y="2258568"/>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Vision</a:t>
            </a:r>
            <a:endParaRPr lang="en-US" sz="1150" dirty="0"/>
          </a:p>
        </p:txBody>
      </p:sp>
      <p:sp>
        <p:nvSpPr>
          <p:cNvPr id="14" name="Text 12"/>
          <p:cNvSpPr txBox="1"/>
          <p:nvPr/>
        </p:nvSpPr>
        <p:spPr>
          <a:xfrm>
            <a:off x="2331720" y="2258568"/>
            <a:ext cx="6355080" cy="457200"/>
          </a:xfrm>
          <a:prstGeom prst="rect">
            <a:avLst/>
          </a:prstGeom>
          <a:noFill/>
          <a:ln/>
        </p:spPr>
        <p:txBody>
          <a:bodyPr wrap="square" lIns="0" tIns="0" rIns="0" bIns="0" rtlCol="0" anchor="ctr"/>
          <a:lstStyle/>
          <a:p>
            <a:pPr marL="0" indent="0">
              <a:buNone/>
            </a:pPr>
            <a:r>
              <a:rPr lang="en-US" sz="1050" dirty="0">
                <a:solidFill>
                  <a:schemeClr val="tx1"/>
                </a:solidFill>
              </a:rPr>
              <a:t>Ultralytics YOLO11n-cls on CPU (PyTorch CPU) · OpenCV</a:t>
            </a:r>
            <a:endParaRPr lang="en-US" sz="1050" dirty="0"/>
          </a:p>
        </p:txBody>
      </p:sp>
      <p:sp>
        <p:nvSpPr>
          <p:cNvPr id="15" name="Shape 13"/>
          <p:cNvSpPr/>
          <p:nvPr/>
        </p:nvSpPr>
        <p:spPr>
          <a:xfrm>
            <a:off x="356616" y="2779776"/>
            <a:ext cx="8430768" cy="457200"/>
          </a:xfrm>
          <a:prstGeom prst="rect">
            <a:avLst/>
          </a:prstGeom>
          <a:solidFill>
            <a:schemeClr val="bg1"/>
          </a:solidFill>
          <a:ln/>
        </p:spPr>
      </p:sp>
      <p:sp>
        <p:nvSpPr>
          <p:cNvPr id="16" name="Shape 14"/>
          <p:cNvSpPr/>
          <p:nvPr/>
        </p:nvSpPr>
        <p:spPr>
          <a:xfrm>
            <a:off x="475488" y="2944368"/>
            <a:ext cx="128016" cy="128016"/>
          </a:xfrm>
          <a:prstGeom prst="ellipse">
            <a:avLst/>
          </a:prstGeom>
          <a:solidFill>
            <a:srgbClr val="5F6368"/>
          </a:solidFill>
          <a:ln/>
        </p:spPr>
      </p:sp>
      <p:sp>
        <p:nvSpPr>
          <p:cNvPr id="17" name="Text 15"/>
          <p:cNvSpPr txBox="1"/>
          <p:nvPr/>
        </p:nvSpPr>
        <p:spPr>
          <a:xfrm>
            <a:off x="713232" y="2779776"/>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Backend</a:t>
            </a:r>
            <a:endParaRPr lang="en-US" sz="1150" dirty="0"/>
          </a:p>
        </p:txBody>
      </p:sp>
      <p:sp>
        <p:nvSpPr>
          <p:cNvPr id="18" name="Text 16"/>
          <p:cNvSpPr txBox="1"/>
          <p:nvPr/>
        </p:nvSpPr>
        <p:spPr>
          <a:xfrm>
            <a:off x="2331720" y="2779776"/>
            <a:ext cx="6355080" cy="457200"/>
          </a:xfrm>
          <a:prstGeom prst="rect">
            <a:avLst/>
          </a:prstGeom>
          <a:noFill/>
          <a:ln/>
        </p:spPr>
        <p:txBody>
          <a:bodyPr wrap="square" lIns="0" tIns="0" rIns="0" bIns="0" rtlCol="0" anchor="ctr"/>
          <a:lstStyle/>
          <a:p>
            <a:pPr marL="0" indent="0">
              <a:buNone/>
            </a:pPr>
            <a:r>
              <a:rPr lang="en-US" sz="1050" dirty="0">
                <a:solidFill>
                  <a:schemeClr val="tx1"/>
                </a:solidFill>
              </a:rPr>
              <a:t>Python 3.12 · FastAPI · Pydantic · hexagonal architecture with vertical slices · python-docx (8D export)</a:t>
            </a:r>
            <a:endParaRPr lang="en-US" sz="1050" dirty="0"/>
          </a:p>
        </p:txBody>
      </p:sp>
      <p:sp>
        <p:nvSpPr>
          <p:cNvPr id="19" name="Shape 17"/>
          <p:cNvSpPr/>
          <p:nvPr/>
        </p:nvSpPr>
        <p:spPr>
          <a:xfrm>
            <a:off x="356616" y="3300984"/>
            <a:ext cx="8430768" cy="457200"/>
          </a:xfrm>
          <a:prstGeom prst="rect">
            <a:avLst/>
          </a:prstGeom>
          <a:solidFill>
            <a:schemeClr val="bg2"/>
          </a:solidFill>
          <a:ln/>
        </p:spPr>
      </p:sp>
      <p:sp>
        <p:nvSpPr>
          <p:cNvPr id="20" name="Shape 18"/>
          <p:cNvSpPr/>
          <p:nvPr/>
        </p:nvSpPr>
        <p:spPr>
          <a:xfrm>
            <a:off x="475488" y="3465576"/>
            <a:ext cx="128016" cy="128016"/>
          </a:xfrm>
          <a:prstGeom prst="ellipse">
            <a:avLst/>
          </a:prstGeom>
          <a:solidFill>
            <a:srgbClr val="5F6368"/>
          </a:solidFill>
          <a:ln/>
        </p:spPr>
      </p:sp>
      <p:sp>
        <p:nvSpPr>
          <p:cNvPr id="21" name="Text 19"/>
          <p:cNvSpPr txBox="1"/>
          <p:nvPr/>
        </p:nvSpPr>
        <p:spPr>
          <a:xfrm>
            <a:off x="713232" y="3300984"/>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Frontend</a:t>
            </a:r>
            <a:endParaRPr lang="en-US" sz="1150" dirty="0"/>
          </a:p>
        </p:txBody>
      </p:sp>
      <p:sp>
        <p:nvSpPr>
          <p:cNvPr id="22" name="Text 20"/>
          <p:cNvSpPr txBox="1"/>
          <p:nvPr/>
        </p:nvSpPr>
        <p:spPr>
          <a:xfrm>
            <a:off x="2331720" y="3300984"/>
            <a:ext cx="6355080" cy="457200"/>
          </a:xfrm>
          <a:prstGeom prst="rect">
            <a:avLst/>
          </a:prstGeom>
          <a:noFill/>
          <a:ln/>
        </p:spPr>
        <p:txBody>
          <a:bodyPr wrap="square" lIns="0" tIns="0" rIns="0" bIns="0" rtlCol="0" anchor="ctr"/>
          <a:lstStyle/>
          <a:p>
            <a:pPr marL="0" indent="0">
              <a:buNone/>
            </a:pPr>
            <a:r>
              <a:rPr lang="en-US" sz="1050" dirty="0">
                <a:solidFill>
                  <a:schemeClr val="tx1"/>
                </a:solidFill>
              </a:rPr>
              <a:t>React + Vite + TypeScript · mobile-first web app · Three.js 3D robot replay</a:t>
            </a:r>
            <a:endParaRPr lang="en-US" sz="1050" dirty="0"/>
          </a:p>
        </p:txBody>
      </p:sp>
      <p:sp>
        <p:nvSpPr>
          <p:cNvPr id="23" name="Shape 21"/>
          <p:cNvSpPr/>
          <p:nvPr/>
        </p:nvSpPr>
        <p:spPr>
          <a:xfrm>
            <a:off x="356616" y="3822192"/>
            <a:ext cx="8430768" cy="457200"/>
          </a:xfrm>
          <a:prstGeom prst="rect">
            <a:avLst/>
          </a:prstGeom>
          <a:solidFill>
            <a:schemeClr val="bg1"/>
          </a:solidFill>
          <a:ln/>
        </p:spPr>
      </p:sp>
      <p:sp>
        <p:nvSpPr>
          <p:cNvPr id="24" name="Shape 22"/>
          <p:cNvSpPr/>
          <p:nvPr/>
        </p:nvSpPr>
        <p:spPr>
          <a:xfrm>
            <a:off x="475488" y="3986784"/>
            <a:ext cx="128016" cy="128016"/>
          </a:xfrm>
          <a:prstGeom prst="ellipse">
            <a:avLst/>
          </a:prstGeom>
          <a:solidFill>
            <a:srgbClr val="D93025"/>
          </a:solidFill>
          <a:ln/>
        </p:spPr>
      </p:sp>
      <p:sp>
        <p:nvSpPr>
          <p:cNvPr id="25" name="Text 23"/>
          <p:cNvSpPr txBox="1"/>
          <p:nvPr/>
        </p:nvSpPr>
        <p:spPr>
          <a:xfrm>
            <a:off x="713232" y="3822192"/>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Alerts</a:t>
            </a:r>
            <a:endParaRPr lang="en-US" sz="1150" dirty="0"/>
          </a:p>
        </p:txBody>
      </p:sp>
      <p:sp>
        <p:nvSpPr>
          <p:cNvPr id="26" name="Text 24"/>
          <p:cNvSpPr txBox="1"/>
          <p:nvPr/>
        </p:nvSpPr>
        <p:spPr>
          <a:xfrm>
            <a:off x="2331720" y="3822192"/>
            <a:ext cx="6355080" cy="457200"/>
          </a:xfrm>
          <a:prstGeom prst="rect">
            <a:avLst/>
          </a:prstGeom>
          <a:noFill/>
          <a:ln/>
        </p:spPr>
        <p:txBody>
          <a:bodyPr wrap="square" lIns="0" tIns="0" rIns="0" bIns="0" rtlCol="0" anchor="ctr"/>
          <a:lstStyle/>
          <a:p>
            <a:pPr marL="0" indent="0">
              <a:buNone/>
            </a:pPr>
            <a:r>
              <a:rPr lang="en-US" sz="1050" dirty="0">
                <a:solidFill>
                  <a:schemeClr val="tx1"/>
                </a:solidFill>
              </a:rPr>
              <a:t>Pub/Sub push with OIDC → Telegram Bot API / Google Chat webhook</a:t>
            </a:r>
            <a:endParaRPr lang="en-US" sz="1050" dirty="0"/>
          </a:p>
        </p:txBody>
      </p:sp>
      <p:sp>
        <p:nvSpPr>
          <p:cNvPr id="27" name="Shape 25"/>
          <p:cNvSpPr/>
          <p:nvPr/>
        </p:nvSpPr>
        <p:spPr>
          <a:xfrm>
            <a:off x="356616" y="4343400"/>
            <a:ext cx="8430768" cy="457200"/>
          </a:xfrm>
          <a:prstGeom prst="rect">
            <a:avLst/>
          </a:prstGeom>
          <a:solidFill>
            <a:schemeClr val="bg2"/>
          </a:solidFill>
          <a:ln/>
        </p:spPr>
      </p:sp>
      <p:sp>
        <p:nvSpPr>
          <p:cNvPr id="28" name="Shape 26"/>
          <p:cNvSpPr/>
          <p:nvPr/>
        </p:nvSpPr>
        <p:spPr>
          <a:xfrm>
            <a:off x="475488" y="4507992"/>
            <a:ext cx="128016" cy="128016"/>
          </a:xfrm>
          <a:prstGeom prst="ellipse">
            <a:avLst/>
          </a:prstGeom>
          <a:solidFill>
            <a:srgbClr val="5F6368"/>
          </a:solidFill>
          <a:ln/>
        </p:spPr>
      </p:sp>
      <p:sp>
        <p:nvSpPr>
          <p:cNvPr id="29" name="Text 27"/>
          <p:cNvSpPr txBox="1"/>
          <p:nvPr/>
        </p:nvSpPr>
        <p:spPr>
          <a:xfrm>
            <a:off x="713232" y="4343400"/>
            <a:ext cx="1600200" cy="457200"/>
          </a:xfrm>
          <a:prstGeom prst="rect">
            <a:avLst/>
          </a:prstGeom>
          <a:noFill/>
          <a:ln/>
        </p:spPr>
        <p:txBody>
          <a:bodyPr wrap="square" lIns="0" tIns="0" rIns="0" bIns="0" rtlCol="0" anchor="ctr"/>
          <a:lstStyle/>
          <a:p>
            <a:pPr marL="0" indent="0">
              <a:buNone/>
            </a:pPr>
            <a:r>
              <a:rPr lang="en-US" sz="1150" b="1" dirty="0">
                <a:solidFill>
                  <a:schemeClr val="tx1"/>
                </a:solidFill>
              </a:rPr>
              <a:t>Quality &amp; data</a:t>
            </a:r>
            <a:endParaRPr lang="en-US" sz="1150" dirty="0"/>
          </a:p>
        </p:txBody>
      </p:sp>
      <p:sp>
        <p:nvSpPr>
          <p:cNvPr id="30" name="Text 28"/>
          <p:cNvSpPr txBox="1"/>
          <p:nvPr/>
        </p:nvSpPr>
        <p:spPr>
          <a:xfrm>
            <a:off x="2331720" y="4343400"/>
            <a:ext cx="6355080" cy="457200"/>
          </a:xfrm>
          <a:prstGeom prst="rect">
            <a:avLst/>
          </a:prstGeom>
          <a:noFill/>
          <a:ln/>
        </p:spPr>
        <p:txBody>
          <a:bodyPr wrap="square" lIns="0" tIns="0" rIns="0" bIns="0" rtlCol="0" anchor="ctr"/>
          <a:lstStyle/>
          <a:p>
            <a:pPr marL="0" indent="0">
              <a:buNone/>
            </a:pPr>
            <a:r>
              <a:rPr lang="en-US" sz="1050" dirty="0">
                <a:solidFill>
                  <a:schemeClr val="tx1"/>
                </a:solidFill>
              </a:rPr>
              <a:t>pytest (45 tests, no keys) · eval/run_all.py · Kaggle casting dataset · synthetic process history</a:t>
            </a:r>
            <a:endParaRPr lang="en-US" sz="1050" dirty="0"/>
          </a:p>
        </p:txBody>
      </p:sp>
      <p:sp>
        <p:nvSpPr>
          <p:cNvPr id="31"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Estimated implementation cost</a:t>
            </a:r>
            <a:endParaRPr lang="en-US" sz="2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56616" y="1234440"/>
          <a:ext cx="4937760" cy="2688336"/>
        </p:xfrm>
        <a:graphic>
          <a:graphicData uri="http://schemas.openxmlformats.org/drawingml/2006/table">
            <a:tbl>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84048">
                <a:tc>
                  <a:txBody>
                    <a:bodyPr/>
                    <a:lstStyle/>
                    <a:p>
                      <a:pPr marL="0" indent="0">
                        <a:buNone/>
                      </a:pPr>
                      <a:r>
                        <a:rPr lang="en-US" sz="1050" b="1" dirty="0">
                          <a:solidFill>
                            <a:srgbClr val="FFFFFF"/>
                          </a:solidFill>
                        </a:rPr>
                        <a:t>Action (measured on the live service)</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02124"/>
                    </a:solidFill>
                  </a:tcPr>
                </a:tc>
                <a:tc>
                  <a:txBody>
                    <a:bodyPr/>
                    <a:lstStyle/>
                    <a:p>
                      <a:pPr marL="0" indent="0">
                        <a:buNone/>
                      </a:pPr>
                      <a:r>
                        <a:rPr lang="en-US" sz="1050" b="1" dirty="0">
                          <a:solidFill>
                            <a:srgbClr val="FFFFFF"/>
                          </a:solidFill>
                        </a:rPr>
                        <a:t>Gemini cost</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02124"/>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chemeClr val="tx1"/>
                          </a:solidFill>
                        </a:rPr>
                        <a:t>Easy part, YOLO fast path</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50" dirty="0">
                          <a:solidFill>
                            <a:schemeClr val="tx1"/>
                          </a:solidFill>
                        </a:rPr>
                        <a:t>$0</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dirty="0">
                          <a:solidFill>
                            <a:schemeClr val="tx1"/>
                          </a:solidFill>
                        </a:rPr>
                        <a:t>Hard part, escalated to Gemini on Vertex AI</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50" dirty="0">
                          <a:solidFill>
                            <a:schemeClr val="tx1"/>
                          </a:solidFill>
                        </a:rPr>
                        <a:t>$0.001–0.002</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dirty="0">
                          <a:solidFill>
                            <a:schemeClr val="tx1"/>
                          </a:solidFill>
                        </a:rPr>
                        <a:t>Teach video (2 min) → 4 rule cards</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50" dirty="0">
                          <a:solidFill>
                            <a:schemeClr val="tx1"/>
                          </a:solidFill>
                        </a:rPr>
                        <a:t>$0.005</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dirty="0">
                          <a:solidFill>
                            <a:schemeClr val="tx1"/>
                          </a:solidFill>
                        </a:rPr>
                        <a:t>Ask SenpaiQC question</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50" dirty="0">
                          <a:solidFill>
                            <a:schemeClr val="tx1"/>
                          </a:solidFill>
                        </a:rPr>
                        <a:t>$0.0008–0.0016</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50" dirty="0">
                          <a:solidFill>
                            <a:schemeClr val="tx1"/>
                          </a:solidFill>
                        </a:rPr>
                        <a:t>Root cause + 8D draft</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50" dirty="0">
                          <a:solidFill>
                            <a:schemeClr val="tx1"/>
                          </a:solidFill>
                        </a:rPr>
                        <a:t>$0.027</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50" dirty="0">
                          <a:solidFill>
                            <a:schemeClr val="tx1"/>
                          </a:solidFill>
                        </a:rPr>
                        <a:t>Per 1,000 parts (golden set, 1% escalated)</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50" dirty="0">
                          <a:solidFill>
                            <a:schemeClr val="tx1"/>
                          </a:solidFill>
                        </a:rPr>
                        <a:t>$0.07</a:t>
                      </a:r>
                      <a:endParaRPr lang="en-US" sz="105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Shape 1"/>
          <p:cNvSpPr/>
          <p:nvPr/>
        </p:nvSpPr>
        <p:spPr>
          <a:xfrm>
            <a:off x="5577840" y="1234440"/>
            <a:ext cx="3200400" cy="1051560"/>
          </a:xfrm>
          <a:prstGeom prst="roundRect">
            <a:avLst>
              <a:gd name="adj" fmla="val 5217"/>
            </a:avLst>
          </a:prstGeom>
          <a:solidFill>
            <a:schemeClr val="bg2"/>
          </a:solidFill>
          <a:ln/>
        </p:spPr>
      </p:sp>
      <p:sp>
        <p:nvSpPr>
          <p:cNvPr id="5" name="Text 2"/>
          <p:cNvSpPr txBox="1"/>
          <p:nvPr/>
        </p:nvSpPr>
        <p:spPr>
          <a:xfrm>
            <a:off x="5742432" y="1344168"/>
            <a:ext cx="2926080" cy="457200"/>
          </a:xfrm>
          <a:prstGeom prst="rect">
            <a:avLst/>
          </a:prstGeom>
          <a:noFill/>
          <a:ln/>
        </p:spPr>
        <p:txBody>
          <a:bodyPr wrap="square" lIns="0" tIns="0" rIns="0" bIns="0" rtlCol="0" anchor="t"/>
          <a:lstStyle/>
          <a:p>
            <a:pPr marL="0" indent="0">
              <a:buNone/>
            </a:pPr>
            <a:r>
              <a:rPr lang="en-US" sz="2400" b="1" dirty="0">
                <a:solidFill>
                  <a:srgbClr val="1A73E8"/>
                </a:solidFill>
              </a:rPr>
              <a:t>≈ $6 / month</a:t>
            </a:r>
            <a:endParaRPr lang="en-US" sz="2400" dirty="0"/>
          </a:p>
        </p:txBody>
      </p:sp>
      <p:sp>
        <p:nvSpPr>
          <p:cNvPr id="6" name="Text 3"/>
          <p:cNvSpPr txBox="1"/>
          <p:nvPr/>
        </p:nvSpPr>
        <p:spPr>
          <a:xfrm>
            <a:off x="5742432" y="1801368"/>
            <a:ext cx="2926080" cy="457200"/>
          </a:xfrm>
          <a:prstGeom prst="rect">
            <a:avLst/>
          </a:prstGeom>
          <a:noFill/>
          <a:ln/>
        </p:spPr>
        <p:txBody>
          <a:bodyPr wrap="square" lIns="0" tIns="0" rIns="0" bIns="0" rtlCol="0" anchor="t"/>
          <a:lstStyle/>
          <a:p>
            <a:pPr marL="0" indent="0">
              <a:buNone/>
            </a:pPr>
            <a:r>
              <a:rPr lang="en-US" sz="1000" dirty="0">
                <a:solidFill>
                  <a:schemeClr val="accent5"/>
                </a:solidFill>
              </a:rPr>
              <a:t>Gemini for one line, 3 shifts × 5,000 parts, 1% escalated (projection, not measured in a plant)</a:t>
            </a:r>
            <a:endParaRPr lang="en-US" sz="1000" dirty="0"/>
          </a:p>
        </p:txBody>
      </p:sp>
      <p:sp>
        <p:nvSpPr>
          <p:cNvPr id="7" name="Shape 4"/>
          <p:cNvSpPr/>
          <p:nvPr/>
        </p:nvSpPr>
        <p:spPr>
          <a:xfrm>
            <a:off x="5577840" y="2395728"/>
            <a:ext cx="3200400" cy="1051560"/>
          </a:xfrm>
          <a:prstGeom prst="roundRect">
            <a:avLst>
              <a:gd name="adj" fmla="val 5217"/>
            </a:avLst>
          </a:prstGeom>
          <a:solidFill>
            <a:schemeClr val="bg2"/>
          </a:solidFill>
          <a:ln/>
        </p:spPr>
      </p:sp>
      <p:sp>
        <p:nvSpPr>
          <p:cNvPr id="8" name="Text 5"/>
          <p:cNvSpPr txBox="1"/>
          <p:nvPr/>
        </p:nvSpPr>
        <p:spPr>
          <a:xfrm>
            <a:off x="5742432" y="2505456"/>
            <a:ext cx="2926080" cy="457200"/>
          </a:xfrm>
          <a:prstGeom prst="rect">
            <a:avLst/>
          </a:prstGeom>
          <a:noFill/>
          <a:ln/>
        </p:spPr>
        <p:txBody>
          <a:bodyPr wrap="square" lIns="0" tIns="0" rIns="0" bIns="0" rtlCol="0" anchor="t"/>
          <a:lstStyle/>
          <a:p>
            <a:pPr marL="0" indent="0">
              <a:buNone/>
            </a:pPr>
            <a:r>
              <a:rPr lang="en-US" sz="2400" b="1" dirty="0">
                <a:solidFill>
                  <a:srgbClr val="188038"/>
                </a:solidFill>
              </a:rPr>
              <a:t>$2–3 total</a:t>
            </a:r>
            <a:endParaRPr lang="en-US" sz="2400" dirty="0"/>
          </a:p>
        </p:txBody>
      </p:sp>
      <p:sp>
        <p:nvSpPr>
          <p:cNvPr id="9" name="Text 6"/>
          <p:cNvSpPr txBox="1"/>
          <p:nvPr/>
        </p:nvSpPr>
        <p:spPr>
          <a:xfrm>
            <a:off x="5742432" y="2962656"/>
            <a:ext cx="2926080" cy="457200"/>
          </a:xfrm>
          <a:prstGeom prst="rect">
            <a:avLst/>
          </a:prstGeom>
          <a:noFill/>
          <a:ln/>
        </p:spPr>
        <p:txBody>
          <a:bodyPr wrap="square" lIns="0" tIns="0" rIns="0" bIns="0" rtlCol="0" anchor="t"/>
          <a:lstStyle/>
          <a:p>
            <a:pPr marL="0" indent="0">
              <a:buNone/>
            </a:pPr>
            <a:r>
              <a:rPr lang="en-US" sz="1000" dirty="0">
                <a:solidFill>
                  <a:schemeClr val="accent5"/>
                </a:solidFill>
              </a:rPr>
              <a:t>Demo and judging period, capped by a daily AI budget and one Cloud Run instance</a:t>
            </a:r>
            <a:endParaRPr lang="en-US" sz="1000" dirty="0"/>
          </a:p>
        </p:txBody>
      </p:sp>
      <p:sp>
        <p:nvSpPr>
          <p:cNvPr id="3" name="Shape 7"/>
          <p:cNvSpPr/>
          <p:nvPr/>
        </p:nvSpPr>
        <p:spPr>
          <a:xfrm>
            <a:off x="5577840" y="3557016"/>
            <a:ext cx="3200400" cy="1051560"/>
          </a:xfrm>
          <a:prstGeom prst="roundRect">
            <a:avLst>
              <a:gd name="adj" fmla="val 5217"/>
            </a:avLst>
          </a:prstGeom>
          <a:solidFill>
            <a:schemeClr val="bg2"/>
          </a:solidFill>
          <a:ln/>
        </p:spPr>
      </p:sp>
      <p:sp>
        <p:nvSpPr>
          <p:cNvPr id="11" name="Text 8"/>
          <p:cNvSpPr txBox="1"/>
          <p:nvPr/>
        </p:nvSpPr>
        <p:spPr>
          <a:xfrm>
            <a:off x="5742432" y="3666744"/>
            <a:ext cx="2926080" cy="457200"/>
          </a:xfrm>
          <a:prstGeom prst="rect">
            <a:avLst/>
          </a:prstGeom>
          <a:noFill/>
          <a:ln/>
        </p:spPr>
        <p:txBody>
          <a:bodyPr wrap="square" lIns="0" tIns="0" rIns="0" bIns="0" rtlCol="0" anchor="t"/>
          <a:lstStyle/>
          <a:p>
            <a:pPr marL="0" indent="0">
              <a:buNone/>
            </a:pPr>
            <a:r>
              <a:rPr lang="en-US" sz="2400" b="1" dirty="0">
                <a:solidFill>
                  <a:srgbClr val="E37400"/>
                </a:solidFill>
              </a:rPr>
              <a:t>No new hardware</a:t>
            </a:r>
            <a:endParaRPr lang="en-US" sz="2400" dirty="0"/>
          </a:p>
        </p:txBody>
      </p:sp>
      <p:sp>
        <p:nvSpPr>
          <p:cNvPr id="12" name="Text 9"/>
          <p:cNvSpPr txBox="1"/>
          <p:nvPr/>
        </p:nvSpPr>
        <p:spPr>
          <a:xfrm>
            <a:off x="5742432" y="4123944"/>
            <a:ext cx="2926080" cy="457200"/>
          </a:xfrm>
          <a:prstGeom prst="rect">
            <a:avLst/>
          </a:prstGeom>
          <a:noFill/>
          <a:ln/>
        </p:spPr>
        <p:txBody>
          <a:bodyPr wrap="square" lIns="0" tIns="0" rIns="0" bIns="0" rtlCol="0" anchor="t"/>
          <a:lstStyle/>
          <a:p>
            <a:pPr marL="0" indent="0">
              <a:buNone/>
            </a:pPr>
            <a:r>
              <a:rPr lang="en-US" sz="1000" dirty="0">
                <a:solidFill>
                  <a:schemeClr val="accent5"/>
                </a:solidFill>
              </a:rPr>
              <a:t>A phone or tablet and a browser; a robot arm is optional</a:t>
            </a:r>
            <a:endParaRPr lang="en-US" sz="1000" dirty="0"/>
          </a:p>
        </p:txBody>
      </p:sp>
      <p:sp>
        <p:nvSpPr>
          <p:cNvPr id="13" name="Text 10"/>
          <p:cNvSpPr txBox="1"/>
          <p:nvPr/>
        </p:nvSpPr>
        <p:spPr>
          <a:xfrm>
            <a:off x="356616" y="4069080"/>
            <a:ext cx="4937760" cy="640080"/>
          </a:xfrm>
          <a:prstGeom prst="rect">
            <a:avLst/>
          </a:prstGeom>
          <a:noFill/>
          <a:ln/>
        </p:spPr>
        <p:txBody>
          <a:bodyPr wrap="square" lIns="0" tIns="0" rIns="0" bIns="0" rtlCol="0" anchor="t"/>
          <a:lstStyle/>
          <a:p>
            <a:pPr marL="0" indent="0">
              <a:buNone/>
            </a:pPr>
            <a:r>
              <a:rPr lang="en-US" sz="950" dirty="0">
                <a:solidFill>
                  <a:schemeClr val="accent5"/>
                </a:solidFill>
              </a:rPr>
              <a:t>Cloud Run scales to zero; Firestore, BigQuery, Storage and Pub/Sub stay near their free tiers at one-line volume (estimate). Region us-central1, the lowest-price tier.</a:t>
            </a:r>
            <a:endParaRPr lang="en-US" sz="95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Snapshots of the prototype</a:t>
            </a:r>
            <a:endParaRPr lang="en-US" sz="2000" dirty="0"/>
          </a:p>
        </p:txBody>
      </p:sp>
      <p:pic>
        <p:nvPicPr>
          <p:cNvPr id="3" name="Teach: approved rule cards" descr="Teach: approved rule cards"/>
          <p:cNvPicPr>
            <a:picLocks noChangeAspect="1"/>
          </p:cNvPicPr>
          <p:nvPr/>
        </p:nvPicPr>
        <p:blipFill>
          <a:blip r:embed="rId3"/>
          <a:stretch>
            <a:fillRect/>
          </a:stretch>
        </p:blipFill>
        <p:spPr>
          <a:xfrm>
            <a:off x="476402" y="1207008"/>
            <a:ext cx="2457907" cy="1536192"/>
          </a:xfrm>
          <a:prstGeom prst="rect">
            <a:avLst/>
          </a:prstGeom>
        </p:spPr>
      </p:pic>
      <p:sp>
        <p:nvSpPr>
          <p:cNvPr id="4" name="Shape 1"/>
          <p:cNvSpPr/>
          <p:nvPr/>
        </p:nvSpPr>
        <p:spPr>
          <a:xfrm>
            <a:off x="476402" y="1207008"/>
            <a:ext cx="2457907" cy="1536192"/>
          </a:xfrm>
          <a:prstGeom prst="rect">
            <a:avLst/>
          </a:prstGeom>
          <a:ln w="9525">
            <a:solidFill>
              <a:schemeClr val="accent6"/>
            </a:solidFill>
            <a:prstDash val="solid"/>
          </a:ln>
        </p:spPr>
      </p:sp>
      <p:sp>
        <p:nvSpPr>
          <p:cNvPr id="5" name="Text 2"/>
          <p:cNvSpPr txBox="1"/>
          <p:nvPr/>
        </p:nvSpPr>
        <p:spPr>
          <a:xfrm>
            <a:off x="356616" y="2779776"/>
            <a:ext cx="2697480" cy="228600"/>
          </a:xfrm>
          <a:prstGeom prst="rect">
            <a:avLst/>
          </a:prstGeom>
          <a:noFill/>
          <a:ln/>
        </p:spPr>
        <p:txBody>
          <a:bodyPr wrap="square" lIns="0" tIns="0" rIns="0" bIns="0" rtlCol="0" anchor="t"/>
          <a:lstStyle/>
          <a:p>
            <a:pPr marL="0" indent="0" algn="ctr">
              <a:buNone/>
            </a:pPr>
            <a:r>
              <a:rPr lang="en-US" sz="1000" dirty="0">
                <a:solidFill>
                  <a:schemeClr val="accent5"/>
                </a:solidFill>
              </a:rPr>
              <a:t>Teach: approved rule cards</a:t>
            </a:r>
            <a:endParaRPr lang="en-US" sz="1000" dirty="0"/>
          </a:p>
        </p:txBody>
      </p:sp>
      <p:pic>
        <p:nvPicPr>
          <p:cNvPr id="6" name="Inspect: Gemini cites the rule" descr="Inspect: Gemini cites the rule"/>
          <p:cNvPicPr>
            <a:picLocks noChangeAspect="1"/>
          </p:cNvPicPr>
          <p:nvPr/>
        </p:nvPicPr>
        <p:blipFill>
          <a:blip r:embed="rId4"/>
          <a:stretch>
            <a:fillRect/>
          </a:stretch>
        </p:blipFill>
        <p:spPr>
          <a:xfrm>
            <a:off x="3311042" y="1207008"/>
            <a:ext cx="2457907" cy="1536192"/>
          </a:xfrm>
          <a:prstGeom prst="rect">
            <a:avLst/>
          </a:prstGeom>
        </p:spPr>
      </p:pic>
      <p:sp>
        <p:nvSpPr>
          <p:cNvPr id="7" name="Shape 3"/>
          <p:cNvSpPr/>
          <p:nvPr/>
        </p:nvSpPr>
        <p:spPr>
          <a:xfrm>
            <a:off x="3311042" y="1207008"/>
            <a:ext cx="2457907" cy="1536192"/>
          </a:xfrm>
          <a:prstGeom prst="rect">
            <a:avLst/>
          </a:prstGeom>
          <a:ln w="9525">
            <a:solidFill>
              <a:schemeClr val="accent6"/>
            </a:solidFill>
            <a:prstDash val="solid"/>
          </a:ln>
        </p:spPr>
      </p:sp>
      <p:sp>
        <p:nvSpPr>
          <p:cNvPr id="8" name="Text 4"/>
          <p:cNvSpPr txBox="1"/>
          <p:nvPr/>
        </p:nvSpPr>
        <p:spPr>
          <a:xfrm>
            <a:off x="3191256" y="2779776"/>
            <a:ext cx="2697480" cy="228600"/>
          </a:xfrm>
          <a:prstGeom prst="rect">
            <a:avLst/>
          </a:prstGeom>
          <a:noFill/>
          <a:ln/>
        </p:spPr>
        <p:txBody>
          <a:bodyPr wrap="square" lIns="0" tIns="0" rIns="0" bIns="0" rtlCol="0" anchor="t"/>
          <a:lstStyle/>
          <a:p>
            <a:pPr marL="0" indent="0" algn="ctr">
              <a:buNone/>
            </a:pPr>
            <a:r>
              <a:rPr lang="en-US" sz="1000" dirty="0">
                <a:solidFill>
                  <a:schemeClr val="accent5"/>
                </a:solidFill>
              </a:rPr>
              <a:t>Inspect: Gemini cites the rule</a:t>
            </a:r>
            <a:endParaRPr lang="en-US" sz="1000" dirty="0"/>
          </a:p>
        </p:txBody>
      </p:sp>
      <p:pic>
        <p:nvPicPr>
          <p:cNvPr id="9" name="Act: simulated robot cell" descr="Act: simulated robot cell"/>
          <p:cNvPicPr>
            <a:picLocks noChangeAspect="1"/>
          </p:cNvPicPr>
          <p:nvPr/>
        </p:nvPicPr>
        <p:blipFill>
          <a:blip r:embed="rId5"/>
          <a:stretch>
            <a:fillRect/>
          </a:stretch>
        </p:blipFill>
        <p:spPr>
          <a:xfrm>
            <a:off x="6145682" y="1207008"/>
            <a:ext cx="2457907" cy="1536192"/>
          </a:xfrm>
          <a:prstGeom prst="rect">
            <a:avLst/>
          </a:prstGeom>
        </p:spPr>
      </p:pic>
      <p:sp>
        <p:nvSpPr>
          <p:cNvPr id="10" name="Shape 5"/>
          <p:cNvSpPr/>
          <p:nvPr/>
        </p:nvSpPr>
        <p:spPr>
          <a:xfrm>
            <a:off x="6145682" y="1207008"/>
            <a:ext cx="2457907" cy="1536192"/>
          </a:xfrm>
          <a:prstGeom prst="rect">
            <a:avLst/>
          </a:prstGeom>
          <a:ln w="9525">
            <a:solidFill>
              <a:schemeClr val="accent6"/>
            </a:solidFill>
            <a:prstDash val="solid"/>
          </a:ln>
        </p:spPr>
      </p:sp>
      <p:sp>
        <p:nvSpPr>
          <p:cNvPr id="11" name="Text 6"/>
          <p:cNvSpPr txBox="1"/>
          <p:nvPr/>
        </p:nvSpPr>
        <p:spPr>
          <a:xfrm>
            <a:off x="6025896" y="2779776"/>
            <a:ext cx="2697480" cy="228600"/>
          </a:xfrm>
          <a:prstGeom prst="rect">
            <a:avLst/>
          </a:prstGeom>
          <a:noFill/>
          <a:ln/>
        </p:spPr>
        <p:txBody>
          <a:bodyPr wrap="square" lIns="0" tIns="0" rIns="0" bIns="0" rtlCol="0" anchor="t"/>
          <a:lstStyle/>
          <a:p>
            <a:pPr marL="0" indent="0" algn="ctr">
              <a:buNone/>
            </a:pPr>
            <a:r>
              <a:rPr lang="en-US" sz="1000" dirty="0">
                <a:solidFill>
                  <a:schemeClr val="accent5"/>
                </a:solidFill>
              </a:rPr>
              <a:t>Act: simulated robot cell</a:t>
            </a:r>
            <a:endParaRPr lang="en-US" sz="1000" dirty="0"/>
          </a:p>
        </p:txBody>
      </p:sp>
      <p:pic>
        <p:nvPicPr>
          <p:cNvPr id="12" name="Learn: ADK root cause" descr="Learn: ADK root cause"/>
          <p:cNvPicPr>
            <a:picLocks noChangeAspect="1"/>
          </p:cNvPicPr>
          <p:nvPr/>
        </p:nvPicPr>
        <p:blipFill>
          <a:blip r:embed="rId6"/>
          <a:stretch>
            <a:fillRect/>
          </a:stretch>
        </p:blipFill>
        <p:spPr>
          <a:xfrm>
            <a:off x="476402" y="3063240"/>
            <a:ext cx="2457907" cy="1536192"/>
          </a:xfrm>
          <a:prstGeom prst="rect">
            <a:avLst/>
          </a:prstGeom>
        </p:spPr>
      </p:pic>
      <p:sp>
        <p:nvSpPr>
          <p:cNvPr id="13" name="Shape 7"/>
          <p:cNvSpPr/>
          <p:nvPr/>
        </p:nvSpPr>
        <p:spPr>
          <a:xfrm>
            <a:off x="476402" y="3063240"/>
            <a:ext cx="2457907" cy="1536192"/>
          </a:xfrm>
          <a:prstGeom prst="rect">
            <a:avLst/>
          </a:prstGeom>
          <a:ln w="9525">
            <a:solidFill>
              <a:schemeClr val="accent6"/>
            </a:solidFill>
            <a:prstDash val="solid"/>
          </a:ln>
        </p:spPr>
      </p:sp>
      <p:sp>
        <p:nvSpPr>
          <p:cNvPr id="14" name="Text 8"/>
          <p:cNvSpPr txBox="1"/>
          <p:nvPr/>
        </p:nvSpPr>
        <p:spPr>
          <a:xfrm>
            <a:off x="356616" y="4636008"/>
            <a:ext cx="2697480" cy="228600"/>
          </a:xfrm>
          <a:prstGeom prst="rect">
            <a:avLst/>
          </a:prstGeom>
          <a:noFill/>
          <a:ln/>
        </p:spPr>
        <p:txBody>
          <a:bodyPr wrap="square" lIns="0" tIns="0" rIns="0" bIns="0" rtlCol="0" anchor="t"/>
          <a:lstStyle/>
          <a:p>
            <a:pPr marL="0" indent="0" algn="ctr">
              <a:buNone/>
            </a:pPr>
            <a:r>
              <a:rPr lang="en-US" sz="1000" dirty="0">
                <a:solidFill>
                  <a:schemeClr val="accent5"/>
                </a:solidFill>
              </a:rPr>
              <a:t>Learn: ADK root cause</a:t>
            </a:r>
            <a:endParaRPr lang="en-US" sz="1000" dirty="0"/>
          </a:p>
        </p:txBody>
      </p:sp>
      <p:pic>
        <p:nvPicPr>
          <p:cNvPr id="15" name="8D draft, export .docx" descr="8D draft, export .docx"/>
          <p:cNvPicPr>
            <a:picLocks noChangeAspect="1"/>
          </p:cNvPicPr>
          <p:nvPr/>
        </p:nvPicPr>
        <p:blipFill>
          <a:blip r:embed="rId7"/>
          <a:stretch>
            <a:fillRect/>
          </a:stretch>
        </p:blipFill>
        <p:spPr>
          <a:xfrm>
            <a:off x="3311042" y="3063240"/>
            <a:ext cx="2457907" cy="1536192"/>
          </a:xfrm>
          <a:prstGeom prst="rect">
            <a:avLst/>
          </a:prstGeom>
        </p:spPr>
      </p:pic>
      <p:sp>
        <p:nvSpPr>
          <p:cNvPr id="16" name="Shape 9"/>
          <p:cNvSpPr/>
          <p:nvPr/>
        </p:nvSpPr>
        <p:spPr>
          <a:xfrm>
            <a:off x="3311042" y="3063240"/>
            <a:ext cx="2457907" cy="1536192"/>
          </a:xfrm>
          <a:prstGeom prst="rect">
            <a:avLst/>
          </a:prstGeom>
          <a:ln w="9525">
            <a:solidFill>
              <a:schemeClr val="accent6"/>
            </a:solidFill>
            <a:prstDash val="solid"/>
          </a:ln>
        </p:spPr>
      </p:sp>
      <p:sp>
        <p:nvSpPr>
          <p:cNvPr id="17" name="Text 10"/>
          <p:cNvSpPr txBox="1"/>
          <p:nvPr/>
        </p:nvSpPr>
        <p:spPr>
          <a:xfrm>
            <a:off x="3191256" y="4636008"/>
            <a:ext cx="2697480" cy="228600"/>
          </a:xfrm>
          <a:prstGeom prst="rect">
            <a:avLst/>
          </a:prstGeom>
          <a:noFill/>
          <a:ln/>
        </p:spPr>
        <p:txBody>
          <a:bodyPr wrap="square" lIns="0" tIns="0" rIns="0" bIns="0" rtlCol="0" anchor="t"/>
          <a:lstStyle/>
          <a:p>
            <a:pPr marL="0" indent="0" algn="ctr">
              <a:buNone/>
            </a:pPr>
            <a:r>
              <a:rPr lang="en-US" sz="1000" dirty="0">
                <a:solidFill>
                  <a:schemeClr val="accent5"/>
                </a:solidFill>
              </a:rPr>
              <a:t>8D draft, export .docx</a:t>
            </a:r>
            <a:endParaRPr lang="en-US" sz="1000" dirty="0"/>
          </a:p>
        </p:txBody>
      </p:sp>
      <p:pic>
        <p:nvPicPr>
          <p:cNvPr id="18" name="Ask, in Bahasa Indonesia" descr="Ask, in Bahasa Indonesia"/>
          <p:cNvPicPr>
            <a:picLocks noChangeAspect="1"/>
          </p:cNvPicPr>
          <p:nvPr/>
        </p:nvPicPr>
        <p:blipFill>
          <a:blip r:embed="rId8"/>
          <a:stretch>
            <a:fillRect/>
          </a:stretch>
        </p:blipFill>
        <p:spPr>
          <a:xfrm>
            <a:off x="6145682" y="3063240"/>
            <a:ext cx="2457907" cy="1536192"/>
          </a:xfrm>
          <a:prstGeom prst="rect">
            <a:avLst/>
          </a:prstGeom>
        </p:spPr>
      </p:pic>
      <p:sp>
        <p:nvSpPr>
          <p:cNvPr id="19" name="Shape 11"/>
          <p:cNvSpPr/>
          <p:nvPr/>
        </p:nvSpPr>
        <p:spPr>
          <a:xfrm>
            <a:off x="6145682" y="3063240"/>
            <a:ext cx="2457907" cy="1536192"/>
          </a:xfrm>
          <a:prstGeom prst="rect">
            <a:avLst/>
          </a:prstGeom>
          <a:ln w="9525">
            <a:solidFill>
              <a:schemeClr val="accent6"/>
            </a:solidFill>
            <a:prstDash val="solid"/>
          </a:ln>
        </p:spPr>
      </p:sp>
      <p:sp>
        <p:nvSpPr>
          <p:cNvPr id="20" name="Text 12"/>
          <p:cNvSpPr txBox="1"/>
          <p:nvPr/>
        </p:nvSpPr>
        <p:spPr>
          <a:xfrm>
            <a:off x="6025896" y="4636008"/>
            <a:ext cx="2697480" cy="228600"/>
          </a:xfrm>
          <a:prstGeom prst="rect">
            <a:avLst/>
          </a:prstGeom>
          <a:noFill/>
          <a:ln/>
        </p:spPr>
        <p:txBody>
          <a:bodyPr wrap="square" lIns="0" tIns="0" rIns="0" bIns="0" rtlCol="0" anchor="t"/>
          <a:lstStyle/>
          <a:p>
            <a:pPr marL="0" indent="0" algn="ctr">
              <a:buNone/>
            </a:pPr>
            <a:r>
              <a:rPr lang="en-US" sz="1000" dirty="0">
                <a:solidFill>
                  <a:schemeClr val="accent5"/>
                </a:solidFill>
              </a:rPr>
              <a:t>Ask, in English or Bahasa Indonesia</a:t>
            </a:r>
            <a:endParaRPr lang="en-US" sz="10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Prototype performance report / benchmarking</a:t>
            </a:r>
            <a:endParaRPr lang="en-US" sz="2000" dirty="0"/>
          </a:p>
        </p:txBody>
      </p:sp>
      <p:sp>
        <p:nvSpPr>
          <p:cNvPr id="3" name="Shape 1"/>
          <p:cNvSpPr/>
          <p:nvPr/>
        </p:nvSpPr>
        <p:spPr>
          <a:xfrm>
            <a:off x="356616" y="1216152"/>
            <a:ext cx="1984248" cy="914400"/>
          </a:xfrm>
          <a:prstGeom prst="roundRect">
            <a:avLst>
              <a:gd name="adj" fmla="val 6000"/>
            </a:avLst>
          </a:prstGeom>
          <a:solidFill>
            <a:schemeClr val="bg2"/>
          </a:solidFill>
          <a:ln/>
        </p:spPr>
      </p:sp>
      <p:sp>
        <p:nvSpPr>
          <p:cNvPr id="4" name="Text 2"/>
          <p:cNvSpPr txBox="1"/>
          <p:nvPr/>
        </p:nvSpPr>
        <p:spPr>
          <a:xfrm>
            <a:off x="493776" y="1280160"/>
            <a:ext cx="1737360" cy="502920"/>
          </a:xfrm>
          <a:prstGeom prst="rect">
            <a:avLst/>
          </a:prstGeom>
          <a:noFill/>
          <a:ln/>
        </p:spPr>
        <p:txBody>
          <a:bodyPr wrap="square" lIns="0" tIns="0" rIns="0" bIns="0" rtlCol="0" anchor="t"/>
          <a:lstStyle/>
          <a:p>
            <a:pPr marL="0" indent="0">
              <a:buNone/>
            </a:pPr>
            <a:r>
              <a:rPr lang="en-US" sz="2600" b="1" dirty="0">
                <a:solidFill>
                  <a:schemeClr val="accent1"/>
                </a:solidFill>
              </a:rPr>
              <a:t>99%</a:t>
            </a:r>
            <a:endParaRPr lang="en-US" sz="2600" dirty="0"/>
          </a:p>
        </p:txBody>
      </p:sp>
      <p:sp>
        <p:nvSpPr>
          <p:cNvPr id="5" name="Text 3"/>
          <p:cNvSpPr txBox="1"/>
          <p:nvPr/>
        </p:nvSpPr>
        <p:spPr>
          <a:xfrm>
            <a:off x="493776" y="1783080"/>
            <a:ext cx="1737360" cy="274320"/>
          </a:xfrm>
          <a:prstGeom prst="rect">
            <a:avLst/>
          </a:prstGeom>
          <a:noFill/>
          <a:ln/>
        </p:spPr>
        <p:txBody>
          <a:bodyPr wrap="square" lIns="0" tIns="0" rIns="0" bIns="0" rtlCol="0" anchor="t"/>
          <a:lstStyle/>
          <a:p>
            <a:pPr marL="0" indent="0">
              <a:buNone/>
            </a:pPr>
            <a:r>
              <a:rPr lang="en-US" sz="1000" dirty="0">
                <a:solidFill>
                  <a:schemeClr val="accent5"/>
                </a:solidFill>
              </a:rPr>
              <a:t>defect recall</a:t>
            </a:r>
            <a:endParaRPr lang="en-US" sz="1000" dirty="0"/>
          </a:p>
        </p:txBody>
      </p:sp>
      <p:sp>
        <p:nvSpPr>
          <p:cNvPr id="6" name="Shape 4"/>
          <p:cNvSpPr/>
          <p:nvPr/>
        </p:nvSpPr>
        <p:spPr>
          <a:xfrm>
            <a:off x="2487168" y="1216152"/>
            <a:ext cx="1984248" cy="914400"/>
          </a:xfrm>
          <a:prstGeom prst="roundRect">
            <a:avLst>
              <a:gd name="adj" fmla="val 6000"/>
            </a:avLst>
          </a:prstGeom>
          <a:solidFill>
            <a:schemeClr val="bg2"/>
          </a:solidFill>
          <a:ln/>
        </p:spPr>
      </p:sp>
      <p:sp>
        <p:nvSpPr>
          <p:cNvPr id="7" name="Text 5"/>
          <p:cNvSpPr txBox="1"/>
          <p:nvPr/>
        </p:nvSpPr>
        <p:spPr>
          <a:xfrm>
            <a:off x="2624328" y="1280160"/>
            <a:ext cx="1737360" cy="502920"/>
          </a:xfrm>
          <a:prstGeom prst="rect">
            <a:avLst/>
          </a:prstGeom>
          <a:noFill/>
          <a:ln/>
        </p:spPr>
        <p:txBody>
          <a:bodyPr wrap="square" lIns="0" tIns="0" rIns="0" bIns="0" rtlCol="0" anchor="t"/>
          <a:lstStyle/>
          <a:p>
            <a:pPr marL="0" indent="0">
              <a:buNone/>
            </a:pPr>
            <a:r>
              <a:rPr lang="en-US" sz="2600" b="1" dirty="0">
                <a:solidFill>
                  <a:schemeClr val="accent1"/>
                </a:solidFill>
              </a:rPr>
              <a:t>0%</a:t>
            </a:r>
            <a:endParaRPr lang="en-US" sz="2600" dirty="0"/>
          </a:p>
        </p:txBody>
      </p:sp>
      <p:sp>
        <p:nvSpPr>
          <p:cNvPr id="8" name="Text 6"/>
          <p:cNvSpPr txBox="1"/>
          <p:nvPr/>
        </p:nvSpPr>
        <p:spPr>
          <a:xfrm>
            <a:off x="2624328" y="1783080"/>
            <a:ext cx="1737360" cy="274320"/>
          </a:xfrm>
          <a:prstGeom prst="rect">
            <a:avLst/>
          </a:prstGeom>
          <a:noFill/>
          <a:ln/>
        </p:spPr>
        <p:txBody>
          <a:bodyPr wrap="square" lIns="0" tIns="0" rIns="0" bIns="0" rtlCol="0" anchor="t"/>
          <a:lstStyle/>
          <a:p>
            <a:pPr marL="0" indent="0">
              <a:buNone/>
            </a:pPr>
            <a:r>
              <a:rPr lang="en-US" sz="1000" dirty="0">
                <a:solidFill>
                  <a:schemeClr val="accent5"/>
                </a:solidFill>
              </a:rPr>
              <a:t>false rejects</a:t>
            </a:r>
            <a:endParaRPr lang="en-US" sz="1000" dirty="0"/>
          </a:p>
        </p:txBody>
      </p:sp>
      <p:sp>
        <p:nvSpPr>
          <p:cNvPr id="9" name="Shape 7"/>
          <p:cNvSpPr/>
          <p:nvPr/>
        </p:nvSpPr>
        <p:spPr>
          <a:xfrm>
            <a:off x="4617720" y="1216152"/>
            <a:ext cx="1984248" cy="914400"/>
          </a:xfrm>
          <a:prstGeom prst="roundRect">
            <a:avLst>
              <a:gd name="adj" fmla="val 6000"/>
            </a:avLst>
          </a:prstGeom>
          <a:solidFill>
            <a:schemeClr val="bg2"/>
          </a:solidFill>
          <a:ln/>
        </p:spPr>
      </p:sp>
      <p:sp>
        <p:nvSpPr>
          <p:cNvPr id="10" name="Text 8"/>
          <p:cNvSpPr txBox="1"/>
          <p:nvPr/>
        </p:nvSpPr>
        <p:spPr>
          <a:xfrm>
            <a:off x="4754880" y="1280160"/>
            <a:ext cx="1737360" cy="502920"/>
          </a:xfrm>
          <a:prstGeom prst="rect">
            <a:avLst/>
          </a:prstGeom>
          <a:noFill/>
          <a:ln/>
        </p:spPr>
        <p:txBody>
          <a:bodyPr wrap="square" lIns="0" tIns="0" rIns="0" bIns="0" rtlCol="0" anchor="t"/>
          <a:lstStyle/>
          <a:p>
            <a:pPr marL="0" indent="0">
              <a:buNone/>
            </a:pPr>
            <a:r>
              <a:rPr lang="en-US" sz="2600" b="1" dirty="0">
                <a:solidFill>
                  <a:schemeClr val="accent1"/>
                </a:solidFill>
              </a:rPr>
              <a:t>171 ms</a:t>
            </a:r>
            <a:endParaRPr lang="en-US" sz="2600" dirty="0"/>
          </a:p>
        </p:txBody>
      </p:sp>
      <p:sp>
        <p:nvSpPr>
          <p:cNvPr id="11" name="Text 9"/>
          <p:cNvSpPr txBox="1"/>
          <p:nvPr/>
        </p:nvSpPr>
        <p:spPr>
          <a:xfrm>
            <a:off x="4754880" y="1783080"/>
            <a:ext cx="1737360" cy="274320"/>
          </a:xfrm>
          <a:prstGeom prst="rect">
            <a:avLst/>
          </a:prstGeom>
          <a:noFill/>
          <a:ln/>
        </p:spPr>
        <p:txBody>
          <a:bodyPr wrap="square" lIns="0" tIns="0" rIns="0" bIns="0" rtlCol="0" anchor="t"/>
          <a:lstStyle/>
          <a:p>
            <a:pPr marL="0" indent="0">
              <a:buNone/>
            </a:pPr>
            <a:r>
              <a:rPr lang="en-US" sz="1000" dirty="0">
                <a:solidFill>
                  <a:schemeClr val="accent5"/>
                </a:solidFill>
              </a:rPr>
              <a:t>p95, YOLO fast path</a:t>
            </a:r>
            <a:endParaRPr lang="en-US" sz="1000" dirty="0"/>
          </a:p>
        </p:txBody>
      </p:sp>
      <p:sp>
        <p:nvSpPr>
          <p:cNvPr id="12" name="Shape 10"/>
          <p:cNvSpPr/>
          <p:nvPr/>
        </p:nvSpPr>
        <p:spPr>
          <a:xfrm>
            <a:off x="6748272" y="1216152"/>
            <a:ext cx="1984248" cy="914400"/>
          </a:xfrm>
          <a:prstGeom prst="roundRect">
            <a:avLst>
              <a:gd name="adj" fmla="val 6000"/>
            </a:avLst>
          </a:prstGeom>
          <a:solidFill>
            <a:schemeClr val="bg2"/>
          </a:solidFill>
          <a:ln/>
        </p:spPr>
      </p:sp>
      <p:sp>
        <p:nvSpPr>
          <p:cNvPr id="13" name="Text 11"/>
          <p:cNvSpPr txBox="1"/>
          <p:nvPr/>
        </p:nvSpPr>
        <p:spPr>
          <a:xfrm>
            <a:off x="6885432" y="1280160"/>
            <a:ext cx="1737360" cy="502920"/>
          </a:xfrm>
          <a:prstGeom prst="rect">
            <a:avLst/>
          </a:prstGeom>
          <a:noFill/>
          <a:ln/>
        </p:spPr>
        <p:txBody>
          <a:bodyPr wrap="square" lIns="0" tIns="0" rIns="0" bIns="0" rtlCol="0" anchor="t"/>
          <a:lstStyle/>
          <a:p>
            <a:pPr marL="0" indent="0">
              <a:buNone/>
            </a:pPr>
            <a:r>
              <a:rPr lang="en-US" sz="2600" b="1" dirty="0">
                <a:solidFill>
                  <a:schemeClr val="accent1"/>
                </a:solidFill>
              </a:rPr>
              <a:t>$0.07</a:t>
            </a:r>
            <a:endParaRPr lang="en-US" sz="2600" dirty="0"/>
          </a:p>
        </p:txBody>
      </p:sp>
      <p:sp>
        <p:nvSpPr>
          <p:cNvPr id="14" name="Text 12"/>
          <p:cNvSpPr txBox="1"/>
          <p:nvPr/>
        </p:nvSpPr>
        <p:spPr>
          <a:xfrm>
            <a:off x="6885432" y="1783080"/>
            <a:ext cx="1737360" cy="274320"/>
          </a:xfrm>
          <a:prstGeom prst="rect">
            <a:avLst/>
          </a:prstGeom>
          <a:noFill/>
          <a:ln/>
        </p:spPr>
        <p:txBody>
          <a:bodyPr wrap="square" lIns="0" tIns="0" rIns="0" bIns="0" rtlCol="0" anchor="t"/>
          <a:lstStyle/>
          <a:p>
            <a:pPr marL="0" indent="0">
              <a:buNone/>
            </a:pPr>
            <a:r>
              <a:rPr lang="en-US" sz="1000" dirty="0">
                <a:solidFill>
                  <a:schemeClr val="accent5"/>
                </a:solidFill>
              </a:rPr>
              <a:t>Gemini per 1,000 parts</a:t>
            </a:r>
            <a:endParaRPr lang="en-US" sz="1000" dirty="0"/>
          </a:p>
        </p:txBody>
      </p:sp>
      <p:sp>
        <p:nvSpPr>
          <p:cNvPr id="15" name="Text 13"/>
          <p:cNvSpPr txBox="1"/>
          <p:nvPr/>
        </p:nvSpPr>
        <p:spPr>
          <a:xfrm>
            <a:off x="356616" y="2194560"/>
            <a:ext cx="8412480" cy="320040"/>
          </a:xfrm>
          <a:prstGeom prst="rect">
            <a:avLst/>
          </a:prstGeom>
          <a:noFill/>
          <a:ln/>
        </p:spPr>
        <p:txBody>
          <a:bodyPr wrap="square" lIns="0" tIns="0" rIns="0" bIns="0" rtlCol="0" anchor="t"/>
          <a:lstStyle/>
          <a:p>
            <a:pPr marL="0" indent="0">
              <a:buNone/>
            </a:pPr>
            <a:r>
              <a:rPr lang="en-US" sz="950" dirty="0">
                <a:solidFill>
                  <a:schemeClr val="accent5"/>
                </a:solidFill>
              </a:rPr>
              <a:t>Held-out golden set: 200 images (100 good, 100 defective) from the test split, never used for training. 99% decided by YOLO on CPU; 1% escalated to Gemini.</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56616" y="2560320"/>
          <a:ext cx="8430768" cy="1975104"/>
        </p:xfrm>
        <a:graphic>
          <a:graphicData uri="http://schemas.openxmlformats.org/drawingml/2006/table">
            <a:tbl>
              <a:tblPr/>
              <a:tblGrid>
                <a:gridCol w="3017520">
                  <a:extLst>
                    <a:ext uri="{9D8B030D-6E8A-4147-A177-3AD203B41FA5}">
                      <a16:colId xmlns:a16="http://schemas.microsoft.com/office/drawing/2014/main" val="20000"/>
                    </a:ext>
                  </a:extLst>
                </a:gridCol>
                <a:gridCol w="2852928">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29184">
                <a:tc>
                  <a:txBody>
                    <a:bodyPr/>
                    <a:lstStyle/>
                    <a:p>
                      <a:pPr marL="0" indent="0">
                        <a:buNone/>
                      </a:pPr>
                      <a:r>
                        <a:rPr lang="en-US" sz="1000" b="1" dirty="0">
                          <a:solidFill>
                            <a:srgbClr val="FFFFFF"/>
                          </a:solidFill>
                        </a:rPr>
                        <a:t>Live benchmark (Cloud Run + Vertex AI)</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02124"/>
                    </a:solidFill>
                  </a:tcPr>
                </a:tc>
                <a:tc>
                  <a:txBody>
                    <a:bodyPr/>
                    <a:lstStyle/>
                    <a:p>
                      <a:pPr marL="0" indent="0">
                        <a:buNone/>
                      </a:pPr>
                      <a:r>
                        <a:rPr lang="en-US" sz="1000" b="1" dirty="0">
                          <a:solidFill>
                            <a:srgbClr val="FFFFFF"/>
                          </a:solidFill>
                        </a:rPr>
                        <a:t>Result</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02124"/>
                    </a:solidFill>
                  </a:tcPr>
                </a:tc>
                <a:tc>
                  <a:txBody>
                    <a:bodyPr/>
                    <a:lstStyle/>
                    <a:p>
                      <a:pPr marL="0" indent="0">
                        <a:buNone/>
                      </a:pPr>
                      <a:r>
                        <a:rPr lang="en-US" sz="1000" b="1" dirty="0">
                          <a:solidFill>
                            <a:srgbClr val="FFFFFF"/>
                          </a:solidFill>
                        </a:rPr>
                        <a:t>Time</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02124"/>
                    </a:solidFill>
                  </a:tcPr>
                </a:tc>
                <a:tc>
                  <a:txBody>
                    <a:bodyPr/>
                    <a:lstStyle/>
                    <a:p>
                      <a:pPr marL="0" indent="0">
                        <a:buNone/>
                      </a:pPr>
                      <a:r>
                        <a:rPr lang="en-US" sz="1000" b="1" dirty="0">
                          <a:solidFill>
                            <a:srgbClr val="FFFFFF"/>
                          </a:solidFill>
                        </a:rPr>
                        <a:t>Gemini cost</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02124"/>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chemeClr val="tx1"/>
                          </a:solidFill>
                        </a:rPr>
                        <a:t>Teach video 1:58 → rule cards</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4/4 defects, 24/24 fields correct</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9.4 s</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$0.005</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00" dirty="0">
                          <a:solidFill>
                            <a:schemeClr val="tx1"/>
                          </a:solidFill>
                        </a:rPr>
                        <a:t>Hard part escalated to Gemini</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Rework, approved rule cited</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1.4–3.3 s</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$0.001–0.002</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00" dirty="0">
                          <a:solidFill>
                            <a:schemeClr val="tx1"/>
                          </a:solidFill>
                        </a:rPr>
                        <a:t>Root cause on the planted scenario (synthetic)</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MD-04 + LOT-2409C, 8D drafted</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≈30 s</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$0.027</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00" dirty="0">
                          <a:solidFill>
                            <a:schemeClr val="tx1"/>
                          </a:solidFill>
                        </a:rPr>
                        <a:t>Ask SenpaiQC in Bahasa Indonesia</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Correct limit, rule cited</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1.3 s</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$0.0008</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00" dirty="0">
                          <a:solidFill>
                            <a:schemeClr val="tx1"/>
                          </a:solidFill>
                        </a:rPr>
                        <a:t>Spike alert via Pub/Sub</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Delivered to Telegram, retried on failure</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seconds</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tc>
                  <a:txBody>
                    <a:bodyPr/>
                    <a:lstStyle/>
                    <a:p>
                      <a:pPr marL="0" indent="0">
                        <a:buNone/>
                      </a:pPr>
                      <a:r>
                        <a:rPr lang="en-US" sz="1000" dirty="0">
                          <a:solidFill>
                            <a:schemeClr val="tx1"/>
                          </a:solidFill>
                        </a:rPr>
                        <a:t>$0</a:t>
                      </a:r>
                      <a:endParaRPr lang="en-US" sz="1000" dirty="0"/>
                    </a:p>
                  </a:txBody>
                  <a:tcPr marL="73152" marR="73152" marT="0" marB="0" anchor="ctr">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Text 14"/>
          <p:cNvSpPr txBox="1"/>
          <p:nvPr/>
        </p:nvSpPr>
        <p:spPr>
          <a:xfrm>
            <a:off x="356616" y="4572000"/>
            <a:ext cx="8375904" cy="365760"/>
          </a:xfrm>
          <a:prstGeom prst="rect">
            <a:avLst/>
          </a:prstGeom>
          <a:noFill/>
          <a:ln/>
        </p:spPr>
        <p:txBody>
          <a:bodyPr wrap="square" lIns="0" tIns="0" rIns="0" bIns="0" rtlCol="0" anchor="t"/>
          <a:lstStyle/>
          <a:p>
            <a:pPr marL="0" indent="0">
              <a:buNone/>
            </a:pPr>
            <a:r>
              <a:rPr lang="en-US" sz="950" dirty="0">
                <a:solidFill>
                  <a:srgbClr val="00B0F0"/>
                </a:solidFill>
              </a:rPr>
              <a:t>Honest limits: the Gemini path saw only 2 golden-set parts (its one pass on a defective part was the only miss); rule cards and process data are illustrative or synthetic; the robot is simulated.</a:t>
            </a:r>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Additional details / future development</a:t>
            </a:r>
            <a:endParaRPr lang="en-US" sz="2000" dirty="0"/>
          </a:p>
        </p:txBody>
      </p:sp>
      <p:sp>
        <p:nvSpPr>
          <p:cNvPr id="3" name="Shape 1"/>
          <p:cNvSpPr/>
          <p:nvPr/>
        </p:nvSpPr>
        <p:spPr>
          <a:xfrm>
            <a:off x="356616" y="1234440"/>
            <a:ext cx="4133088" cy="3017520"/>
          </a:xfrm>
          <a:prstGeom prst="roundRect">
            <a:avLst>
              <a:gd name="adj" fmla="val 1818"/>
            </a:avLst>
          </a:prstGeom>
          <a:solidFill>
            <a:schemeClr val="bg2"/>
          </a:solidFill>
          <a:ln/>
        </p:spPr>
      </p:sp>
      <p:sp>
        <p:nvSpPr>
          <p:cNvPr id="4" name="Text 2"/>
          <p:cNvSpPr txBox="1"/>
          <p:nvPr/>
        </p:nvSpPr>
        <p:spPr>
          <a:xfrm>
            <a:off x="539496" y="1371600"/>
            <a:ext cx="3749040" cy="320040"/>
          </a:xfrm>
          <a:prstGeom prst="rect">
            <a:avLst/>
          </a:prstGeom>
          <a:noFill/>
          <a:ln/>
        </p:spPr>
        <p:txBody>
          <a:bodyPr wrap="square" lIns="0" tIns="0" rIns="0" bIns="0" rtlCol="0" anchor="t"/>
          <a:lstStyle/>
          <a:p>
            <a:pPr marL="0" indent="0">
              <a:buNone/>
            </a:pPr>
            <a:r>
              <a:rPr lang="en-US" sz="1400" b="1" dirty="0">
                <a:solidFill>
                  <a:srgbClr val="1A73E8"/>
                </a:solidFill>
              </a:rPr>
              <a:t>Next 3 months</a:t>
            </a:r>
            <a:endParaRPr lang="en-US" sz="1400" dirty="0"/>
          </a:p>
        </p:txBody>
      </p:sp>
      <p:sp>
        <p:nvSpPr>
          <p:cNvPr id="5" name="Text 3"/>
          <p:cNvSpPr txBox="1"/>
          <p:nvPr/>
        </p:nvSpPr>
        <p:spPr>
          <a:xfrm>
            <a:off x="539496" y="1783080"/>
            <a:ext cx="3794760" cy="2423160"/>
          </a:xfrm>
          <a:prstGeom prst="rect">
            <a:avLst/>
          </a:prstGeom>
          <a:noFill/>
          <a:ln/>
        </p:spPr>
        <p:txBody>
          <a:bodyPr wrap="square" lIns="0" tIns="0" rIns="0" bIns="0" rtlCol="0" anchor="t"/>
          <a:lstStyle/>
          <a:p>
            <a:pPr marL="152400" indent="-152400">
              <a:spcAft>
                <a:spcPts val="600"/>
              </a:spcAft>
              <a:buSzPct val="100000"/>
              <a:buChar char="•"/>
            </a:pPr>
            <a:r>
              <a:rPr lang="en-US" sz="1100" b="1" dirty="0">
                <a:solidFill>
                  <a:schemeClr val="tx1"/>
                </a:solidFill>
              </a:rPr>
              <a:t>Pilot at one casting SME </a:t>
            </a:r>
            <a:r>
              <a:rPr lang="en-US" sz="1100" dirty="0">
                <a:solidFill>
                  <a:schemeClr val="tx1"/>
                </a:solidFill>
              </a:rPr>
              <a:t>(Ceper, Klaten): real inspector video, real photos, real inspection log.</a:t>
            </a:r>
            <a:endParaRPr lang="en-US" sz="1100" dirty="0"/>
          </a:p>
          <a:p>
            <a:pPr marL="152400" indent="-152400">
              <a:spcAft>
                <a:spcPts val="600"/>
              </a:spcAft>
              <a:buSzPct val="100000"/>
              <a:buChar char="•"/>
            </a:pPr>
            <a:r>
              <a:rPr lang="en-US" sz="1100" b="1" dirty="0">
                <a:solidFill>
                  <a:schemeClr val="tx1"/>
                </a:solidFill>
              </a:rPr>
              <a:t>Measure what is designed: </a:t>
            </a:r>
            <a:r>
              <a:rPr lang="en-US" sz="1100" dirty="0">
                <a:solidFill>
                  <a:schemeClr val="tx1"/>
                </a:solidFill>
              </a:rPr>
              <a:t>rule-citation accuracy, escalation drop after retraining.</a:t>
            </a:r>
            <a:endParaRPr lang="en-US" sz="1100" dirty="0"/>
          </a:p>
          <a:p>
            <a:pPr marL="152400" indent="-152400">
              <a:spcAft>
                <a:spcPts val="600"/>
              </a:spcAft>
              <a:buSzPct val="100000"/>
              <a:buChar char="•"/>
            </a:pPr>
            <a:r>
              <a:rPr lang="en-US" sz="1100" b="1" dirty="0">
                <a:solidFill>
                  <a:schemeClr val="tx1"/>
                </a:solidFill>
              </a:rPr>
              <a:t>Harder test set: </a:t>
            </a:r>
            <a:r>
              <a:rPr lang="en-US" sz="1100" dirty="0">
                <a:solidFill>
                  <a:schemeClr val="tx1"/>
                </a:solidFill>
              </a:rPr>
              <a:t>blurred, angled and new parts.</a:t>
            </a:r>
            <a:endParaRPr lang="en-US" sz="1100" dirty="0"/>
          </a:p>
          <a:p>
            <a:pPr marL="152400" indent="-152400">
              <a:spcAft>
                <a:spcPts val="600"/>
              </a:spcAft>
              <a:buSzPct val="100000"/>
              <a:buChar char="•"/>
            </a:pPr>
            <a:r>
              <a:rPr lang="en-US" sz="1100" b="1" dirty="0">
                <a:solidFill>
                  <a:schemeClr val="tx1"/>
                </a:solidFill>
              </a:rPr>
              <a:t>Every escalated pass to a person </a:t>
            </a:r>
            <a:r>
              <a:rPr lang="en-US" sz="1100" dirty="0">
                <a:solidFill>
                  <a:schemeClr val="tx1"/>
                </a:solidFill>
              </a:rPr>
              <a:t>until citation accuracy is proven.</a:t>
            </a:r>
            <a:endParaRPr lang="en-US" sz="1100" dirty="0"/>
          </a:p>
        </p:txBody>
      </p:sp>
      <p:sp>
        <p:nvSpPr>
          <p:cNvPr id="6" name="Shape 4"/>
          <p:cNvSpPr/>
          <p:nvPr/>
        </p:nvSpPr>
        <p:spPr>
          <a:xfrm>
            <a:off x="4654296" y="1234440"/>
            <a:ext cx="4133088" cy="3017520"/>
          </a:xfrm>
          <a:prstGeom prst="roundRect">
            <a:avLst>
              <a:gd name="adj" fmla="val 1818"/>
            </a:avLst>
          </a:prstGeom>
          <a:solidFill>
            <a:schemeClr val="bg2"/>
          </a:solidFill>
          <a:ln/>
        </p:spPr>
      </p:sp>
      <p:sp>
        <p:nvSpPr>
          <p:cNvPr id="7" name="Text 5"/>
          <p:cNvSpPr txBox="1"/>
          <p:nvPr/>
        </p:nvSpPr>
        <p:spPr>
          <a:xfrm>
            <a:off x="4837176" y="1371600"/>
            <a:ext cx="3749040" cy="320040"/>
          </a:xfrm>
          <a:prstGeom prst="rect">
            <a:avLst/>
          </a:prstGeom>
          <a:noFill/>
          <a:ln/>
        </p:spPr>
        <p:txBody>
          <a:bodyPr wrap="square" lIns="0" tIns="0" rIns="0" bIns="0" rtlCol="0" anchor="t"/>
          <a:lstStyle/>
          <a:p>
            <a:pPr marL="0" indent="0">
              <a:buNone/>
            </a:pPr>
            <a:r>
              <a:rPr lang="en-US" sz="1400" b="1" dirty="0">
                <a:solidFill>
                  <a:srgbClr val="188038"/>
                </a:solidFill>
              </a:rPr>
              <a:t>Next 6–12 months</a:t>
            </a:r>
            <a:endParaRPr lang="en-US" sz="1400" dirty="0"/>
          </a:p>
        </p:txBody>
      </p:sp>
      <p:sp>
        <p:nvSpPr>
          <p:cNvPr id="8" name="Text 6"/>
          <p:cNvSpPr txBox="1"/>
          <p:nvPr/>
        </p:nvSpPr>
        <p:spPr>
          <a:xfrm>
            <a:off x="4837176" y="1783080"/>
            <a:ext cx="3794760" cy="2423160"/>
          </a:xfrm>
          <a:prstGeom prst="rect">
            <a:avLst/>
          </a:prstGeom>
          <a:noFill/>
          <a:ln/>
        </p:spPr>
        <p:txBody>
          <a:bodyPr wrap="square" lIns="0" tIns="0" rIns="0" bIns="0" rtlCol="0" anchor="t"/>
          <a:lstStyle/>
          <a:p>
            <a:pPr marL="152400" indent="-152400">
              <a:spcAft>
                <a:spcPts val="600"/>
              </a:spcAft>
              <a:buSzPct val="100000"/>
              <a:buChar char="•"/>
            </a:pPr>
            <a:r>
              <a:rPr lang="en-US" sz="1100" b="1" dirty="0">
                <a:solidFill>
                  <a:schemeClr val="tx1"/>
                </a:solidFill>
              </a:rPr>
              <a:t>More processes: </a:t>
            </a:r>
            <a:r>
              <a:rPr lang="en-US" sz="1100" dirty="0">
                <a:solidFill>
                  <a:schemeClr val="tx1"/>
                </a:solidFill>
              </a:rPr>
              <a:t>stamping, moulding, machining; only the rules change.</a:t>
            </a:r>
            <a:endParaRPr lang="en-US" sz="1100" dirty="0"/>
          </a:p>
          <a:p>
            <a:pPr marL="152400" indent="-152400">
              <a:spcAft>
                <a:spcPts val="600"/>
              </a:spcAft>
              <a:buSzPct val="100000"/>
              <a:buChar char="•"/>
            </a:pPr>
            <a:r>
              <a:rPr lang="en-US" sz="1100" b="1" dirty="0">
                <a:solidFill>
                  <a:schemeClr val="tx1"/>
                </a:solidFill>
              </a:rPr>
              <a:t>Real robot: </a:t>
            </a:r>
            <a:r>
              <a:rPr lang="en-US" sz="1100" dirty="0">
                <a:solidFill>
                  <a:schemeClr val="tx1"/>
                </a:solidFill>
              </a:rPr>
              <a:t>LeRobot SO-101, then a real arm on the same safety gate.</a:t>
            </a:r>
            <a:endParaRPr lang="en-US" sz="1100" dirty="0"/>
          </a:p>
          <a:p>
            <a:pPr marL="152400" indent="-152400">
              <a:spcAft>
                <a:spcPts val="600"/>
              </a:spcAft>
              <a:buSzPct val="100000"/>
              <a:buChar char="•"/>
            </a:pPr>
            <a:r>
              <a:rPr lang="en-US" sz="1100" b="1" dirty="0">
                <a:solidFill>
                  <a:schemeClr val="tx1"/>
                </a:solidFill>
              </a:rPr>
              <a:t>Fully multilingual interface </a:t>
            </a:r>
            <a:r>
              <a:rPr lang="en-US" sz="1100" dirty="0">
                <a:solidFill>
                  <a:schemeClr val="tx1"/>
                </a:solidFill>
              </a:rPr>
              <a:t>for operator screens.</a:t>
            </a:r>
            <a:endParaRPr lang="en-US" sz="1100" dirty="0"/>
          </a:p>
          <a:p>
            <a:pPr marL="152400" indent="-152400">
              <a:spcAft>
                <a:spcPts val="600"/>
              </a:spcAft>
              <a:buSzPct val="100000"/>
              <a:buChar char="•"/>
            </a:pPr>
            <a:r>
              <a:rPr lang="en-US" sz="1100" b="1" dirty="0">
                <a:solidFill>
                  <a:schemeClr val="tx1"/>
                </a:solidFill>
              </a:rPr>
              <a:t>Multi-line scale: </a:t>
            </a:r>
            <a:r>
              <a:rPr lang="en-US" sz="1100" dirty="0">
                <a:solidFill>
                  <a:schemeClr val="tx1"/>
                </a:solidFill>
              </a:rPr>
              <a:t>events through Pub/Sub, Firebase Auth per plant.</a:t>
            </a:r>
            <a:endParaRPr lang="en-US" sz="1100" dirty="0"/>
          </a:p>
          <a:p>
            <a:pPr marL="152400" indent="-152400">
              <a:spcAft>
                <a:spcPts val="600"/>
              </a:spcAft>
              <a:buSzPct val="100000"/>
              <a:buChar char="•"/>
            </a:pPr>
            <a:r>
              <a:rPr lang="en-US" sz="1100" b="1" dirty="0">
                <a:solidFill>
                  <a:schemeClr val="tx1"/>
                </a:solidFill>
              </a:rPr>
              <a:t>Data residency </a:t>
            </a:r>
            <a:r>
              <a:rPr lang="en-US" sz="1100" dirty="0">
                <a:solidFill>
                  <a:schemeClr val="tx1"/>
                </a:solidFill>
              </a:rPr>
              <a:t>in Jakarta (asia-southeast2); edge YOLO for weak connectivity.</a:t>
            </a:r>
            <a:endParaRPr lang="en-US" sz="1100" dirty="0"/>
          </a:p>
        </p:txBody>
      </p:sp>
      <p:sp>
        <p:nvSpPr>
          <p:cNvPr id="9" name="Text 7"/>
          <p:cNvSpPr txBox="1"/>
          <p:nvPr/>
        </p:nvSpPr>
        <p:spPr>
          <a:xfrm>
            <a:off x="356616" y="4370832"/>
            <a:ext cx="8412480" cy="502920"/>
          </a:xfrm>
          <a:prstGeom prst="rect">
            <a:avLst/>
          </a:prstGeom>
          <a:noFill/>
          <a:ln/>
        </p:spPr>
        <p:txBody>
          <a:bodyPr wrap="square" lIns="0" tIns="0" rIns="0" bIns="0" rtlCol="0" anchor="t"/>
          <a:lstStyle/>
          <a:p>
            <a:pPr marL="0" indent="0">
              <a:buNone/>
            </a:pPr>
            <a:r>
              <a:rPr lang="en-US" sz="1100" b="1" dirty="0">
                <a:solidFill>
                  <a:schemeClr val="tx1"/>
                </a:solidFill>
              </a:rPr>
              <a:t>Expected impact (to measure in the pilot): </a:t>
            </a:r>
            <a:r>
              <a:rPr lang="en-US" sz="1100" dirty="0">
                <a:solidFill>
                  <a:schemeClr val="tx1"/>
                </a:solidFill>
              </a:rPr>
              <a:t>every part checked the same way on every shift, the expert's judgment kept after they retire, spike to 8D in minutes, AI spend in cents per shift.</a:t>
            </a:r>
            <a:endParaRPr lang="en-US" sz="11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356616" y="658368"/>
            <a:ext cx="8412480" cy="438912"/>
          </a:xfrm>
          <a:prstGeom prst="rect">
            <a:avLst/>
          </a:prstGeom>
          <a:noFill/>
          <a:ln/>
        </p:spPr>
        <p:txBody>
          <a:bodyPr wrap="square" lIns="0" tIns="0" rIns="0" bIns="0" rtlCol="0" anchor="ctr"/>
          <a:lstStyle/>
          <a:p>
            <a:pPr marL="0" indent="0" algn="l">
              <a:buNone/>
            </a:pPr>
            <a:r>
              <a:rPr lang="en-US" sz="2000" dirty="0">
                <a:solidFill>
                  <a:schemeClr val="tx1"/>
                </a:solidFill>
                <a:latin typeface="+mj-lt" pitchFamily="34" charset="0"/>
                <a:ea typeface="+mj-lt" pitchFamily="34" charset="-122"/>
                <a:cs typeface="+mj-lt" pitchFamily="34" charset="-120"/>
              </a:rPr>
              <a:t>Provide links to your:</a:t>
            </a:r>
            <a:endParaRPr lang="en-US" sz="2000" dirty="0"/>
          </a:p>
        </p:txBody>
      </p:sp>
      <p:sp>
        <p:nvSpPr>
          <p:cNvPr id="3" name="Shape 1"/>
          <p:cNvSpPr/>
          <p:nvPr/>
        </p:nvSpPr>
        <p:spPr>
          <a:xfrm>
            <a:off x="502920" y="1435608"/>
            <a:ext cx="109728" cy="109728"/>
          </a:xfrm>
          <a:prstGeom prst="ellipse">
            <a:avLst/>
          </a:prstGeom>
          <a:solidFill>
            <a:schemeClr val="tx1"/>
          </a:solidFill>
          <a:ln/>
        </p:spPr>
      </p:sp>
      <p:sp>
        <p:nvSpPr>
          <p:cNvPr id="4" name="Text 2"/>
          <p:cNvSpPr txBox="1"/>
          <p:nvPr/>
        </p:nvSpPr>
        <p:spPr>
          <a:xfrm>
            <a:off x="777240" y="1325880"/>
            <a:ext cx="7772400" cy="320040"/>
          </a:xfrm>
          <a:prstGeom prst="rect">
            <a:avLst/>
          </a:prstGeom>
          <a:noFill/>
          <a:ln/>
        </p:spPr>
        <p:txBody>
          <a:bodyPr wrap="square" lIns="0" tIns="0" rIns="0" bIns="0" rtlCol="0" anchor="t"/>
          <a:lstStyle/>
          <a:p>
            <a:pPr marL="0" indent="0">
              <a:buNone/>
            </a:pPr>
            <a:r>
              <a:rPr lang="en-US" sz="1500" dirty="0">
                <a:solidFill>
                  <a:schemeClr val="tx1"/>
                </a:solidFill>
              </a:rPr>
              <a:t>GitHub Public Repository</a:t>
            </a:r>
            <a:endParaRPr lang="en-US" sz="1500" dirty="0"/>
          </a:p>
        </p:txBody>
      </p:sp>
      <p:sp>
        <p:nvSpPr>
          <p:cNvPr id="5" name="Text 3"/>
          <p:cNvSpPr txBox="1"/>
          <p:nvPr/>
        </p:nvSpPr>
        <p:spPr>
          <a:xfrm>
            <a:off x="777240" y="1673352"/>
            <a:ext cx="7772400" cy="320040"/>
          </a:xfrm>
          <a:prstGeom prst="rect">
            <a:avLst/>
          </a:prstGeom>
          <a:noFill/>
          <a:ln/>
        </p:spPr>
        <p:txBody>
          <a:bodyPr wrap="square" lIns="0" tIns="0" rIns="0" bIns="0" rtlCol="0" anchor="t"/>
          <a:lstStyle/>
          <a:p>
            <a:pPr marL="0" indent="0">
              <a:buNone/>
            </a:pPr>
            <a:r>
              <a:rPr lang="en-US" sz="1300" u="sng" dirty="0">
                <a:solidFill>
                  <a:schemeClr val="accent1"/>
                </a:solidFill>
                <a:hlinkClick r:id="rId3">
                  <a:extLst>
                    <a:ext uri="{A12FA001-AC4F-418D-AE19-62706E023703}">
                      <ahyp:hlinkClr xmlns:ahyp="http://schemas.microsoft.com/office/drawing/2018/hyperlinkcolor" val="tx"/>
                    </a:ext>
                  </a:extLst>
                </a:hlinkClick>
              </a:rPr>
              <a:t>https://github.com/keane13/SenpaiQC</a:t>
            </a:r>
            <a:endParaRPr lang="en-US" sz="1300" dirty="0"/>
          </a:p>
        </p:txBody>
      </p:sp>
      <p:sp>
        <p:nvSpPr>
          <p:cNvPr id="6" name="Shape 4"/>
          <p:cNvSpPr/>
          <p:nvPr/>
        </p:nvSpPr>
        <p:spPr>
          <a:xfrm>
            <a:off x="502920" y="2304288"/>
            <a:ext cx="109728" cy="109728"/>
          </a:xfrm>
          <a:prstGeom prst="ellipse">
            <a:avLst/>
          </a:prstGeom>
          <a:solidFill>
            <a:schemeClr val="tx1"/>
          </a:solidFill>
          <a:ln/>
        </p:spPr>
      </p:sp>
      <p:sp>
        <p:nvSpPr>
          <p:cNvPr id="7" name="Text 5"/>
          <p:cNvSpPr txBox="1"/>
          <p:nvPr/>
        </p:nvSpPr>
        <p:spPr>
          <a:xfrm>
            <a:off x="777240" y="2194560"/>
            <a:ext cx="7772400" cy="320040"/>
          </a:xfrm>
          <a:prstGeom prst="rect">
            <a:avLst/>
          </a:prstGeom>
          <a:noFill/>
          <a:ln/>
        </p:spPr>
        <p:txBody>
          <a:bodyPr wrap="square" lIns="0" tIns="0" rIns="0" bIns="0" rtlCol="0" anchor="t"/>
          <a:lstStyle/>
          <a:p>
            <a:pPr marL="0" indent="0">
              <a:buNone/>
            </a:pPr>
            <a:r>
              <a:rPr lang="en-US" sz="1500" dirty="0">
                <a:solidFill>
                  <a:schemeClr val="tx1"/>
                </a:solidFill>
              </a:rPr>
              <a:t>Demo Video Link (3 Minutes)</a:t>
            </a:r>
            <a:endParaRPr lang="en-US" sz="1500" dirty="0"/>
          </a:p>
        </p:txBody>
      </p:sp>
      <p:sp>
        <p:nvSpPr>
          <p:cNvPr id="8" name="Text 6"/>
          <p:cNvSpPr txBox="1"/>
          <p:nvPr/>
        </p:nvSpPr>
        <p:spPr>
          <a:xfrm>
            <a:off x="777240" y="2542032"/>
            <a:ext cx="7772400" cy="320040"/>
          </a:xfrm>
          <a:prstGeom prst="rect">
            <a:avLst/>
          </a:prstGeom>
          <a:noFill/>
          <a:ln/>
        </p:spPr>
        <p:txBody>
          <a:bodyPr wrap="square" lIns="0" tIns="0" rIns="0" bIns="0" rtlCol="0" anchor="t"/>
          <a:lstStyle/>
          <a:p>
            <a:pPr marL="0" indent="0">
              <a:buNone/>
            </a:pPr>
            <a:r>
              <a:rPr lang="en-US" sz="1300" dirty="0">
                <a:solidFill>
                  <a:schemeClr val="accent4"/>
                </a:solidFill>
              </a:rPr>
              <a:t>[to insert: YouTube / Google Drive link]</a:t>
            </a:r>
            <a:endParaRPr lang="en-US" sz="1300" dirty="0"/>
          </a:p>
        </p:txBody>
      </p:sp>
      <p:sp>
        <p:nvSpPr>
          <p:cNvPr id="9" name="Shape 7"/>
          <p:cNvSpPr/>
          <p:nvPr/>
        </p:nvSpPr>
        <p:spPr>
          <a:xfrm>
            <a:off x="502920" y="3172968"/>
            <a:ext cx="109728" cy="109728"/>
          </a:xfrm>
          <a:prstGeom prst="ellipse">
            <a:avLst/>
          </a:prstGeom>
          <a:solidFill>
            <a:schemeClr val="tx1"/>
          </a:solidFill>
          <a:ln/>
        </p:spPr>
      </p:sp>
      <p:sp>
        <p:nvSpPr>
          <p:cNvPr id="10" name="Text 8"/>
          <p:cNvSpPr txBox="1"/>
          <p:nvPr/>
        </p:nvSpPr>
        <p:spPr>
          <a:xfrm>
            <a:off x="777240" y="3063240"/>
            <a:ext cx="7772400" cy="320040"/>
          </a:xfrm>
          <a:prstGeom prst="rect">
            <a:avLst/>
          </a:prstGeom>
          <a:noFill/>
          <a:ln/>
        </p:spPr>
        <p:txBody>
          <a:bodyPr wrap="square" lIns="0" tIns="0" rIns="0" bIns="0" rtlCol="0" anchor="t"/>
          <a:lstStyle/>
          <a:p>
            <a:pPr marL="0" indent="0">
              <a:buNone/>
            </a:pPr>
            <a:r>
              <a:rPr lang="en-US" sz="1500" dirty="0">
                <a:solidFill>
                  <a:schemeClr val="tx1"/>
                </a:solidFill>
              </a:rPr>
              <a:t>Final Product Link</a:t>
            </a:r>
            <a:endParaRPr lang="en-US" sz="1500" dirty="0"/>
          </a:p>
        </p:txBody>
      </p:sp>
      <p:sp>
        <p:nvSpPr>
          <p:cNvPr id="11" name="Text 9"/>
          <p:cNvSpPr txBox="1"/>
          <p:nvPr/>
        </p:nvSpPr>
        <p:spPr>
          <a:xfrm>
            <a:off x="777240" y="3410712"/>
            <a:ext cx="7772400" cy="320040"/>
          </a:xfrm>
          <a:prstGeom prst="rect">
            <a:avLst/>
          </a:prstGeom>
          <a:noFill/>
          <a:ln/>
        </p:spPr>
        <p:txBody>
          <a:bodyPr wrap="square" lIns="0" tIns="0" rIns="0" bIns="0" rtlCol="0" anchor="t"/>
          <a:lstStyle/>
          <a:p>
            <a:pPr marL="0" indent="0">
              <a:buNone/>
            </a:pPr>
            <a:r>
              <a:rPr lang="en-US" sz="1300" u="sng" dirty="0">
                <a:solidFill>
                  <a:schemeClr val="accent1"/>
                </a:solidFill>
                <a:hlinkClick r:id="rId4">
                  <a:extLst>
                    <a:ext uri="{A12FA001-AC4F-418D-AE19-62706E023703}">
                      <ahyp:hlinkClr xmlns:ahyp="http://schemas.microsoft.com/office/drawing/2018/hyperlinkcolor" val="tx"/>
                    </a:ext>
                  </a:extLst>
                </a:hlinkClick>
              </a:rPr>
              <a:t>https://senpaiqc-568251697792.us-central1.run.app</a:t>
            </a:r>
            <a:endParaRPr lang="en-US" sz="1300" dirty="0"/>
          </a:p>
        </p:txBody>
      </p:sp>
      <p:sp>
        <p:nvSpPr>
          <p:cNvPr id="12" name="Text 10"/>
          <p:cNvSpPr txBox="1"/>
          <p:nvPr/>
        </p:nvSpPr>
        <p:spPr>
          <a:xfrm>
            <a:off x="777240" y="4069080"/>
            <a:ext cx="7772400" cy="274320"/>
          </a:xfrm>
          <a:prstGeom prst="rect">
            <a:avLst/>
          </a:prstGeom>
          <a:noFill/>
          <a:ln/>
        </p:spPr>
        <p:txBody>
          <a:bodyPr wrap="square" lIns="0" tIns="0" rIns="0" bIns="0" rtlCol="0" anchor="t"/>
          <a:lstStyle/>
          <a:p>
            <a:pPr marL="0" indent="0">
              <a:buNone/>
            </a:pPr>
            <a:r>
              <a:rPr lang="en-US" sz="1100" dirty="0">
                <a:solidFill>
                  <a:schemeClr val="accent5"/>
                </a:solidFill>
              </a:rPr>
              <a:t>Sign in: choose a role and paste the access token given in the submission notes.</a:t>
            </a:r>
            <a:endParaRPr lang="en-US" sz="1100" dirty="0"/>
          </a:p>
        </p:txBody>
      </p:sp>
      <p:sp>
        <p:nvSpPr>
          <p:cNvPr id="25" name="Slide Number Placeholder 0"/>
          <p:cNvSpPr>
            <a:spLocks noGrp="1"/>
          </p:cNvSpPr>
          <p:nvPr>
            <p:ph type="sldNum" sz="quarter" idx="4294967295"/>
          </p:nvPr>
        </p:nvSpPr>
        <p:spPr>
          <a:xfrm>
            <a:off x="845820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Thank you"/>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SenpaiQC Submission">
  <a:themeElements>
    <a:clrScheme name="SenpaiQC Submission">
      <a:dk1>
        <a:srgbClr val="202124"/>
      </a:dk1>
      <a:lt1>
        <a:srgbClr val="FFFFFF"/>
      </a:lt1>
      <a:dk2>
        <a:srgbClr val="000000"/>
      </a:dk2>
      <a:lt2>
        <a:srgbClr val="F1F3F4"/>
      </a:lt2>
      <a:accent1>
        <a:srgbClr val="1A73E8"/>
      </a:accent1>
      <a:accent2>
        <a:srgbClr val="188038"/>
      </a:accent2>
      <a:accent3>
        <a:srgbClr val="E37400"/>
      </a:accent3>
      <a:accent4>
        <a:srgbClr val="D93025"/>
      </a:accent4>
      <a:accent5>
        <a:srgbClr val="5F6368"/>
      </a:accent5>
      <a:accent6>
        <a:srgbClr val="DADCE0"/>
      </a:accent6>
      <a:hlink>
        <a:srgbClr val="1A73E8"/>
      </a:hlink>
      <a:folHlink>
        <a:srgbClr val="188038"/>
      </a:folHlink>
    </a:clrScheme>
    <a:fontScheme name="SenpaiQC Submiss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1894</Words>
  <Application>Microsoft Office PowerPoint</Application>
  <PresentationFormat>On-screen Show (16:9)</PresentationFormat>
  <Paragraphs>278</Paragraphs>
  <Slides>14</Slides>
  <Notes>14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SenpaiQC Submission</vt:lpstr>
      <vt:lpstr>PowerPoint Presentation</vt:lpstr>
      <vt:lpstr>Brief about the idea</vt:lpstr>
      <vt:lpstr>Opportunities</vt:lpstr>
      <vt:lpstr>List of features offered by the solution</vt:lpstr>
      <vt:lpstr>Process flow diagram</vt:lpstr>
      <vt:lpstr>Wireframes / mock diagrams of the proposed solution</vt:lpstr>
      <vt:lpstr>Architecture diagram of the proposed solution</vt:lpstr>
      <vt:lpstr>Technologies to be used in the solution</vt:lpstr>
      <vt:lpstr>Estimated implementation cost</vt:lpstr>
      <vt:lpstr>Snapshots of the prototype</vt:lpstr>
      <vt:lpstr>Prototype performance report / benchmarking</vt:lpstr>
      <vt:lpstr>Additional details / future development</vt:lpstr>
      <vt:lpstr>Provide links to your:</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SenpaiQC - AI Builder Cup submission</dc:title>
  <dc:subject>PptxGenJS Presentation</dc:subject>
  <dc:creator>Simon Surya Keban</dc:creator>
  <cp:lastModifiedBy>Simon Keane</cp:lastModifiedBy>
  <cp:revision>3</cp:revision>
  <dcterms:created xsi:type="dcterms:W3CDTF">2026-10-18T15:21:42Z</dcterms:created>
  <dcterms:modified xsi:type="dcterms:W3CDTF">2026-10-18T15:51:44Z</dcterms:modified>
</cp:coreProperties>
</file>