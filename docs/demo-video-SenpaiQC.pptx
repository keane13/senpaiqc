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5855bec-2d94-acf9-677f-63b320c971ee}">
          <p14:sldIdLst>
            <p14:sldId id="256"/>
          </p14:sldIdLst>
        </p14:section>
        <p14:section name="Problem and solution" id="{67c441a7-80c2-df6e-b8b8-e65e6c39d979}">
          <p14:sldIdLst>
            <p14:sldId id="257"/>
            <p14:sldId id="258"/>
          </p14:sldIdLst>
        </p14:section>
        <p14:section name="Live demo" id="{f1470085-8786-0c01-2374-33bcc376794d}">
          <p14:sldIdLst>
            <p14:sldId id="259"/>
            <p14:sldId id="260"/>
            <p14:sldId id="261"/>
            <p14:sldId id="262"/>
            <p14:sldId id="263"/>
            <p14:sldId id="264"/>
            <p14:sldId id="265"/>
            <p14:sldId id="266"/>
            <p14:sldId id="267"/>
            <p14:sldId id="268"/>
          </p14:sldIdLst>
        </p14:section>
        <p14:section name="Results" id="{81f0f676-f0fe-2dd2-883b-1f7994f93f28}">
          <p14:sldIdLst>
            <p14:sldId id="269"/>
            <p14:sldId id="270"/>
          </p14:sldIdLst>
        </p14:section>
        <p14:section name="Close" id="{128c507e-4b6c-6e1f-d10d-430b3066dc6d}">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Simon. This is SenpaiQC: it turns a senior inspector's eye into every shift's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casting plants across Southeast Asia, quality depends on who is on shift. Expert judgment retires with the expert, vision AI needs thousands of labels, and every escape costs days of 8D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SenpaiQC closes the loop: Teach, Inspect, Act, Learn and Improve. AI only where judgment is needed, and a person signs off every scrap and every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senior inspector records a short narrated video. Gemini on Vertex AI drafts rule cards: the look, the accept limit and the fix. Nothing reaches the line until the expert approves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operator takes a photo. YOLO on CPU decides the easy parts in about a second, at zero AI cost. That was 99 percent of parts in our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 or new parts go to Gemini. It circles the defect and cites the expert rule it used, so the inspector can check its reasoning. Three seconds, a tenth of a 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becomes the expert's rework steps, in the operator's language: English, Bahasa Indonesia, Thai or Vietnamese. Scrap always needs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decision can drive a robot. In our simulated SO-101 cell, every move passes a safety gate, and any doubt sends the part to the hold bin.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decision lands in BigQuery, and a plain three-sigma p-chart flags spikes. This process history is synthetic, with one planted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click, and an ADK agent queries BigQuery through read-only templates. In thirty seconds, for under three cents, it found mould MD-04 with lot LOT-2409C: the planted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drafts the 8D report. The engineer edits, approves and exports it to Google Docs or Word: minutes instead of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can ask SenpaiQC in their own language. Answers come only from the plant's records, with citations, or it says not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all runs in a browser: a phone at the line, a laptop in the QC office. No install, no new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one Cloud Run service with Gemini on Vertex AI, an ADK agent, Firestore, Cloud Storage and BigQuery. A new spike goes through Pub/Sub to the QC team's Telegram or Google Chat, and secrets live only in Secret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200 held-out images: 99 percent recall, zero false rejects, 171 milliseconds, and seven cents per thousand parts. Honestly, the demo's rules and process data are synthetic, and the robot is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SenpaiQC: teach once, inspect every part, fix it right. Try it at the link on screen.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822960"/>
            <a:ext cx="4206240" cy="320040"/>
          </a:xfrm>
          <a:prstGeom prst="rect">
            <a:avLst/>
          </a:prstGeom>
          <a:noFill/>
          <a:ln/>
        </p:spPr>
        <p:txBody>
          <a:bodyPr wrap="square" rtlCol="0"/>
          <a:lstStyle>
            <a:lvl1pPr indent="0" marL="0">
              <a:buNone/>
              <a:defRPr lang="en-US" sz="1200" b="1" spc="30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548640" y="1188720"/>
            <a:ext cx="4297680" cy="1828800"/>
          </a:xfrm>
          <a:prstGeom prst="rect">
            <a:avLst/>
          </a:prstGeom>
          <a:noFill/>
          <a:ln/>
        </p:spPr>
        <p:txBody>
          <a:bodyPr wrap="square" rtlCol="0"/>
          <a:lstStyle>
            <a:lvl1pPr algn="l" indent="0" marL="0">
              <a:buNone/>
              <a:defRPr lang="en-US" sz="3600" b="1" dirty="0">
                <a:solidFill>
                  <a:schemeClr val="bg1"/>
                </a:solidFill>
                <a:latin typeface="+mj-lt" pitchFamily="34" charset="0"/>
                <a:ea typeface="+mj-lt" pitchFamily="34" charset="-122"/>
                <a:cs typeface="+mj-lt" pitchFamily="34" charset="-120"/>
              </a:defRPr>
            </a:lvl1pPr>
          </a:lstStyle>
          <a:p>
            <a:pPr algn="l" indent="0" marL="0">
              <a:buNone/>
            </a:pPr>
            <a:endParaRPr lang="en-US" sz="3600" dirty="0"/>
          </a:p>
        </p:txBody>
      </p:sp>
      <p:sp>
        <p:nvSpPr>
          <p:cNvPr id="4" name="Text 0"/>
          <p:cNvSpPr/>
          <p:nvPr>
            <p:ph idx="102" type="body" hasCustomPrompt="1"/>
          </p:nvPr>
        </p:nvSpPr>
        <p:spPr>
          <a:xfrm>
            <a:off x="548640" y="3154680"/>
            <a:ext cx="4114800" cy="1097280"/>
          </a:xfrm>
          <a:prstGeom prst="rect">
            <a:avLst/>
          </a:prstGeom>
          <a:noFill/>
          <a:ln/>
        </p:spPr>
        <p:txBody>
          <a:bodyPr wrap="square" rtlCol="0"/>
          <a:lstStyle>
            <a:lvl1pPr indent="0" marL="0">
              <a:buNone/>
              <a:defRPr lang="en-US" sz="1500" dirty="0">
                <a:solidFill>
                  <a:srgbClr val="CADCFC"/>
                </a:solidFill>
              </a:defRPr>
            </a:lvl1pPr>
          </a:lstStyle>
          <a:p>
            <a:pPr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5486400" cy="256032"/>
          </a:xfrm>
          <a:prstGeom prst="rect">
            <a:avLst/>
          </a:prstGeom>
          <a:noFill/>
          <a:ln/>
        </p:spPr>
        <p:txBody>
          <a:bodyPr wrap="square" rtlCol="0"/>
          <a:lstStyle>
            <a:lvl1pPr indent="0" marL="0">
              <a:buNone/>
              <a:defRPr lang="en-US" sz="1100" b="1" spc="300" kern="0" dirty="0">
                <a:solidFill>
                  <a:schemeClr val="accent2"/>
                </a:solidFill>
              </a:defRPr>
            </a:lvl1pPr>
          </a:lstStyle>
          <a:p>
            <a:pPr indent="0" marL="0">
              <a:buNone/>
            </a:pP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rtlCol="0"/>
          <a:lstStyle>
            <a:lvl1pPr algn="l" indent="0" marL="0">
              <a:buNone/>
              <a:defRPr lang="en-US" sz="2800" b="1" dirty="0">
                <a:solidFill>
                  <a:schemeClr val="tx1"/>
                </a:solidFill>
                <a:latin typeface="+mj-lt" pitchFamily="34" charset="0"/>
                <a:ea typeface="+mj-lt" pitchFamily="34" charset="-122"/>
                <a:cs typeface="+mj-lt" pitchFamily="34" charset="-120"/>
              </a:defRPr>
            </a:lvl1pPr>
          </a:lstStyle>
          <a:p>
            <a:pPr algn="l" indent="0" marL="0">
              <a:buNone/>
            </a:pPr>
            <a:endParaRPr lang="en-US" sz="2800" dirty="0"/>
          </a:p>
        </p:txBody>
      </p:sp>
      <p:sp>
        <p:nvSpPr>
          <p:cNvPr id="4" name="Text 0"/>
          <p:cNvSpPr/>
          <p:nvPr/>
        </p:nvSpPr>
        <p:spPr>
          <a:xfrm>
            <a:off x="457200" y="4818888"/>
            <a:ext cx="1828800" cy="201168"/>
          </a:xfrm>
          <a:prstGeom prst="rect">
            <a:avLst/>
          </a:prstGeom>
          <a:noFill/>
          <a:ln/>
        </p:spPr>
        <p:txBody>
          <a:bodyPr wrap="square" lIns="0" tIns="0" rIns="0" bIns="0" rtlCol="0" anchor="ctr"/>
          <a:lstStyle/>
          <a:p>
            <a:pPr indent="0" marL="0">
              <a:buNone/>
            </a:pPr>
            <a:r>
              <a:rPr lang="en-US" sz="1000" dirty="0">
                <a:solidFill>
                  <a:schemeClr val="accent6"/>
                </a:solidFill>
              </a:rPr>
              <a:t>SenpaiQC</a:t>
            </a:r>
            <a:endParaRPr lang="en-US" sz="10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3.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822960"/>
            <a:ext cx="4206240" cy="320040"/>
          </a:xfrm>
          <a:prstGeom prst="rect">
            <a:avLst/>
          </a:prstGeom>
          <a:noFill/>
          <a:ln/>
        </p:spPr>
        <p:txBody>
          <a:bodyPr wrap="square" lIns="0" tIns="0" rIns="0" bIns="0" rtlCol="0"/>
          <a:lstStyle/>
          <a:p>
            <a:pPr indent="0" marL="0">
              <a:buNone/>
            </a:pPr>
            <a:r>
              <a:rPr lang="en-US" sz="1200" b="1" spc="300" kern="0" dirty="0">
                <a:solidFill>
                  <a:schemeClr val="accent2"/>
                </a:solidFill>
              </a:rPr>
              <a:t>GOOGLE CLOUD AI BUILDER CUP 2026</a:t>
            </a:r>
            <a:endParaRPr lang="en-US" sz="1200" dirty="0"/>
          </a:p>
        </p:txBody>
      </p:sp>
      <p:sp>
        <p:nvSpPr>
          <p:cNvPr id="3" name="Text 0"/>
          <p:cNvSpPr/>
          <p:nvPr>
            <p:ph idx="101" type="title" hasCustomPrompt="1"/>
          </p:nvPr>
        </p:nvSpPr>
        <p:spPr>
          <a:xfrm>
            <a:off x="548640" y="1188720"/>
            <a:ext cx="4297680" cy="1828800"/>
          </a:xfrm>
          <a:prstGeom prst="rect">
            <a:avLst/>
          </a:prstGeom>
          <a:noFill/>
          <a:ln/>
        </p:spPr>
        <p:txBody>
          <a:bodyPr wrap="square" lIns="0" tIns="0" rIns="0" bIns="0" rtlCol="0" anchor="t"/>
          <a:lstStyle/>
          <a:p>
            <a:pPr algn="l" indent="0" marL="0">
              <a:buNone/>
            </a:pPr>
            <a:r>
              <a:rPr lang="en-US" sz="3600" b="1" dirty="0">
                <a:solidFill>
                  <a:schemeClr val="bg1"/>
                </a:solidFill>
                <a:latin typeface="+mj-lt" pitchFamily="34" charset="0"/>
                <a:ea typeface="+mj-lt" pitchFamily="34" charset="-122"/>
                <a:cs typeface="+mj-lt" pitchFamily="34" charset="-120"/>
              </a:rPr>
              <a:t>SenpaiQC</a:t>
            </a:r>
            <a:endParaRPr lang="en-US" sz="3600" dirty="0"/>
          </a:p>
        </p:txBody>
      </p:sp>
      <p:sp>
        <p:nvSpPr>
          <p:cNvPr id="4" name="Text 0"/>
          <p:cNvSpPr/>
          <p:nvPr>
            <p:ph idx="102" type="body" hasCustomPrompt="1"/>
          </p:nvPr>
        </p:nvSpPr>
        <p:spPr>
          <a:xfrm>
            <a:off x="548640" y="3154680"/>
            <a:ext cx="4114800" cy="1097280"/>
          </a:xfrm>
          <a:prstGeom prst="rect">
            <a:avLst/>
          </a:prstGeom>
          <a:noFill/>
          <a:ln/>
        </p:spPr>
        <p:txBody>
          <a:bodyPr wrap="square" lIns="0" tIns="0" rIns="0" bIns="0" rtlCol="0" anchor="t"/>
          <a:lstStyle/>
          <a:p>
            <a:pPr indent="0" marL="0">
              <a:buNone/>
            </a:pPr>
            <a:r>
              <a:rPr lang="en-US" sz="1500" dirty="0">
                <a:solidFill>
                  <a:srgbClr val="CADCFC"/>
                </a:solidFill>
              </a:rPr>
              <a:t>Teach once on video. Check every part. Fix it the right way.</a:t>
            </a:r>
            <a:endParaRPr lang="en-US" sz="1500" dirty="0"/>
          </a:p>
          <a:p>
            <a:pPr indent="0" marL="0">
              <a:buNone/>
            </a:pPr>
            <a:r>
              <a:rPr lang="en-US" sz="1500" dirty="0">
                <a:solidFill>
                  <a:srgbClr val="8FA3BF"/>
                </a:solidFill>
              </a:rPr>
              <a:t>An expert-taught inspection cell for casting SMEs.</a:t>
            </a:r>
            <a:endParaRPr lang="en-US" sz="1500" dirty="0"/>
          </a:p>
        </p:txBody>
      </p:sp>
      <p:sp>
        <p:nvSpPr>
          <p:cNvPr id="5" name="tagline"/>
          <p:cNvSpPr txBox="1"/>
          <p:nvPr/>
        </p:nvSpPr>
        <p:spPr>
          <a:xfrm>
            <a:off x="548640" y="1874520"/>
            <a:ext cx="4206240" cy="1097280"/>
          </a:xfrm>
          <a:prstGeom prst="rect">
            <a:avLst/>
          </a:prstGeom>
          <a:noFill/>
          <a:ln/>
        </p:spPr>
        <p:txBody>
          <a:bodyPr wrap="square" lIns="0" tIns="0" rIns="0" bIns="0" rtlCol="0" anchor="t"/>
          <a:lstStyle/>
          <a:p>
            <a:pPr indent="0" marL="0">
              <a:buNone/>
            </a:pPr>
            <a:r>
              <a:rPr lang="en-US" sz="2000" dirty="0">
                <a:solidFill>
                  <a:srgbClr val="CADCFC"/>
                </a:solidFill>
              </a:rPr>
              <a:t>Turn a senior inspector's eye into every shift's standard</a:t>
            </a:r>
            <a:endParaRPr lang="en-US" sz="2000" dirty="0"/>
          </a:p>
        </p:txBody>
      </p:sp>
      <p:sp>
        <p:nvSpPr>
          <p:cNvPr id="6" name="frame login"/>
          <p:cNvSpPr/>
          <p:nvPr/>
        </p:nvSpPr>
        <p:spPr>
          <a:xfrm>
            <a:off x="4892040" y="1321879"/>
            <a:ext cx="3886200" cy="2476881"/>
          </a:xfrm>
          <a:prstGeom prst="roundRect">
            <a:avLst>
              <a:gd name="adj" fmla="val 2953"/>
            </a:avLst>
          </a:prstGeom>
          <a:solidFill>
            <a:schemeClr val="bg1"/>
          </a:solidFill>
          <a:ln w="9525">
            <a:solidFill>
              <a:srgbClr val="D5E3F0"/>
            </a:solidFill>
            <a:prstDash val="solid"/>
          </a:ln>
          <a:effectLst>
            <a:outerShdw sx="100000" sy="100000" kx="0" ky="0" algn="bl" rotWithShape="0" blurRad="127000" dist="38100" dir="5400000">
              <a:srgbClr val="0B1A2E">
                <a:alpha val="14000"/>
              </a:srgbClr>
            </a:outerShdw>
          </a:effectLst>
        </p:spPr>
      </p:sp>
      <p:pic>
        <p:nvPicPr>
          <p:cNvPr id="7" name="screenshot login" descr="SenpaiQC sign-in page">    </p:cNvPr>
          <p:cNvPicPr>
            <a:picLocks noChangeAspect="1"/>
          </p:cNvPicPr>
          <p:nvPr/>
        </p:nvPicPr>
        <p:blipFill>
          <a:blip r:embed="rId1"/>
          <a:stretch>
            <a:fillRect/>
          </a:stretch>
        </p:blipFill>
        <p:spPr>
          <a:xfrm>
            <a:off x="4956048" y="1385887"/>
            <a:ext cx="3758184" cy="234886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5486400" cy="256032"/>
          </a:xfrm>
          <a:prstGeom prst="rect">
            <a:avLst/>
          </a:prstGeom>
          <a:noFill/>
          <a:ln/>
        </p:spPr>
        <p:txBody>
          <a:bodyPr wrap="square" lIns="0" tIns="0" rIns="0" bIns="0" rtlCol="0"/>
          <a:lstStyle/>
          <a:p>
            <a:pPr indent="0" marL="0">
              <a:buNone/>
            </a:pPr>
            <a:r>
              <a:rPr lang="en-US" sz="1100" b="1" spc="300" kern="0" dirty="0">
                <a:solidFill>
                  <a:schemeClr val="accent2"/>
                </a:solidFill>
              </a:rPr>
              <a:t>THE PROBLEM</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800" b="1" dirty="0">
                <a:solidFill>
                  <a:schemeClr val="tx1"/>
                </a:solidFill>
                <a:latin typeface="+mj-lt" pitchFamily="34" charset="0"/>
                <a:ea typeface="+mj-lt" pitchFamily="34" charset="-122"/>
                <a:cs typeface="+mj-lt" pitchFamily="34" charset="-120"/>
              </a:rPr>
              <a:t>Quality depends on who is on shift</a:t>
            </a:r>
            <a:endParaRPr lang="en-US" sz="2800" dirty="0"/>
          </a:p>
        </p:txBody>
      </p:sp>
      <p:sp>
        <p:nvSpPr>
          <p:cNvPr id="4" name="problem card 1"/>
          <p:cNvSpPr/>
          <p:nvPr/>
        </p:nvSpPr>
        <p:spPr>
          <a:xfrm>
            <a:off x="457200" y="1371600"/>
            <a:ext cx="1920240" cy="2834640"/>
          </a:xfrm>
          <a:prstGeom prst="roundRect">
            <a:avLst>
              <a:gd name="adj" fmla="val 4762"/>
            </a:avLst>
          </a:prstGeom>
          <a:solidFill>
            <a:schemeClr val="bg1"/>
          </a:solidFill>
          <a:ln/>
          <a:effectLst>
            <a:outerShdw sx="100000" sy="100000" kx="0" ky="0" algn="bl" rotWithShape="0" blurRad="101600" dist="25400" dir="5400000">
              <a:srgbClr val="0B1A2E">
                <a:alpha val="8000"/>
              </a:srgbClr>
            </a:outerShdw>
          </a:effectLst>
        </p:spPr>
      </p:sp>
      <p:sp>
        <p:nvSpPr>
          <p:cNvPr id="5" name="Shape 3"/>
          <p:cNvSpPr/>
          <p:nvPr/>
        </p:nvSpPr>
        <p:spPr>
          <a:xfrm>
            <a:off x="685800" y="1645920"/>
            <a:ext cx="566928" cy="566928"/>
          </a:xfrm>
          <a:prstGeom prst="ellipse">
            <a:avLst/>
          </a:prstGeom>
          <a:solidFill>
            <a:srgbClr val="DDEBF7"/>
          </a:solidFill>
          <a:ln/>
        </p:spPr>
      </p:sp>
      <p:pic>
        <p:nvPicPr>
          <p:cNvPr id="6" name="Image 0" descr="Inconsistent shifts">    </p:cNvPr>
          <p:cNvPicPr>
            <a:picLocks noChangeAspect="1"/>
          </p:cNvPicPr>
          <p:nvPr/>
        </p:nvPicPr>
        <p:blipFill>
          <a:blip r:embed="rId1"/>
          <a:stretch>
            <a:fillRect/>
          </a:stretch>
        </p:blipFill>
        <p:spPr>
          <a:xfrm>
            <a:off x="813816" y="1773936"/>
            <a:ext cx="310896" cy="310896"/>
          </a:xfrm>
          <a:prstGeom prst="rect">
            <a:avLst/>
          </a:prstGeom>
        </p:spPr>
      </p:pic>
      <p:sp>
        <p:nvSpPr>
          <p:cNvPr id="7" name="Text 4"/>
          <p:cNvSpPr txBox="1"/>
          <p:nvPr/>
        </p:nvSpPr>
        <p:spPr>
          <a:xfrm>
            <a:off x="685800" y="2377440"/>
            <a:ext cx="1554480" cy="548640"/>
          </a:xfrm>
          <a:prstGeom prst="rect">
            <a:avLst/>
          </a:prstGeom>
          <a:noFill/>
          <a:ln/>
        </p:spPr>
        <p:txBody>
          <a:bodyPr wrap="square" lIns="0" tIns="0" rIns="0" bIns="0" rtlCol="0" anchor="t"/>
          <a:lstStyle/>
          <a:p>
            <a:pPr indent="0" marL="0">
              <a:buNone/>
            </a:pPr>
            <a:r>
              <a:rPr lang="en-US" sz="1500" b="1" dirty="0">
                <a:solidFill>
                  <a:schemeClr val="tx1"/>
                </a:solidFill>
              </a:rPr>
              <a:t>Inconsistent shifts</a:t>
            </a:r>
            <a:endParaRPr lang="en-US" sz="1500" dirty="0"/>
          </a:p>
        </p:txBody>
      </p:sp>
      <p:sp>
        <p:nvSpPr>
          <p:cNvPr id="8" name="Text 5"/>
          <p:cNvSpPr txBox="1"/>
          <p:nvPr/>
        </p:nvSpPr>
        <p:spPr>
          <a:xfrm>
            <a:off x="685800" y="2944368"/>
            <a:ext cx="1554480" cy="1143000"/>
          </a:xfrm>
          <a:prstGeom prst="rect">
            <a:avLst/>
          </a:prstGeom>
          <a:noFill/>
          <a:ln/>
        </p:spPr>
        <p:txBody>
          <a:bodyPr wrap="square" lIns="0" tIns="0" rIns="0" bIns="0" rtlCol="0" anchor="t"/>
          <a:lstStyle/>
          <a:p>
            <a:pPr indent="0" marL="0">
              <a:buNone/>
            </a:pPr>
            <a:r>
              <a:rPr lang="en-US" sz="1200" dirty="0">
                <a:solidFill>
                  <a:schemeClr val="accent6"/>
                </a:solidFill>
              </a:rPr>
              <a:t>Manual visual checks. A tired or new inspector lets defects through or scraps good parts.</a:t>
            </a:r>
            <a:endParaRPr lang="en-US" sz="1200" dirty="0"/>
          </a:p>
        </p:txBody>
      </p:sp>
      <p:sp>
        <p:nvSpPr>
          <p:cNvPr id="9" name="problem card 2"/>
          <p:cNvSpPr/>
          <p:nvPr/>
        </p:nvSpPr>
        <p:spPr>
          <a:xfrm>
            <a:off x="2560320" y="1371600"/>
            <a:ext cx="1920240" cy="2834640"/>
          </a:xfrm>
          <a:prstGeom prst="roundRect">
            <a:avLst>
              <a:gd name="adj" fmla="val 4762"/>
            </a:avLst>
          </a:prstGeom>
          <a:solidFill>
            <a:schemeClr val="bg1"/>
          </a:solidFill>
          <a:ln/>
          <a:effectLst>
            <a:outerShdw sx="100000" sy="100000" kx="0" ky="0" algn="bl" rotWithShape="0" blurRad="101600" dist="25400" dir="5400000">
              <a:srgbClr val="0B1A2E">
                <a:alpha val="8000"/>
              </a:srgbClr>
            </a:outerShdw>
          </a:effectLst>
        </p:spPr>
      </p:sp>
      <p:sp>
        <p:nvSpPr>
          <p:cNvPr id="10" name="Shape 7"/>
          <p:cNvSpPr/>
          <p:nvPr/>
        </p:nvSpPr>
        <p:spPr>
          <a:xfrm>
            <a:off x="2788920" y="1645920"/>
            <a:ext cx="566928" cy="566928"/>
          </a:xfrm>
          <a:prstGeom prst="ellipse">
            <a:avLst/>
          </a:prstGeom>
          <a:solidFill>
            <a:srgbClr val="DDEBF7"/>
          </a:solidFill>
          <a:ln/>
        </p:spPr>
      </p:sp>
      <p:pic>
        <p:nvPicPr>
          <p:cNvPr id="11" name="Image 1" descr="Expertise walks out">    </p:cNvPr>
          <p:cNvPicPr>
            <a:picLocks noChangeAspect="1"/>
          </p:cNvPicPr>
          <p:nvPr/>
        </p:nvPicPr>
        <p:blipFill>
          <a:blip r:embed="rId2"/>
          <a:stretch>
            <a:fillRect/>
          </a:stretch>
        </p:blipFill>
        <p:spPr>
          <a:xfrm>
            <a:off x="2916936" y="1773936"/>
            <a:ext cx="310896" cy="310896"/>
          </a:xfrm>
          <a:prstGeom prst="rect">
            <a:avLst/>
          </a:prstGeom>
        </p:spPr>
      </p:pic>
      <p:sp>
        <p:nvSpPr>
          <p:cNvPr id="12" name="Text 8"/>
          <p:cNvSpPr txBox="1"/>
          <p:nvPr/>
        </p:nvSpPr>
        <p:spPr>
          <a:xfrm>
            <a:off x="2788920" y="2377440"/>
            <a:ext cx="1554480" cy="548640"/>
          </a:xfrm>
          <a:prstGeom prst="rect">
            <a:avLst/>
          </a:prstGeom>
          <a:noFill/>
          <a:ln/>
        </p:spPr>
        <p:txBody>
          <a:bodyPr wrap="square" lIns="0" tIns="0" rIns="0" bIns="0" rtlCol="0" anchor="t"/>
          <a:lstStyle/>
          <a:p>
            <a:pPr indent="0" marL="0">
              <a:buNone/>
            </a:pPr>
            <a:r>
              <a:rPr lang="en-US" sz="1500" b="1" dirty="0">
                <a:solidFill>
                  <a:schemeClr val="tx1"/>
                </a:solidFill>
              </a:rPr>
              <a:t>Expertise walks out</a:t>
            </a:r>
            <a:endParaRPr lang="en-US" sz="1500" dirty="0"/>
          </a:p>
        </p:txBody>
      </p:sp>
      <p:sp>
        <p:nvSpPr>
          <p:cNvPr id="13" name="Text 9"/>
          <p:cNvSpPr txBox="1"/>
          <p:nvPr/>
        </p:nvSpPr>
        <p:spPr>
          <a:xfrm>
            <a:off x="2788920" y="2944368"/>
            <a:ext cx="1554480" cy="1143000"/>
          </a:xfrm>
          <a:prstGeom prst="rect">
            <a:avLst/>
          </a:prstGeom>
          <a:noFill/>
          <a:ln/>
        </p:spPr>
        <p:txBody>
          <a:bodyPr wrap="square" lIns="0" tIns="0" rIns="0" bIns="0" rtlCol="0" anchor="t"/>
          <a:lstStyle/>
          <a:p>
            <a:pPr indent="0" marL="0">
              <a:buNone/>
            </a:pPr>
            <a:r>
              <a:rPr lang="en-US" sz="1200" dirty="0">
                <a:solidFill>
                  <a:schemeClr val="accent6"/>
                </a:solidFill>
              </a:rPr>
              <a:t>A senior inspector's judgment is never written down and leaves when they retire.</a:t>
            </a:r>
            <a:endParaRPr lang="en-US" sz="1200" dirty="0"/>
          </a:p>
        </p:txBody>
      </p:sp>
      <p:sp>
        <p:nvSpPr>
          <p:cNvPr id="14" name="problem card 3"/>
          <p:cNvSpPr/>
          <p:nvPr/>
        </p:nvSpPr>
        <p:spPr>
          <a:xfrm>
            <a:off x="4663440" y="1371600"/>
            <a:ext cx="1920240" cy="2834640"/>
          </a:xfrm>
          <a:prstGeom prst="roundRect">
            <a:avLst>
              <a:gd name="adj" fmla="val 4762"/>
            </a:avLst>
          </a:prstGeom>
          <a:solidFill>
            <a:schemeClr val="bg1"/>
          </a:solidFill>
          <a:ln/>
          <a:effectLst>
            <a:outerShdw sx="100000" sy="100000" kx="0" ky="0" algn="bl" rotWithShape="0" blurRad="101600" dist="25400" dir="5400000">
              <a:srgbClr val="0B1A2E">
                <a:alpha val="8000"/>
              </a:srgbClr>
            </a:outerShdw>
          </a:effectLst>
        </p:spPr>
      </p:sp>
      <p:sp>
        <p:nvSpPr>
          <p:cNvPr id="15" name="Shape 11"/>
          <p:cNvSpPr/>
          <p:nvPr/>
        </p:nvSpPr>
        <p:spPr>
          <a:xfrm>
            <a:off x="4892040" y="1645920"/>
            <a:ext cx="566928" cy="566928"/>
          </a:xfrm>
          <a:prstGeom prst="ellipse">
            <a:avLst/>
          </a:prstGeom>
          <a:solidFill>
            <a:srgbClr val="DDEBF7"/>
          </a:solidFill>
          <a:ln/>
        </p:spPr>
      </p:sp>
      <p:pic>
        <p:nvPicPr>
          <p:cNvPr id="16" name="Image 2" descr="Vision AI is out of reach">    </p:cNvPr>
          <p:cNvPicPr>
            <a:picLocks noChangeAspect="1"/>
          </p:cNvPicPr>
          <p:nvPr/>
        </p:nvPicPr>
        <p:blipFill>
          <a:blip r:embed="rId3"/>
          <a:stretch>
            <a:fillRect/>
          </a:stretch>
        </p:blipFill>
        <p:spPr>
          <a:xfrm>
            <a:off x="5020056" y="1773936"/>
            <a:ext cx="310896" cy="310896"/>
          </a:xfrm>
          <a:prstGeom prst="rect">
            <a:avLst/>
          </a:prstGeom>
        </p:spPr>
      </p:pic>
      <p:sp>
        <p:nvSpPr>
          <p:cNvPr id="17" name="Text 12"/>
          <p:cNvSpPr txBox="1"/>
          <p:nvPr/>
        </p:nvSpPr>
        <p:spPr>
          <a:xfrm>
            <a:off x="4892040" y="2377440"/>
            <a:ext cx="1554480" cy="548640"/>
          </a:xfrm>
          <a:prstGeom prst="rect">
            <a:avLst/>
          </a:prstGeom>
          <a:noFill/>
          <a:ln/>
        </p:spPr>
        <p:txBody>
          <a:bodyPr wrap="square" lIns="0" tIns="0" rIns="0" bIns="0" rtlCol="0" anchor="t"/>
          <a:lstStyle/>
          <a:p>
            <a:pPr indent="0" marL="0">
              <a:buNone/>
            </a:pPr>
            <a:r>
              <a:rPr lang="en-US" sz="1500" b="1" dirty="0">
                <a:solidFill>
                  <a:schemeClr val="tx1"/>
                </a:solidFill>
              </a:rPr>
              <a:t>Vision AI is out of reach</a:t>
            </a:r>
            <a:endParaRPr lang="en-US" sz="1500" dirty="0"/>
          </a:p>
        </p:txBody>
      </p:sp>
      <p:sp>
        <p:nvSpPr>
          <p:cNvPr id="18" name="Text 13"/>
          <p:cNvSpPr txBox="1"/>
          <p:nvPr/>
        </p:nvSpPr>
        <p:spPr>
          <a:xfrm>
            <a:off x="4892040" y="2944368"/>
            <a:ext cx="1554480" cy="1143000"/>
          </a:xfrm>
          <a:prstGeom prst="rect">
            <a:avLst/>
          </a:prstGeom>
          <a:noFill/>
          <a:ln/>
        </p:spPr>
        <p:txBody>
          <a:bodyPr wrap="square" lIns="0" tIns="0" rIns="0" bIns="0" rtlCol="0" anchor="t"/>
          <a:lstStyle/>
          <a:p>
            <a:pPr indent="0" marL="0">
              <a:buNone/>
            </a:pPr>
            <a:r>
              <a:rPr lang="en-US" sz="1200" dirty="0">
                <a:solidFill>
                  <a:schemeClr val="accent6"/>
                </a:solidFill>
              </a:rPr>
              <a:t>Thousands of labelled images per part number, plus an integrator. SMEs launch new parts often.</a:t>
            </a:r>
            <a:endParaRPr lang="en-US" sz="1200" dirty="0"/>
          </a:p>
        </p:txBody>
      </p:sp>
      <p:sp>
        <p:nvSpPr>
          <p:cNvPr id="19" name="problem card 4"/>
          <p:cNvSpPr/>
          <p:nvPr/>
        </p:nvSpPr>
        <p:spPr>
          <a:xfrm>
            <a:off x="6766560" y="1371600"/>
            <a:ext cx="1920240" cy="2834640"/>
          </a:xfrm>
          <a:prstGeom prst="roundRect">
            <a:avLst>
              <a:gd name="adj" fmla="val 4762"/>
            </a:avLst>
          </a:prstGeom>
          <a:solidFill>
            <a:schemeClr val="bg1"/>
          </a:solidFill>
          <a:ln/>
          <a:effectLst>
            <a:outerShdw sx="100000" sy="100000" kx="0" ky="0" algn="bl" rotWithShape="0" blurRad="101600" dist="25400" dir="5400000">
              <a:srgbClr val="0B1A2E">
                <a:alpha val="8000"/>
              </a:srgbClr>
            </a:outerShdw>
          </a:effectLst>
        </p:spPr>
      </p:sp>
      <p:sp>
        <p:nvSpPr>
          <p:cNvPr id="20" name="Shape 15"/>
          <p:cNvSpPr/>
          <p:nvPr/>
        </p:nvSpPr>
        <p:spPr>
          <a:xfrm>
            <a:off x="6995160" y="1645920"/>
            <a:ext cx="566928" cy="566928"/>
          </a:xfrm>
          <a:prstGeom prst="ellipse">
            <a:avLst/>
          </a:prstGeom>
          <a:solidFill>
            <a:srgbClr val="DDEBF7"/>
          </a:solidFill>
          <a:ln/>
        </p:spPr>
      </p:sp>
      <p:pic>
        <p:nvPicPr>
          <p:cNvPr id="21" name="Image 3" descr="Escapes cost days">    </p:cNvPr>
          <p:cNvPicPr>
            <a:picLocks noChangeAspect="1"/>
          </p:cNvPicPr>
          <p:nvPr/>
        </p:nvPicPr>
        <p:blipFill>
          <a:blip r:embed="rId4"/>
          <a:stretch>
            <a:fillRect/>
          </a:stretch>
        </p:blipFill>
        <p:spPr>
          <a:xfrm>
            <a:off x="7123176" y="1773936"/>
            <a:ext cx="310896" cy="310896"/>
          </a:xfrm>
          <a:prstGeom prst="rect">
            <a:avLst/>
          </a:prstGeom>
        </p:spPr>
      </p:pic>
      <p:sp>
        <p:nvSpPr>
          <p:cNvPr id="22" name="Text 16"/>
          <p:cNvSpPr txBox="1"/>
          <p:nvPr/>
        </p:nvSpPr>
        <p:spPr>
          <a:xfrm>
            <a:off x="6995160" y="2377440"/>
            <a:ext cx="1554480" cy="548640"/>
          </a:xfrm>
          <a:prstGeom prst="rect">
            <a:avLst/>
          </a:prstGeom>
          <a:noFill/>
          <a:ln/>
        </p:spPr>
        <p:txBody>
          <a:bodyPr wrap="square" lIns="0" tIns="0" rIns="0" bIns="0" rtlCol="0" anchor="t"/>
          <a:lstStyle/>
          <a:p>
            <a:pPr indent="0" marL="0">
              <a:buNone/>
            </a:pPr>
            <a:r>
              <a:rPr lang="en-US" sz="1500" b="1" dirty="0">
                <a:solidFill>
                  <a:schemeClr val="tx1"/>
                </a:solidFill>
              </a:rPr>
              <a:t>Escapes cost days</a:t>
            </a:r>
            <a:endParaRPr lang="en-US" sz="1500" dirty="0"/>
          </a:p>
        </p:txBody>
      </p:sp>
      <p:sp>
        <p:nvSpPr>
          <p:cNvPr id="23" name="Text 17"/>
          <p:cNvSpPr txBox="1"/>
          <p:nvPr/>
        </p:nvSpPr>
        <p:spPr>
          <a:xfrm>
            <a:off x="6995160" y="2944368"/>
            <a:ext cx="1554480" cy="1143000"/>
          </a:xfrm>
          <a:prstGeom prst="rect">
            <a:avLst/>
          </a:prstGeom>
          <a:noFill/>
          <a:ln/>
        </p:spPr>
        <p:txBody>
          <a:bodyPr wrap="square" lIns="0" tIns="0" rIns="0" bIns="0" rtlCol="0" anchor="t"/>
          <a:lstStyle/>
          <a:p>
            <a:pPr indent="0" marL="0">
              <a:buNone/>
            </a:pPr>
            <a:r>
              <a:rPr lang="en-US" sz="1200" dirty="0">
                <a:solidFill>
                  <a:schemeClr val="accent6"/>
                </a:solidFill>
              </a:rPr>
              <a:t>A defect at the customer means sorting, chargebacks and an 8D report that takes days to compile.</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5486400" cy="256032"/>
          </a:xfrm>
          <a:prstGeom prst="rect">
            <a:avLst/>
          </a:prstGeom>
          <a:noFill/>
          <a:ln/>
        </p:spPr>
        <p:txBody>
          <a:bodyPr wrap="square" lIns="0" tIns="0" rIns="0" bIns="0" rtlCol="0"/>
          <a:lstStyle/>
          <a:p>
            <a:pPr indent="0" marL="0">
              <a:buNone/>
            </a:pPr>
            <a:r>
              <a:rPr lang="en-US" sz="1100" b="1" spc="300" kern="0" dirty="0">
                <a:solidFill>
                  <a:schemeClr val="accent2"/>
                </a:solidFill>
              </a:rPr>
              <a:t>THE SOLUTION</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800" b="1" dirty="0">
                <a:solidFill>
                  <a:schemeClr val="tx1"/>
                </a:solidFill>
                <a:latin typeface="+mj-lt" pitchFamily="34" charset="0"/>
                <a:ea typeface="+mj-lt" pitchFamily="34" charset="-122"/>
                <a:cs typeface="+mj-lt" pitchFamily="34" charset="-120"/>
              </a:rPr>
              <a:t>One closed quality loop, with a person in charge</a:t>
            </a:r>
            <a:endParaRPr lang="en-US" sz="2800" dirty="0"/>
          </a:p>
        </p:txBody>
      </p:sp>
      <p:sp>
        <p:nvSpPr>
          <p:cNvPr id="4" name="arrow 1"/>
          <p:cNvSpPr/>
          <p:nvPr/>
        </p:nvSpPr>
        <p:spPr>
          <a:xfrm>
            <a:off x="1554480" y="2148840"/>
            <a:ext cx="777240" cy="0"/>
          </a:xfrm>
          <a:prstGeom prst="line">
            <a:avLst/>
          </a:prstGeom>
          <a:noFill/>
          <a:ln w="19050">
            <a:solidFill>
              <a:schemeClr val="accent2"/>
            </a:solidFill>
            <a:prstDash val="solid"/>
            <a:tailEnd type="triangle"/>
          </a:ln>
        </p:spPr>
      </p:sp>
      <p:sp>
        <p:nvSpPr>
          <p:cNvPr id="5" name="step Teach"/>
          <p:cNvSpPr/>
          <p:nvPr/>
        </p:nvSpPr>
        <p:spPr>
          <a:xfrm>
            <a:off x="731520" y="1600200"/>
            <a:ext cx="1097280" cy="1097280"/>
          </a:xfrm>
          <a:prstGeom prst="ellipse">
            <a:avLst/>
          </a:prstGeom>
          <a:solidFill>
            <a:schemeClr val="bg1"/>
          </a:solidFill>
          <a:ln w="19050">
            <a:solidFill>
              <a:schemeClr val="accent1"/>
            </a:solidFill>
            <a:prstDash val="solid"/>
          </a:ln>
        </p:spPr>
      </p:sp>
      <p:pic>
        <p:nvPicPr>
          <p:cNvPr id="6" name="Image 0" descr="Teach">    </p:cNvPr>
          <p:cNvPicPr>
            <a:picLocks noChangeAspect="1"/>
          </p:cNvPicPr>
          <p:nvPr/>
        </p:nvPicPr>
        <p:blipFill>
          <a:blip r:embed="rId1"/>
          <a:stretch>
            <a:fillRect/>
          </a:stretch>
        </p:blipFill>
        <p:spPr>
          <a:xfrm>
            <a:off x="1051560" y="1920240"/>
            <a:ext cx="457200" cy="457200"/>
          </a:xfrm>
          <a:prstGeom prst="rect">
            <a:avLst/>
          </a:prstGeom>
        </p:spPr>
      </p:pic>
      <p:sp>
        <p:nvSpPr>
          <p:cNvPr id="7" name="Text 4"/>
          <p:cNvSpPr txBox="1"/>
          <p:nvPr/>
        </p:nvSpPr>
        <p:spPr>
          <a:xfrm>
            <a:off x="457200" y="2834640"/>
            <a:ext cx="1645920" cy="365760"/>
          </a:xfrm>
          <a:prstGeom prst="rect">
            <a:avLst/>
          </a:prstGeom>
          <a:noFill/>
          <a:ln/>
        </p:spPr>
        <p:txBody>
          <a:bodyPr wrap="square" lIns="0" tIns="0" rIns="0" bIns="0" rtlCol="0" anchor="ctr"/>
          <a:lstStyle/>
          <a:p>
            <a:pPr algn="ctr" indent="0" marL="0">
              <a:buNone/>
            </a:pPr>
            <a:r>
              <a:rPr lang="en-US" sz="1600" b="1" dirty="0">
                <a:solidFill>
                  <a:schemeClr val="tx1"/>
                </a:solidFill>
              </a:rPr>
              <a:t>Teach</a:t>
            </a:r>
            <a:endParaRPr lang="en-US" sz="1600" dirty="0"/>
          </a:p>
        </p:txBody>
      </p:sp>
      <p:sp>
        <p:nvSpPr>
          <p:cNvPr id="8" name="Text 5"/>
          <p:cNvSpPr txBox="1"/>
          <p:nvPr/>
        </p:nvSpPr>
        <p:spPr>
          <a:xfrm>
            <a:off x="548640" y="3200400"/>
            <a:ext cx="1463040" cy="594360"/>
          </a:xfrm>
          <a:prstGeom prst="rect">
            <a:avLst/>
          </a:prstGeom>
          <a:noFill/>
          <a:ln/>
        </p:spPr>
        <p:txBody>
          <a:bodyPr wrap="square" lIns="0" tIns="0" rIns="0" bIns="0" rtlCol="0" anchor="t"/>
          <a:lstStyle/>
          <a:p>
            <a:pPr algn="ctr" indent="0" marL="0">
              <a:buNone/>
            </a:pPr>
            <a:r>
              <a:rPr lang="en-US" sz="1200" dirty="0">
                <a:solidFill>
                  <a:schemeClr val="accent6"/>
                </a:solidFill>
              </a:rPr>
              <a:t>Expert video becomes rule cards</a:t>
            </a:r>
            <a:endParaRPr lang="en-US" sz="1200" dirty="0"/>
          </a:p>
        </p:txBody>
      </p:sp>
      <p:sp>
        <p:nvSpPr>
          <p:cNvPr id="9" name="arrow 2"/>
          <p:cNvSpPr/>
          <p:nvPr/>
        </p:nvSpPr>
        <p:spPr>
          <a:xfrm>
            <a:off x="3246120" y="2148840"/>
            <a:ext cx="777240" cy="0"/>
          </a:xfrm>
          <a:prstGeom prst="line">
            <a:avLst/>
          </a:prstGeom>
          <a:noFill/>
          <a:ln w="19050">
            <a:solidFill>
              <a:schemeClr val="accent2"/>
            </a:solidFill>
            <a:prstDash val="solid"/>
            <a:tailEnd type="triangle"/>
          </a:ln>
        </p:spPr>
      </p:sp>
      <p:sp>
        <p:nvSpPr>
          <p:cNvPr id="10" name="step Inspect"/>
          <p:cNvSpPr/>
          <p:nvPr/>
        </p:nvSpPr>
        <p:spPr>
          <a:xfrm>
            <a:off x="2423160" y="1600200"/>
            <a:ext cx="1097280" cy="1097280"/>
          </a:xfrm>
          <a:prstGeom prst="ellipse">
            <a:avLst/>
          </a:prstGeom>
          <a:solidFill>
            <a:schemeClr val="accent1"/>
          </a:solidFill>
          <a:ln w="19050">
            <a:solidFill>
              <a:schemeClr val="accent1"/>
            </a:solidFill>
            <a:prstDash val="solid"/>
          </a:ln>
        </p:spPr>
      </p:sp>
      <p:pic>
        <p:nvPicPr>
          <p:cNvPr id="11" name="Image 1" descr="Inspect">    </p:cNvPr>
          <p:cNvPicPr>
            <a:picLocks noChangeAspect="1"/>
          </p:cNvPicPr>
          <p:nvPr/>
        </p:nvPicPr>
        <p:blipFill>
          <a:blip r:embed="rId2"/>
          <a:stretch>
            <a:fillRect/>
          </a:stretch>
        </p:blipFill>
        <p:spPr>
          <a:xfrm>
            <a:off x="2743200" y="1920240"/>
            <a:ext cx="457200" cy="457200"/>
          </a:xfrm>
          <a:prstGeom prst="rect">
            <a:avLst/>
          </a:prstGeom>
        </p:spPr>
      </p:pic>
      <p:sp>
        <p:nvSpPr>
          <p:cNvPr id="12" name="Text 8"/>
          <p:cNvSpPr txBox="1"/>
          <p:nvPr/>
        </p:nvSpPr>
        <p:spPr>
          <a:xfrm>
            <a:off x="2148840" y="2834640"/>
            <a:ext cx="1645920" cy="365760"/>
          </a:xfrm>
          <a:prstGeom prst="rect">
            <a:avLst/>
          </a:prstGeom>
          <a:noFill/>
          <a:ln/>
        </p:spPr>
        <p:txBody>
          <a:bodyPr wrap="square" lIns="0" tIns="0" rIns="0" bIns="0" rtlCol="0" anchor="ctr"/>
          <a:lstStyle/>
          <a:p>
            <a:pPr algn="ctr" indent="0" marL="0">
              <a:buNone/>
            </a:pPr>
            <a:r>
              <a:rPr lang="en-US" sz="1600" b="1" dirty="0">
                <a:solidFill>
                  <a:schemeClr val="tx1"/>
                </a:solidFill>
              </a:rPr>
              <a:t>Inspect</a:t>
            </a:r>
            <a:endParaRPr lang="en-US" sz="1600" dirty="0"/>
          </a:p>
        </p:txBody>
      </p:sp>
      <p:sp>
        <p:nvSpPr>
          <p:cNvPr id="13" name="Text 9"/>
          <p:cNvSpPr txBox="1"/>
          <p:nvPr/>
        </p:nvSpPr>
        <p:spPr>
          <a:xfrm>
            <a:off x="2240280" y="3200400"/>
            <a:ext cx="1463040" cy="594360"/>
          </a:xfrm>
          <a:prstGeom prst="rect">
            <a:avLst/>
          </a:prstGeom>
          <a:noFill/>
          <a:ln/>
        </p:spPr>
        <p:txBody>
          <a:bodyPr wrap="square" lIns="0" tIns="0" rIns="0" bIns="0" rtlCol="0" anchor="t"/>
          <a:lstStyle/>
          <a:p>
            <a:pPr algn="ctr" indent="0" marL="0">
              <a:buNone/>
            </a:pPr>
            <a:r>
              <a:rPr lang="en-US" sz="1200" dirty="0">
                <a:solidFill>
                  <a:schemeClr val="accent6"/>
                </a:solidFill>
              </a:rPr>
              <a:t>YOLO first, Gemini for hard parts</a:t>
            </a:r>
            <a:endParaRPr lang="en-US" sz="1200" dirty="0"/>
          </a:p>
        </p:txBody>
      </p:sp>
      <p:sp>
        <p:nvSpPr>
          <p:cNvPr id="14" name="arrow 3"/>
          <p:cNvSpPr/>
          <p:nvPr/>
        </p:nvSpPr>
        <p:spPr>
          <a:xfrm>
            <a:off x="4937760" y="2148840"/>
            <a:ext cx="777240" cy="0"/>
          </a:xfrm>
          <a:prstGeom prst="line">
            <a:avLst/>
          </a:prstGeom>
          <a:noFill/>
          <a:ln w="19050">
            <a:solidFill>
              <a:schemeClr val="accent2"/>
            </a:solidFill>
            <a:prstDash val="solid"/>
            <a:tailEnd type="triangle"/>
          </a:ln>
        </p:spPr>
      </p:sp>
      <p:sp>
        <p:nvSpPr>
          <p:cNvPr id="15" name="step Act"/>
          <p:cNvSpPr/>
          <p:nvPr/>
        </p:nvSpPr>
        <p:spPr>
          <a:xfrm>
            <a:off x="4114800" y="1600200"/>
            <a:ext cx="1097280" cy="1097280"/>
          </a:xfrm>
          <a:prstGeom prst="ellipse">
            <a:avLst/>
          </a:prstGeom>
          <a:solidFill>
            <a:schemeClr val="bg1"/>
          </a:solidFill>
          <a:ln w="19050">
            <a:solidFill>
              <a:schemeClr val="accent1"/>
            </a:solidFill>
            <a:prstDash val="solid"/>
          </a:ln>
        </p:spPr>
      </p:sp>
      <p:pic>
        <p:nvPicPr>
          <p:cNvPr id="16" name="Image 2" descr="Act">    </p:cNvPr>
          <p:cNvPicPr>
            <a:picLocks noChangeAspect="1"/>
          </p:cNvPicPr>
          <p:nvPr/>
        </p:nvPicPr>
        <p:blipFill>
          <a:blip r:embed="rId3"/>
          <a:stretch>
            <a:fillRect/>
          </a:stretch>
        </p:blipFill>
        <p:spPr>
          <a:xfrm>
            <a:off x="4434840" y="1920240"/>
            <a:ext cx="457200" cy="457200"/>
          </a:xfrm>
          <a:prstGeom prst="rect">
            <a:avLst/>
          </a:prstGeom>
        </p:spPr>
      </p:pic>
      <p:sp>
        <p:nvSpPr>
          <p:cNvPr id="17" name="Text 12"/>
          <p:cNvSpPr txBox="1"/>
          <p:nvPr/>
        </p:nvSpPr>
        <p:spPr>
          <a:xfrm>
            <a:off x="3840480" y="2834640"/>
            <a:ext cx="1645920" cy="365760"/>
          </a:xfrm>
          <a:prstGeom prst="rect">
            <a:avLst/>
          </a:prstGeom>
          <a:noFill/>
          <a:ln/>
        </p:spPr>
        <p:txBody>
          <a:bodyPr wrap="square" lIns="0" tIns="0" rIns="0" bIns="0" rtlCol="0" anchor="ctr"/>
          <a:lstStyle/>
          <a:p>
            <a:pPr algn="ctr" indent="0" marL="0">
              <a:buNone/>
            </a:pPr>
            <a:r>
              <a:rPr lang="en-US" sz="1600" b="1" dirty="0">
                <a:solidFill>
                  <a:schemeClr val="tx1"/>
                </a:solidFill>
              </a:rPr>
              <a:t>Act</a:t>
            </a:r>
            <a:endParaRPr lang="en-US" sz="1600" dirty="0"/>
          </a:p>
        </p:txBody>
      </p:sp>
      <p:sp>
        <p:nvSpPr>
          <p:cNvPr id="18" name="Text 13"/>
          <p:cNvSpPr txBox="1"/>
          <p:nvPr/>
        </p:nvSpPr>
        <p:spPr>
          <a:xfrm>
            <a:off x="3931920" y="3200400"/>
            <a:ext cx="1463040" cy="594360"/>
          </a:xfrm>
          <a:prstGeom prst="rect">
            <a:avLst/>
          </a:prstGeom>
          <a:noFill/>
          <a:ln/>
        </p:spPr>
        <p:txBody>
          <a:bodyPr wrap="square" lIns="0" tIns="0" rIns="0" bIns="0" rtlCol="0" anchor="t"/>
          <a:lstStyle/>
          <a:p>
            <a:pPr algn="ctr" indent="0" marL="0">
              <a:buNone/>
            </a:pPr>
            <a:r>
              <a:rPr lang="en-US" sz="1200" dirty="0">
                <a:solidFill>
                  <a:schemeClr val="accent6"/>
                </a:solidFill>
              </a:rPr>
              <a:t>Rework steps or a robot sort</a:t>
            </a:r>
            <a:endParaRPr lang="en-US" sz="1200" dirty="0"/>
          </a:p>
        </p:txBody>
      </p:sp>
      <p:sp>
        <p:nvSpPr>
          <p:cNvPr id="19" name="arrow 4"/>
          <p:cNvSpPr/>
          <p:nvPr/>
        </p:nvSpPr>
        <p:spPr>
          <a:xfrm>
            <a:off x="6629400" y="2148840"/>
            <a:ext cx="777240" cy="0"/>
          </a:xfrm>
          <a:prstGeom prst="line">
            <a:avLst/>
          </a:prstGeom>
          <a:noFill/>
          <a:ln w="19050">
            <a:solidFill>
              <a:schemeClr val="accent2"/>
            </a:solidFill>
            <a:prstDash val="solid"/>
            <a:tailEnd type="triangle"/>
          </a:ln>
        </p:spPr>
      </p:sp>
      <p:sp>
        <p:nvSpPr>
          <p:cNvPr id="20" name="step Learn"/>
          <p:cNvSpPr/>
          <p:nvPr/>
        </p:nvSpPr>
        <p:spPr>
          <a:xfrm>
            <a:off x="5806440" y="1600200"/>
            <a:ext cx="1097280" cy="1097280"/>
          </a:xfrm>
          <a:prstGeom prst="ellipse">
            <a:avLst/>
          </a:prstGeom>
          <a:solidFill>
            <a:schemeClr val="bg1"/>
          </a:solidFill>
          <a:ln w="19050">
            <a:solidFill>
              <a:schemeClr val="accent1"/>
            </a:solidFill>
            <a:prstDash val="solid"/>
          </a:ln>
        </p:spPr>
      </p:sp>
      <p:pic>
        <p:nvPicPr>
          <p:cNvPr id="21" name="Image 3" descr="Learn">    </p:cNvPr>
          <p:cNvPicPr>
            <a:picLocks noChangeAspect="1"/>
          </p:cNvPicPr>
          <p:nvPr/>
        </p:nvPicPr>
        <p:blipFill>
          <a:blip r:embed="rId4"/>
          <a:stretch>
            <a:fillRect/>
          </a:stretch>
        </p:blipFill>
        <p:spPr>
          <a:xfrm>
            <a:off x="6126480" y="1920240"/>
            <a:ext cx="457200" cy="457200"/>
          </a:xfrm>
          <a:prstGeom prst="rect">
            <a:avLst/>
          </a:prstGeom>
        </p:spPr>
      </p:pic>
      <p:sp>
        <p:nvSpPr>
          <p:cNvPr id="22" name="Text 16"/>
          <p:cNvSpPr txBox="1"/>
          <p:nvPr/>
        </p:nvSpPr>
        <p:spPr>
          <a:xfrm>
            <a:off x="5532120" y="2834640"/>
            <a:ext cx="1645920" cy="365760"/>
          </a:xfrm>
          <a:prstGeom prst="rect">
            <a:avLst/>
          </a:prstGeom>
          <a:noFill/>
          <a:ln/>
        </p:spPr>
        <p:txBody>
          <a:bodyPr wrap="square" lIns="0" tIns="0" rIns="0" bIns="0" rtlCol="0" anchor="ctr"/>
          <a:lstStyle/>
          <a:p>
            <a:pPr algn="ctr" indent="0" marL="0">
              <a:buNone/>
            </a:pPr>
            <a:r>
              <a:rPr lang="en-US" sz="1600" b="1" dirty="0">
                <a:solidFill>
                  <a:schemeClr val="tx1"/>
                </a:solidFill>
              </a:rPr>
              <a:t>Learn</a:t>
            </a:r>
            <a:endParaRPr lang="en-US" sz="1600" dirty="0"/>
          </a:p>
        </p:txBody>
      </p:sp>
      <p:sp>
        <p:nvSpPr>
          <p:cNvPr id="23" name="Text 17"/>
          <p:cNvSpPr txBox="1"/>
          <p:nvPr/>
        </p:nvSpPr>
        <p:spPr>
          <a:xfrm>
            <a:off x="5623560" y="3200400"/>
            <a:ext cx="1463040" cy="594360"/>
          </a:xfrm>
          <a:prstGeom prst="rect">
            <a:avLst/>
          </a:prstGeom>
          <a:noFill/>
          <a:ln/>
        </p:spPr>
        <p:txBody>
          <a:bodyPr wrap="square" lIns="0" tIns="0" rIns="0" bIns="0" rtlCol="0" anchor="t"/>
          <a:lstStyle/>
          <a:p>
            <a:pPr algn="ctr" indent="0" marL="0">
              <a:buNone/>
            </a:pPr>
            <a:r>
              <a:rPr lang="en-US" sz="1200" dirty="0">
                <a:solidFill>
                  <a:schemeClr val="accent6"/>
                </a:solidFill>
              </a:rPr>
              <a:t>Spike found, root cause, 8D</a:t>
            </a:r>
            <a:endParaRPr lang="en-US" sz="1200" dirty="0"/>
          </a:p>
        </p:txBody>
      </p:sp>
      <p:sp>
        <p:nvSpPr>
          <p:cNvPr id="24" name="step Improve"/>
          <p:cNvSpPr/>
          <p:nvPr/>
        </p:nvSpPr>
        <p:spPr>
          <a:xfrm>
            <a:off x="7498080" y="1600200"/>
            <a:ext cx="1097280" cy="1097280"/>
          </a:xfrm>
          <a:prstGeom prst="ellipse">
            <a:avLst/>
          </a:prstGeom>
          <a:solidFill>
            <a:schemeClr val="bg1"/>
          </a:solidFill>
          <a:ln w="19050">
            <a:solidFill>
              <a:schemeClr val="accent1"/>
            </a:solidFill>
            <a:prstDash val="solid"/>
          </a:ln>
        </p:spPr>
      </p:sp>
      <p:pic>
        <p:nvPicPr>
          <p:cNvPr id="25" name="Image 4" descr="Improve">    </p:cNvPr>
          <p:cNvPicPr>
            <a:picLocks noChangeAspect="1"/>
          </p:cNvPicPr>
          <p:nvPr/>
        </p:nvPicPr>
        <p:blipFill>
          <a:blip r:embed="rId5"/>
          <a:stretch>
            <a:fillRect/>
          </a:stretch>
        </p:blipFill>
        <p:spPr>
          <a:xfrm>
            <a:off x="7818120" y="1920240"/>
            <a:ext cx="457200" cy="457200"/>
          </a:xfrm>
          <a:prstGeom prst="rect">
            <a:avLst/>
          </a:prstGeom>
        </p:spPr>
      </p:pic>
      <p:sp>
        <p:nvSpPr>
          <p:cNvPr id="26" name="Text 19"/>
          <p:cNvSpPr txBox="1"/>
          <p:nvPr/>
        </p:nvSpPr>
        <p:spPr>
          <a:xfrm>
            <a:off x="7223760" y="2834640"/>
            <a:ext cx="1645920" cy="365760"/>
          </a:xfrm>
          <a:prstGeom prst="rect">
            <a:avLst/>
          </a:prstGeom>
          <a:noFill/>
          <a:ln/>
        </p:spPr>
        <p:txBody>
          <a:bodyPr wrap="square" lIns="0" tIns="0" rIns="0" bIns="0" rtlCol="0" anchor="ctr"/>
          <a:lstStyle/>
          <a:p>
            <a:pPr algn="ctr" indent="0" marL="0">
              <a:buNone/>
            </a:pPr>
            <a:r>
              <a:rPr lang="en-US" sz="1600" b="1" dirty="0">
                <a:solidFill>
                  <a:schemeClr val="tx1"/>
                </a:solidFill>
              </a:rPr>
              <a:t>Improve</a:t>
            </a:r>
            <a:endParaRPr lang="en-US" sz="1600" dirty="0"/>
          </a:p>
        </p:txBody>
      </p:sp>
      <p:sp>
        <p:nvSpPr>
          <p:cNvPr id="27" name="Text 20"/>
          <p:cNvSpPr txBox="1"/>
          <p:nvPr/>
        </p:nvSpPr>
        <p:spPr>
          <a:xfrm>
            <a:off x="7315200" y="3200400"/>
            <a:ext cx="1463040" cy="594360"/>
          </a:xfrm>
          <a:prstGeom prst="rect">
            <a:avLst/>
          </a:prstGeom>
          <a:noFill/>
          <a:ln/>
        </p:spPr>
        <p:txBody>
          <a:bodyPr wrap="square" lIns="0" tIns="0" rIns="0" bIns="0" rtlCol="0" anchor="t"/>
          <a:lstStyle/>
          <a:p>
            <a:pPr algn="ctr" indent="0" marL="0">
              <a:buNone/>
            </a:pPr>
            <a:r>
              <a:rPr lang="en-US" sz="1200" dirty="0">
                <a:solidFill>
                  <a:schemeClr val="accent6"/>
                </a:solidFill>
              </a:rPr>
              <a:t>Confirmed cases retrain YOLO</a:t>
            </a:r>
            <a:endParaRPr lang="en-US" sz="1200" dirty="0"/>
          </a:p>
        </p:txBody>
      </p:sp>
      <p:sp>
        <p:nvSpPr>
          <p:cNvPr id="28" name="Text 21"/>
          <p:cNvSpPr txBox="1"/>
          <p:nvPr/>
        </p:nvSpPr>
        <p:spPr>
          <a:xfrm>
            <a:off x="457200" y="4069080"/>
            <a:ext cx="8229600" cy="457200"/>
          </a:xfrm>
          <a:prstGeom prst="rect">
            <a:avLst/>
          </a:prstGeom>
          <a:noFill/>
          <a:ln/>
        </p:spPr>
        <p:txBody>
          <a:bodyPr wrap="square" lIns="0" tIns="0" rIns="0" bIns="0" rtlCol="0" anchor="ctr"/>
          <a:lstStyle/>
          <a:p>
            <a:pPr indent="0" marL="0">
              <a:buNone/>
            </a:pPr>
            <a:r>
              <a:rPr lang="en-US" sz="1400" b="1" dirty="0">
                <a:solidFill>
                  <a:schemeClr val="tx1"/>
                </a:solidFill>
              </a:rPr>
              <a:t>AI only where judgment is needed. </a:t>
            </a:r>
            <a:pPr indent="0" marL="0">
              <a:buNone/>
            </a:pPr>
            <a:r>
              <a:rPr lang="en-US" sz="1400" dirty="0">
                <a:solidFill>
                  <a:schemeClr val="accent6"/>
                </a:solidFill>
              </a:rPr>
              <a:t>Statistics and plain code do the rest, and a person signs off every scrap and every rule.</a:t>
            </a:r>
            <a:endParaRPr lang="en-US" sz="14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5486400" cy="256032"/>
          </a:xfrm>
          <a:prstGeom prst="rect">
            <a:avLst/>
          </a:prstGeom>
          <a:noFill/>
          <a:ln/>
        </p:spPr>
        <p:txBody>
          <a:bodyPr wrap="square" lIns="0" tIns="0" rIns="0" bIns="0" rtlCol="0"/>
          <a:lstStyle/>
          <a:p>
            <a:pPr indent="0" marL="0">
              <a:buNone/>
            </a:pPr>
            <a:r>
              <a:rPr lang="en-US" sz="1100" b="1" spc="300" kern="0" dirty="0">
                <a:solidFill>
                  <a:schemeClr val="accent2"/>
                </a:solidFill>
              </a:rPr>
              <a:t>01 · TEACH</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800" b="1" dirty="0">
                <a:solidFill>
                  <a:schemeClr val="tx1"/>
                </a:solidFill>
                <a:latin typeface="+mj-lt" pitchFamily="34" charset="0"/>
                <a:ea typeface="+mj-lt" pitchFamily="34" charset="-122"/>
                <a:cs typeface="+mj-lt" pitchFamily="34" charset="-120"/>
              </a:rPr>
              <a:t>The expert teaches once, on video</a:t>
            </a:r>
            <a:endParaRPr lang="en-US" sz="2800" dirty="0"/>
          </a:p>
        </p:txBody>
      </p:sp>
      <p:sp>
        <p:nvSpPr>
          <p:cNvPr id="4" name="num 1"/>
          <p:cNvSpPr/>
          <p:nvPr/>
        </p:nvSpPr>
        <p:spPr>
          <a:xfrm>
            <a:off x="457200" y="1344168"/>
            <a:ext cx="329184" cy="329184"/>
          </a:xfrm>
          <a:prstGeom prst="ellipse">
            <a:avLst/>
          </a:prstGeom>
          <a:solidFill>
            <a:schemeClr val="accent2"/>
          </a:solidFill>
          <a:ln/>
        </p:spPr>
      </p:sp>
      <p:sp>
        <p:nvSpPr>
          <p:cNvPr id="5" name="Text 3"/>
          <p:cNvSpPr txBox="1"/>
          <p:nvPr/>
        </p:nvSpPr>
        <p:spPr>
          <a:xfrm>
            <a:off x="457200" y="134416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914400" y="1289304"/>
            <a:ext cx="2560320" cy="91440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Narrated video</a:t>
            </a:r>
            <a:endParaRPr lang="en-US" sz="1500" dirty="0"/>
          </a:p>
          <a:p>
            <a:pPr indent="0" marL="0">
              <a:spcAft>
                <a:spcPts val="200"/>
              </a:spcAft>
              <a:buNone/>
            </a:pPr>
            <a:r>
              <a:rPr lang="en-US" sz="1300" dirty="0">
                <a:solidFill>
                  <a:schemeClr val="accent6"/>
                </a:solidFill>
              </a:rPr>
              <a:t>Up to 10 minutes, uploaded straight to Cloud Storage</a:t>
            </a:r>
            <a:endParaRPr lang="en-US" sz="1500" dirty="0"/>
          </a:p>
        </p:txBody>
      </p:sp>
      <p:sp>
        <p:nvSpPr>
          <p:cNvPr id="7" name="num 2"/>
          <p:cNvSpPr/>
          <p:nvPr/>
        </p:nvSpPr>
        <p:spPr>
          <a:xfrm>
            <a:off x="457200" y="2395728"/>
            <a:ext cx="329184" cy="329184"/>
          </a:xfrm>
          <a:prstGeom prst="ellipse">
            <a:avLst/>
          </a:prstGeom>
          <a:solidFill>
            <a:schemeClr val="accent2"/>
          </a:solidFill>
          <a:ln/>
        </p:spPr>
      </p:sp>
      <p:sp>
        <p:nvSpPr>
          <p:cNvPr id="8" name="Text 6"/>
          <p:cNvSpPr txBox="1"/>
          <p:nvPr/>
        </p:nvSpPr>
        <p:spPr>
          <a:xfrm>
            <a:off x="457200" y="239572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7"/>
          <p:cNvSpPr txBox="1"/>
          <p:nvPr/>
        </p:nvSpPr>
        <p:spPr>
          <a:xfrm>
            <a:off x="914400" y="2340864"/>
            <a:ext cx="2560320" cy="91440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Gemini drafts rule cards</a:t>
            </a:r>
            <a:endParaRPr lang="en-US" sz="1500" dirty="0"/>
          </a:p>
          <a:p>
            <a:pPr indent="0" marL="0">
              <a:spcAft>
                <a:spcPts val="200"/>
              </a:spcAft>
              <a:buNone/>
            </a:pPr>
            <a:r>
              <a:rPr lang="en-US" sz="1300" dirty="0">
                <a:solidFill>
                  <a:schemeClr val="accent6"/>
                </a:solidFill>
              </a:rPr>
              <a:t>Look, accept limit, fix and video timestamp, in the expert's words</a:t>
            </a:r>
            <a:endParaRPr lang="en-US" sz="1500" dirty="0"/>
          </a:p>
        </p:txBody>
      </p:sp>
      <p:sp>
        <p:nvSpPr>
          <p:cNvPr id="10" name="num 3"/>
          <p:cNvSpPr/>
          <p:nvPr/>
        </p:nvSpPr>
        <p:spPr>
          <a:xfrm>
            <a:off x="457200" y="3447288"/>
            <a:ext cx="329184" cy="329184"/>
          </a:xfrm>
          <a:prstGeom prst="ellipse">
            <a:avLst/>
          </a:prstGeom>
          <a:solidFill>
            <a:schemeClr val="accent2"/>
          </a:solidFill>
          <a:ln/>
        </p:spPr>
      </p:sp>
      <p:sp>
        <p:nvSpPr>
          <p:cNvPr id="11" name="Text 9"/>
          <p:cNvSpPr txBox="1"/>
          <p:nvPr/>
        </p:nvSpPr>
        <p:spPr>
          <a:xfrm>
            <a:off x="457200" y="344728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 10"/>
          <p:cNvSpPr txBox="1"/>
          <p:nvPr/>
        </p:nvSpPr>
        <p:spPr>
          <a:xfrm>
            <a:off x="914400" y="3392424"/>
            <a:ext cx="2560320" cy="91440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Expert approves</a:t>
            </a:r>
            <a:endParaRPr lang="en-US" sz="1500" dirty="0"/>
          </a:p>
          <a:p>
            <a:pPr indent="0" marL="0">
              <a:spcAft>
                <a:spcPts val="200"/>
              </a:spcAft>
              <a:buNone/>
            </a:pPr>
            <a:r>
              <a:rPr lang="en-US" sz="1300" dirty="0">
                <a:solidFill>
                  <a:schemeClr val="accent6"/>
                </a:solidFill>
              </a:rPr>
              <a:t>Drafts never reach the line</a:t>
            </a:r>
            <a:endParaRPr lang="en-US" sz="1500" dirty="0"/>
          </a:p>
        </p:txBody>
      </p:sp>
      <p:sp>
        <p:nvSpPr>
          <p:cNvPr id="13" name="frame knowledge"/>
          <p:cNvSpPr/>
          <p:nvPr/>
        </p:nvSpPr>
        <p:spPr>
          <a:xfrm>
            <a:off x="3611880" y="1349686"/>
            <a:ext cx="5074920" cy="3198508"/>
          </a:xfrm>
          <a:prstGeom prst="roundRect">
            <a:avLst>
              <a:gd name="adj" fmla="val 2287"/>
            </a:avLst>
          </a:prstGeom>
          <a:solidFill>
            <a:schemeClr val="bg1"/>
          </a:solidFill>
          <a:ln w="9525">
            <a:solidFill>
              <a:srgbClr val="D5E3F0"/>
            </a:solidFill>
            <a:prstDash val="solid"/>
          </a:ln>
          <a:effectLst>
            <a:outerShdw sx="100000" sy="100000" kx="0" ky="0" algn="bl" rotWithShape="0" blurRad="127000" dist="38100" dir="5400000">
              <a:srgbClr val="0B1A2E">
                <a:alpha val="14000"/>
              </a:srgbClr>
            </a:outerShdw>
          </a:effectLst>
        </p:spPr>
      </p:sp>
      <p:pic>
        <p:nvPicPr>
          <p:cNvPr id="14" name="screenshot knowledge" descr="Expert knowledge page with approved rule cards">    </p:cNvPr>
          <p:cNvPicPr>
            <a:picLocks noChangeAspect="1"/>
          </p:cNvPicPr>
          <p:nvPr/>
        </p:nvPicPr>
        <p:blipFill>
          <a:blip r:embed="rId1"/>
          <a:stretch>
            <a:fillRect/>
          </a:stretch>
        </p:blipFill>
        <p:spPr>
          <a:xfrm>
            <a:off x="3675888" y="1413694"/>
            <a:ext cx="4946904" cy="3070492"/>
          </a:xfrm>
          <a:prstGeom prst="rect">
            <a:avLst/>
          </a:prstGeom>
        </p:spPr>
      </p:pic>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5486400" cy="256032"/>
          </a:xfrm>
          <a:prstGeom prst="rect">
            <a:avLst/>
          </a:prstGeom>
          <a:noFill/>
          <a:ln/>
        </p:spPr>
        <p:txBody>
          <a:bodyPr wrap="square" lIns="0" tIns="0" rIns="0" bIns="0" rtlCol="0"/>
          <a:lstStyle/>
          <a:p>
            <a:pPr indent="0" marL="0">
              <a:buNone/>
            </a:pPr>
            <a:r>
              <a:rPr lang="en-US" sz="1100" b="1" spc="300" kern="0" dirty="0">
                <a:solidFill>
                  <a:schemeClr val="accent2"/>
                </a:solidFill>
              </a:rPr>
              <a:t>02 · INSPECT</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800" b="1" dirty="0">
                <a:solidFill>
                  <a:schemeClr val="tx1"/>
                </a:solidFill>
                <a:latin typeface="+mj-lt" pitchFamily="34" charset="0"/>
                <a:ea typeface="+mj-lt" pitchFamily="34" charset="-122"/>
                <a:cs typeface="+mj-lt" pitchFamily="34" charset="-120"/>
              </a:rPr>
              <a:t>Easy parts are decided in a second, on CPU</a:t>
            </a:r>
            <a:endParaRPr lang="en-US" sz="2800" dirty="0"/>
          </a:p>
        </p:txBody>
      </p:sp>
      <p:sp>
        <p:nvSpPr>
          <p:cNvPr id="4" name="num 1"/>
          <p:cNvSpPr/>
          <p:nvPr/>
        </p:nvSpPr>
        <p:spPr>
          <a:xfrm>
            <a:off x="457200" y="1344168"/>
            <a:ext cx="329184" cy="329184"/>
          </a:xfrm>
          <a:prstGeom prst="ellipse">
            <a:avLst/>
          </a:prstGeom>
          <a:solidFill>
            <a:schemeClr val="accent2"/>
          </a:solidFill>
          <a:ln/>
        </p:spPr>
      </p:sp>
      <p:sp>
        <p:nvSpPr>
          <p:cNvPr id="5" name="Text 3"/>
          <p:cNvSpPr txBox="1"/>
          <p:nvPr/>
        </p:nvSpPr>
        <p:spPr>
          <a:xfrm>
            <a:off x="457200" y="134416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914400" y="1289304"/>
            <a:ext cx="2560320" cy="91440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Phone photo</a:t>
            </a:r>
            <a:endParaRPr lang="en-US" sz="1500" dirty="0"/>
          </a:p>
          <a:p>
            <a:pPr indent="0" marL="0">
              <a:spcAft>
                <a:spcPts val="200"/>
              </a:spcAft>
              <a:buNone/>
            </a:pPr>
            <a:r>
              <a:rPr lang="en-US" sz="1300" dirty="0">
                <a:solidFill>
                  <a:schemeClr val="accent6"/>
                </a:solidFill>
              </a:rPr>
              <a:t>Or a sample part; the line context is remembered</a:t>
            </a:r>
            <a:endParaRPr lang="en-US" sz="1500" dirty="0"/>
          </a:p>
        </p:txBody>
      </p:sp>
      <p:sp>
        <p:nvSpPr>
          <p:cNvPr id="7" name="num 2"/>
          <p:cNvSpPr/>
          <p:nvPr/>
        </p:nvSpPr>
        <p:spPr>
          <a:xfrm>
            <a:off x="457200" y="2395728"/>
            <a:ext cx="329184" cy="329184"/>
          </a:xfrm>
          <a:prstGeom prst="ellipse">
            <a:avLst/>
          </a:prstGeom>
          <a:solidFill>
            <a:schemeClr val="accent2"/>
          </a:solidFill>
          <a:ln/>
        </p:spPr>
      </p:sp>
      <p:sp>
        <p:nvSpPr>
          <p:cNvPr id="8" name="Text 6"/>
          <p:cNvSpPr txBox="1"/>
          <p:nvPr/>
        </p:nvSpPr>
        <p:spPr>
          <a:xfrm>
            <a:off x="457200" y="239572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7"/>
          <p:cNvSpPr txBox="1"/>
          <p:nvPr/>
        </p:nvSpPr>
        <p:spPr>
          <a:xfrm>
            <a:off x="914400" y="2340864"/>
            <a:ext cx="2560320" cy="91440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YOLO fast path</a:t>
            </a:r>
            <a:endParaRPr lang="en-US" sz="1500" dirty="0"/>
          </a:p>
          <a:p>
            <a:pPr indent="0" marL="0">
              <a:spcAft>
                <a:spcPts val="200"/>
              </a:spcAft>
              <a:buNone/>
            </a:pPr>
            <a:r>
              <a:rPr lang="en-US" sz="1300" dirty="0">
                <a:solidFill>
                  <a:schemeClr val="accent6"/>
                </a:solidFill>
              </a:rPr>
              <a:t>Confident parts never leave the server: about 1 s, $0</a:t>
            </a:r>
            <a:endParaRPr lang="en-US" sz="1500" dirty="0"/>
          </a:p>
        </p:txBody>
      </p:sp>
      <p:sp>
        <p:nvSpPr>
          <p:cNvPr id="10" name="num 3"/>
          <p:cNvSpPr/>
          <p:nvPr/>
        </p:nvSpPr>
        <p:spPr>
          <a:xfrm>
            <a:off x="457200" y="3447288"/>
            <a:ext cx="329184" cy="329184"/>
          </a:xfrm>
          <a:prstGeom prst="ellipse">
            <a:avLst/>
          </a:prstGeom>
          <a:solidFill>
            <a:schemeClr val="accent2"/>
          </a:solidFill>
          <a:ln/>
        </p:spPr>
      </p:sp>
      <p:sp>
        <p:nvSpPr>
          <p:cNvPr id="11" name="Text 9"/>
          <p:cNvSpPr txBox="1"/>
          <p:nvPr/>
        </p:nvSpPr>
        <p:spPr>
          <a:xfrm>
            <a:off x="457200" y="344728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 10"/>
          <p:cNvSpPr txBox="1"/>
          <p:nvPr/>
        </p:nvSpPr>
        <p:spPr>
          <a:xfrm>
            <a:off x="914400" y="3392424"/>
            <a:ext cx="2560320" cy="91440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99% of parts</a:t>
            </a:r>
            <a:endParaRPr lang="en-US" sz="1500" dirty="0"/>
          </a:p>
          <a:p>
            <a:pPr indent="0" marL="0">
              <a:spcAft>
                <a:spcPts val="200"/>
              </a:spcAft>
              <a:buNone/>
            </a:pPr>
            <a:r>
              <a:rPr lang="en-US" sz="1300" dirty="0">
                <a:solidFill>
                  <a:schemeClr val="accent6"/>
                </a:solidFill>
              </a:rPr>
              <a:t>Handled by the fast path on 200 held-out images</a:t>
            </a:r>
            <a:endParaRPr lang="en-US" sz="1500" dirty="0"/>
          </a:p>
        </p:txBody>
      </p:sp>
      <p:sp>
        <p:nvSpPr>
          <p:cNvPr id="13" name="frame inspect"/>
          <p:cNvSpPr/>
          <p:nvPr/>
        </p:nvSpPr>
        <p:spPr>
          <a:xfrm>
            <a:off x="3611880" y="1192570"/>
            <a:ext cx="5074920" cy="3512740"/>
          </a:xfrm>
          <a:prstGeom prst="roundRect">
            <a:avLst>
              <a:gd name="adj" fmla="val 2082"/>
            </a:avLst>
          </a:prstGeom>
          <a:solidFill>
            <a:schemeClr val="bg1"/>
          </a:solidFill>
          <a:ln w="9525">
            <a:solidFill>
              <a:srgbClr val="D5E3F0"/>
            </a:solidFill>
            <a:prstDash val="solid"/>
          </a:ln>
          <a:effectLst>
            <a:outerShdw sx="100000" sy="100000" kx="0" ky="0" algn="bl" rotWithShape="0" blurRad="127000" dist="38100" dir="5400000">
              <a:srgbClr val="0B1A2E">
                <a:alpha val="14000"/>
              </a:srgbClr>
            </a:outerShdw>
          </a:effectLst>
        </p:spPr>
      </p:sp>
      <p:pic>
        <p:nvPicPr>
          <p:cNvPr id="14" name="screenshot inspect" descr="Inspect page with a rework decision from the fast path">    </p:cNvPr>
          <p:cNvPicPr>
            <a:picLocks noChangeAspect="1"/>
          </p:cNvPicPr>
          <p:nvPr/>
        </p:nvPicPr>
        <p:blipFill>
          <a:blip r:embed="rId1"/>
          <a:stretch>
            <a:fillRect/>
          </a:stretch>
        </p:blipFill>
        <p:spPr>
          <a:xfrm>
            <a:off x="3675888" y="1256578"/>
            <a:ext cx="4946904" cy="3384724"/>
          </a:xfrm>
          <a:prstGeom prst="rect">
            <a:avLst/>
          </a:prstGeom>
        </p:spPr>
      </p:pic>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5486400" cy="256032"/>
          </a:xfrm>
          <a:prstGeom prst="rect">
            <a:avLst/>
          </a:prstGeom>
          <a:noFill/>
          <a:ln/>
        </p:spPr>
        <p:txBody>
          <a:bodyPr wrap="square" lIns="0" tIns="0" rIns="0" bIns="0" rtlCol="0"/>
          <a:lstStyle/>
          <a:p>
            <a:pPr indent="0" marL="0">
              <a:buNone/>
            </a:pPr>
            <a:r>
              <a:rPr lang="en-US" sz="1100" b="1" spc="300" kern="0" dirty="0">
                <a:solidFill>
                  <a:schemeClr val="accent2"/>
                </a:solidFill>
              </a:rPr>
              <a:t>02 · INSPECT</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800" b="1" dirty="0">
                <a:solidFill>
                  <a:schemeClr val="tx1"/>
                </a:solidFill>
                <a:latin typeface="+mj-lt" pitchFamily="34" charset="0"/>
                <a:ea typeface="+mj-lt" pitchFamily="34" charset="-122"/>
                <a:cs typeface="+mj-lt" pitchFamily="34" charset="-120"/>
              </a:rPr>
              <a:t>Hard parts go to Gemini, with evidence</a:t>
            </a:r>
            <a:endParaRPr lang="en-US" sz="2800" dirty="0"/>
          </a:p>
        </p:txBody>
      </p:sp>
      <p:sp>
        <p:nvSpPr>
          <p:cNvPr id="4" name="num 1"/>
          <p:cNvSpPr/>
          <p:nvPr/>
        </p:nvSpPr>
        <p:spPr>
          <a:xfrm>
            <a:off x="457200" y="1344168"/>
            <a:ext cx="329184" cy="329184"/>
          </a:xfrm>
          <a:prstGeom prst="ellipse">
            <a:avLst/>
          </a:prstGeom>
          <a:solidFill>
            <a:schemeClr val="accent2"/>
          </a:solidFill>
          <a:ln/>
        </p:spPr>
      </p:sp>
      <p:sp>
        <p:nvSpPr>
          <p:cNvPr id="5" name="Text 3"/>
          <p:cNvSpPr txBox="1"/>
          <p:nvPr/>
        </p:nvSpPr>
        <p:spPr>
          <a:xfrm>
            <a:off x="457200" y="134416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914400" y="1289304"/>
            <a:ext cx="2560320" cy="91440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Points at the defect</a:t>
            </a:r>
            <a:endParaRPr lang="en-US" sz="1500" dirty="0"/>
          </a:p>
          <a:p>
            <a:pPr indent="0" marL="0">
              <a:spcAft>
                <a:spcPts val="200"/>
              </a:spcAft>
              <a:buNone/>
            </a:pPr>
            <a:r>
              <a:rPr lang="en-US" sz="1300" dirty="0">
                <a:solidFill>
                  <a:schemeClr val="accent6"/>
                </a:solidFill>
              </a:rPr>
              <a:t>Marked on the photo, so a person can check it</a:t>
            </a:r>
            <a:endParaRPr lang="en-US" sz="1500" dirty="0"/>
          </a:p>
        </p:txBody>
      </p:sp>
      <p:sp>
        <p:nvSpPr>
          <p:cNvPr id="7" name="num 2"/>
          <p:cNvSpPr/>
          <p:nvPr/>
        </p:nvSpPr>
        <p:spPr>
          <a:xfrm>
            <a:off x="457200" y="2395728"/>
            <a:ext cx="329184" cy="329184"/>
          </a:xfrm>
          <a:prstGeom prst="ellipse">
            <a:avLst/>
          </a:prstGeom>
          <a:solidFill>
            <a:schemeClr val="accent2"/>
          </a:solidFill>
          <a:ln/>
        </p:spPr>
      </p:sp>
      <p:sp>
        <p:nvSpPr>
          <p:cNvPr id="8" name="Text 6"/>
          <p:cNvSpPr txBox="1"/>
          <p:nvPr/>
        </p:nvSpPr>
        <p:spPr>
          <a:xfrm>
            <a:off x="457200" y="239572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7"/>
          <p:cNvSpPr txBox="1"/>
          <p:nvPr/>
        </p:nvSpPr>
        <p:spPr>
          <a:xfrm>
            <a:off x="914400" y="2340864"/>
            <a:ext cx="2560320" cy="91440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Cites the expert rule</a:t>
            </a:r>
            <a:endParaRPr lang="en-US" sz="1500" dirty="0"/>
          </a:p>
          <a:p>
            <a:pPr indent="0" marL="0">
              <a:spcAft>
                <a:spcPts val="200"/>
              </a:spcAft>
              <a:buNone/>
            </a:pPr>
            <a:r>
              <a:rPr lang="en-US" sz="1300" dirty="0">
                <a:solidFill>
                  <a:schemeClr val="accent6"/>
                </a:solidFill>
              </a:rPr>
              <a:t>Here: imp-200-burr-v1, approved by the expert</a:t>
            </a:r>
            <a:endParaRPr lang="en-US" sz="1500" dirty="0"/>
          </a:p>
        </p:txBody>
      </p:sp>
      <p:sp>
        <p:nvSpPr>
          <p:cNvPr id="10" name="num 3"/>
          <p:cNvSpPr/>
          <p:nvPr/>
        </p:nvSpPr>
        <p:spPr>
          <a:xfrm>
            <a:off x="457200" y="3447288"/>
            <a:ext cx="329184" cy="329184"/>
          </a:xfrm>
          <a:prstGeom prst="ellipse">
            <a:avLst/>
          </a:prstGeom>
          <a:solidFill>
            <a:schemeClr val="accent2"/>
          </a:solidFill>
          <a:ln/>
        </p:spPr>
      </p:sp>
      <p:sp>
        <p:nvSpPr>
          <p:cNvPr id="11" name="Text 9"/>
          <p:cNvSpPr txBox="1"/>
          <p:nvPr/>
        </p:nvSpPr>
        <p:spPr>
          <a:xfrm>
            <a:off x="457200" y="344728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 10"/>
          <p:cNvSpPr txBox="1"/>
          <p:nvPr/>
        </p:nvSpPr>
        <p:spPr>
          <a:xfrm>
            <a:off x="914400" y="3392424"/>
            <a:ext cx="2560320" cy="91440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About 3 s, $0.001</a:t>
            </a:r>
            <a:endParaRPr lang="en-US" sz="1500" dirty="0"/>
          </a:p>
          <a:p>
            <a:pPr indent="0" marL="0">
              <a:spcAft>
                <a:spcPts val="200"/>
              </a:spcAft>
              <a:buNone/>
            </a:pPr>
            <a:r>
              <a:rPr lang="en-US" sz="1300" dirty="0">
                <a:solidFill>
                  <a:schemeClr val="accent6"/>
                </a:solidFill>
              </a:rPr>
              <a:t>Gemini on Vertex AI; ER 2 when its key has credit</a:t>
            </a:r>
            <a:endParaRPr lang="en-US" sz="1500" dirty="0"/>
          </a:p>
        </p:txBody>
      </p:sp>
      <p:sp>
        <p:nvSpPr>
          <p:cNvPr id="13" name="frame gemini"/>
          <p:cNvSpPr/>
          <p:nvPr/>
        </p:nvSpPr>
        <p:spPr>
          <a:xfrm>
            <a:off x="3790080" y="1143000"/>
            <a:ext cx="4718519" cy="3611880"/>
          </a:xfrm>
          <a:prstGeom prst="roundRect">
            <a:avLst>
              <a:gd name="adj" fmla="val 2025"/>
            </a:avLst>
          </a:prstGeom>
          <a:solidFill>
            <a:schemeClr val="bg1"/>
          </a:solidFill>
          <a:ln w="9525">
            <a:solidFill>
              <a:srgbClr val="D5E3F0"/>
            </a:solidFill>
            <a:prstDash val="solid"/>
          </a:ln>
          <a:effectLst>
            <a:outerShdw sx="100000" sy="100000" kx="0" ky="0" algn="bl" rotWithShape="0" blurRad="127000" dist="38100" dir="5400000">
              <a:srgbClr val="0B1A2E">
                <a:alpha val="14000"/>
              </a:srgbClr>
            </a:outerShdw>
          </a:effectLst>
        </p:spPr>
      </p:sp>
      <p:pic>
        <p:nvPicPr>
          <p:cNvPr id="14" name="screenshot gemini" descr="Gemini decision with the defect circled">    </p:cNvPr>
          <p:cNvPicPr>
            <a:picLocks noChangeAspect="1"/>
          </p:cNvPicPr>
          <p:nvPr/>
        </p:nvPicPr>
        <p:blipFill>
          <a:blip r:embed="rId1"/>
          <a:stretch>
            <a:fillRect/>
          </a:stretch>
        </p:blipFill>
        <p:spPr>
          <a:xfrm>
            <a:off x="3854088" y="1207008"/>
            <a:ext cx="4590503" cy="3483864"/>
          </a:xfrm>
          <a:prstGeom prst="rect">
            <a:avLst/>
          </a:prstGeom>
        </p:spPr>
      </p:pic>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5486400" cy="256032"/>
          </a:xfrm>
          <a:prstGeom prst="rect">
            <a:avLst/>
          </a:prstGeom>
          <a:noFill/>
          <a:ln/>
        </p:spPr>
        <p:txBody>
          <a:bodyPr wrap="square" lIns="0" tIns="0" rIns="0" bIns="0" rtlCol="0"/>
          <a:lstStyle/>
          <a:p>
            <a:pPr indent="0" marL="0">
              <a:buNone/>
            </a:pPr>
            <a:r>
              <a:rPr lang="en-US" sz="1100" b="1" spc="300" kern="0" dirty="0">
                <a:solidFill>
                  <a:schemeClr val="accent2"/>
                </a:solidFill>
              </a:rPr>
              <a:t>03 · ACT</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800" b="1" dirty="0">
                <a:solidFill>
                  <a:schemeClr val="tx1"/>
                </a:solidFill>
                <a:latin typeface="+mj-lt" pitchFamily="34" charset="0"/>
                <a:ea typeface="+mj-lt" pitchFamily="34" charset="-122"/>
                <a:cs typeface="+mj-lt" pitchFamily="34" charset="-120"/>
              </a:rPr>
              <a:t>Fix steps in the operator's own language</a:t>
            </a:r>
            <a:endParaRPr lang="en-US" sz="2800" dirty="0"/>
          </a:p>
        </p:txBody>
      </p:sp>
      <p:sp>
        <p:nvSpPr>
          <p:cNvPr id="4" name="num 1"/>
          <p:cNvSpPr/>
          <p:nvPr/>
        </p:nvSpPr>
        <p:spPr>
          <a:xfrm>
            <a:off x="457200" y="1344168"/>
            <a:ext cx="329184" cy="329184"/>
          </a:xfrm>
          <a:prstGeom prst="ellipse">
            <a:avLst/>
          </a:prstGeom>
          <a:solidFill>
            <a:schemeClr val="accent2"/>
          </a:solidFill>
          <a:ln/>
        </p:spPr>
      </p:sp>
      <p:sp>
        <p:nvSpPr>
          <p:cNvPr id="5" name="Text 3"/>
          <p:cNvSpPr txBox="1"/>
          <p:nvPr/>
        </p:nvSpPr>
        <p:spPr>
          <a:xfrm>
            <a:off x="457200" y="134416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914400" y="1289304"/>
            <a:ext cx="2560320" cy="91440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From the expert's rule</a:t>
            </a:r>
            <a:endParaRPr lang="en-US" sz="1500" dirty="0"/>
          </a:p>
          <a:p>
            <a:pPr indent="0" marL="0">
              <a:spcAft>
                <a:spcPts val="200"/>
              </a:spcAft>
              <a:buNone/>
            </a:pPr>
            <a:r>
              <a:rPr lang="en-US" sz="1300" dirty="0">
                <a:solidFill>
                  <a:schemeClr val="accent6"/>
                </a:solidFill>
              </a:rPr>
              <a:t>Steps come from the cited card, not invented</a:t>
            </a:r>
            <a:endParaRPr lang="en-US" sz="1500" dirty="0"/>
          </a:p>
        </p:txBody>
      </p:sp>
      <p:sp>
        <p:nvSpPr>
          <p:cNvPr id="7" name="num 2"/>
          <p:cNvSpPr/>
          <p:nvPr/>
        </p:nvSpPr>
        <p:spPr>
          <a:xfrm>
            <a:off x="457200" y="2395728"/>
            <a:ext cx="329184" cy="329184"/>
          </a:xfrm>
          <a:prstGeom prst="ellipse">
            <a:avLst/>
          </a:prstGeom>
          <a:solidFill>
            <a:schemeClr val="accent2"/>
          </a:solidFill>
          <a:ln/>
        </p:spPr>
      </p:sp>
      <p:sp>
        <p:nvSpPr>
          <p:cNvPr id="8" name="Text 6"/>
          <p:cNvSpPr txBox="1"/>
          <p:nvPr/>
        </p:nvSpPr>
        <p:spPr>
          <a:xfrm>
            <a:off x="457200" y="239572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7"/>
          <p:cNvSpPr txBox="1"/>
          <p:nvPr/>
        </p:nvSpPr>
        <p:spPr>
          <a:xfrm>
            <a:off x="914400" y="2340864"/>
            <a:ext cx="2560320" cy="91440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Four languages</a:t>
            </a:r>
            <a:endParaRPr lang="en-US" sz="1500" dirty="0"/>
          </a:p>
          <a:p>
            <a:pPr indent="0" marL="0">
              <a:spcAft>
                <a:spcPts val="200"/>
              </a:spcAft>
              <a:buNone/>
            </a:pPr>
            <a:r>
              <a:rPr lang="en-US" sz="1300" dirty="0">
                <a:solidFill>
                  <a:schemeClr val="accent6"/>
                </a:solidFill>
              </a:rPr>
              <a:t>English, Bahasa Indonesia, Thai, Vietnamese</a:t>
            </a:r>
            <a:endParaRPr lang="en-US" sz="1500" dirty="0"/>
          </a:p>
        </p:txBody>
      </p:sp>
      <p:sp>
        <p:nvSpPr>
          <p:cNvPr id="10" name="num 3"/>
          <p:cNvSpPr/>
          <p:nvPr/>
        </p:nvSpPr>
        <p:spPr>
          <a:xfrm>
            <a:off x="457200" y="3447288"/>
            <a:ext cx="329184" cy="329184"/>
          </a:xfrm>
          <a:prstGeom prst="ellipse">
            <a:avLst/>
          </a:prstGeom>
          <a:solidFill>
            <a:schemeClr val="accent2"/>
          </a:solidFill>
          <a:ln/>
        </p:spPr>
      </p:sp>
      <p:sp>
        <p:nvSpPr>
          <p:cNvPr id="11" name="Text 9"/>
          <p:cNvSpPr txBox="1"/>
          <p:nvPr/>
        </p:nvSpPr>
        <p:spPr>
          <a:xfrm>
            <a:off x="457200" y="344728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 10"/>
          <p:cNvSpPr txBox="1"/>
          <p:nvPr/>
        </p:nvSpPr>
        <p:spPr>
          <a:xfrm>
            <a:off x="914400" y="3392424"/>
            <a:ext cx="2560320" cy="91440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Scrap needs a person</a:t>
            </a:r>
            <a:endParaRPr lang="en-US" sz="1500" dirty="0"/>
          </a:p>
          <a:p>
            <a:pPr indent="0" marL="0">
              <a:spcAft>
                <a:spcPts val="200"/>
              </a:spcAft>
              <a:buNone/>
            </a:pPr>
            <a:r>
              <a:rPr lang="en-US" sz="1300" dirty="0">
                <a:solidFill>
                  <a:schemeClr val="accent6"/>
                </a:solidFill>
              </a:rPr>
              <a:t>A second tap, and it waits in the confirm queue</a:t>
            </a:r>
            <a:endParaRPr lang="en-US" sz="1500" dirty="0"/>
          </a:p>
        </p:txBody>
      </p:sp>
      <p:sp>
        <p:nvSpPr>
          <p:cNvPr id="13" name="frame rework"/>
          <p:cNvSpPr/>
          <p:nvPr/>
        </p:nvSpPr>
        <p:spPr>
          <a:xfrm>
            <a:off x="3611880" y="1162349"/>
            <a:ext cx="5074920" cy="3573181"/>
          </a:xfrm>
          <a:prstGeom prst="roundRect">
            <a:avLst>
              <a:gd name="adj" fmla="val 2047"/>
            </a:avLst>
          </a:prstGeom>
          <a:solidFill>
            <a:schemeClr val="bg1"/>
          </a:solidFill>
          <a:ln w="9525">
            <a:solidFill>
              <a:srgbClr val="D5E3F0"/>
            </a:solidFill>
            <a:prstDash val="solid"/>
          </a:ln>
          <a:effectLst>
            <a:outerShdw sx="100000" sy="100000" kx="0" ky="0" algn="bl" rotWithShape="0" blurRad="127000" dist="38100" dir="5400000">
              <a:srgbClr val="0B1A2E">
                <a:alpha val="14000"/>
              </a:srgbClr>
            </a:outerShdw>
          </a:effectLst>
        </p:spPr>
      </p:sp>
      <p:pic>
        <p:nvPicPr>
          <p:cNvPr id="14" name="screenshot rework" descr="Rework steps in Bahasa Indonesia with tick boxes">    </p:cNvPr>
          <p:cNvPicPr>
            <a:picLocks noChangeAspect="1"/>
          </p:cNvPicPr>
          <p:nvPr/>
        </p:nvPicPr>
        <p:blipFill>
          <a:blip r:embed="rId1"/>
          <a:stretch>
            <a:fillRect/>
          </a:stretch>
        </p:blipFill>
        <p:spPr>
          <a:xfrm>
            <a:off x="3675888" y="1226357"/>
            <a:ext cx="4946904" cy="3445165"/>
          </a:xfrm>
          <a:prstGeom prst="rect">
            <a:avLst/>
          </a:prstGeom>
        </p:spPr>
      </p:pic>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5486400" cy="256032"/>
          </a:xfrm>
          <a:prstGeom prst="rect">
            <a:avLst/>
          </a:prstGeom>
          <a:noFill/>
          <a:ln/>
        </p:spPr>
        <p:txBody>
          <a:bodyPr wrap="square" lIns="0" tIns="0" rIns="0" bIns="0" rtlCol="0"/>
          <a:lstStyle/>
          <a:p>
            <a:pPr indent="0" marL="0">
              <a:buNone/>
            </a:pPr>
            <a:r>
              <a:rPr lang="en-US" sz="1100" b="1" spc="300" kern="0" dirty="0">
                <a:solidFill>
                  <a:schemeClr val="accent2"/>
                </a:solidFill>
              </a:rPr>
              <a:t>03 · ACT</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800" b="1" dirty="0">
                <a:solidFill>
                  <a:schemeClr val="tx1"/>
                </a:solidFill>
                <a:latin typeface="+mj-lt" pitchFamily="34" charset="0"/>
                <a:ea typeface="+mj-lt" pitchFamily="34" charset="-122"/>
                <a:cs typeface="+mj-lt" pitchFamily="34" charset="-120"/>
              </a:rPr>
              <a:t>Or the same decision drives a robot arm</a:t>
            </a:r>
            <a:endParaRPr lang="en-US" sz="2800" dirty="0"/>
          </a:p>
        </p:txBody>
      </p:sp>
      <p:sp>
        <p:nvSpPr>
          <p:cNvPr id="4" name="frame robot"/>
          <p:cNvSpPr/>
          <p:nvPr/>
        </p:nvSpPr>
        <p:spPr>
          <a:xfrm>
            <a:off x="1446482" y="1188720"/>
            <a:ext cx="6251036" cy="3108960"/>
          </a:xfrm>
          <a:prstGeom prst="roundRect">
            <a:avLst>
              <a:gd name="adj" fmla="val 2353"/>
            </a:avLst>
          </a:prstGeom>
          <a:solidFill>
            <a:schemeClr val="bg1"/>
          </a:solidFill>
          <a:ln w="9525">
            <a:solidFill>
              <a:srgbClr val="D5E3F0"/>
            </a:solidFill>
            <a:prstDash val="solid"/>
          </a:ln>
          <a:effectLst>
            <a:outerShdw sx="100000" sy="100000" kx="0" ky="0" algn="bl" rotWithShape="0" blurRad="127000" dist="38100" dir="5400000">
              <a:srgbClr val="0B1A2E">
                <a:alpha val="14000"/>
              </a:srgbClr>
            </a:outerShdw>
          </a:effectLst>
        </p:spPr>
      </p:sp>
      <p:pic>
        <p:nvPicPr>
          <p:cNvPr id="5" name="screenshot robot" descr="3D replay of the simulated SO-101 robot cell">    </p:cNvPr>
          <p:cNvPicPr>
            <a:picLocks noChangeAspect="1"/>
          </p:cNvPicPr>
          <p:nvPr/>
        </p:nvPicPr>
        <p:blipFill>
          <a:blip r:embed="rId1"/>
          <a:stretch>
            <a:fillRect/>
          </a:stretch>
        </p:blipFill>
        <p:spPr>
          <a:xfrm>
            <a:off x="1510490" y="1252728"/>
            <a:ext cx="6123020" cy="2980944"/>
          </a:xfrm>
          <a:prstGeom prst="rect">
            <a:avLst/>
          </a:prstGeom>
        </p:spPr>
      </p:pic>
      <p:sp>
        <p:nvSpPr>
          <p:cNvPr id="6" name="Text 3"/>
          <p:cNvSpPr txBox="1"/>
          <p:nvPr/>
        </p:nvSpPr>
        <p:spPr>
          <a:xfrm>
            <a:off x="457200" y="4370832"/>
            <a:ext cx="8229600" cy="365760"/>
          </a:xfrm>
          <a:prstGeom prst="rect">
            <a:avLst/>
          </a:prstGeom>
          <a:noFill/>
          <a:ln/>
        </p:spPr>
        <p:txBody>
          <a:bodyPr wrap="square" lIns="0" tIns="0" rIns="0" bIns="0" rtlCol="0" anchor="ctr"/>
          <a:lstStyle/>
          <a:p>
            <a:pPr indent="0" marL="0">
              <a:buNone/>
            </a:pPr>
            <a:r>
              <a:rPr lang="en-US" sz="1400" dirty="0">
                <a:solidFill>
                  <a:schemeClr val="tx1"/>
                </a:solidFill>
              </a:rPr>
              <a:t>Simulated SO-101: Gemini plans each move, a safety gate checks it, doubts go to HOLD.</a:t>
            </a:r>
            <a:endParaRPr lang="en-US" sz="14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5486400" cy="256032"/>
          </a:xfrm>
          <a:prstGeom prst="rect">
            <a:avLst/>
          </a:prstGeom>
          <a:noFill/>
          <a:ln/>
        </p:spPr>
        <p:txBody>
          <a:bodyPr wrap="square" lIns="0" tIns="0" rIns="0" bIns="0" rtlCol="0"/>
          <a:lstStyle/>
          <a:p>
            <a:pPr indent="0" marL="0">
              <a:buNone/>
            </a:pPr>
            <a:r>
              <a:rPr lang="en-US" sz="1100" b="1" spc="300" kern="0" dirty="0">
                <a:solidFill>
                  <a:schemeClr val="accent2"/>
                </a:solidFill>
              </a:rPr>
              <a:t>04 · LEARN</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800" b="1" dirty="0">
                <a:solidFill>
                  <a:schemeClr val="tx1"/>
                </a:solidFill>
                <a:latin typeface="+mj-lt" pitchFamily="34" charset="0"/>
                <a:ea typeface="+mj-lt" pitchFamily="34" charset="-122"/>
                <a:cs typeface="+mj-lt" pitchFamily="34" charset="-120"/>
              </a:rPr>
              <a:t>A p-chart in BigQuery flags the spike</a:t>
            </a:r>
            <a:endParaRPr lang="en-US" sz="2800" dirty="0"/>
          </a:p>
        </p:txBody>
      </p:sp>
      <p:sp>
        <p:nvSpPr>
          <p:cNvPr id="4" name="frame spc"/>
          <p:cNvSpPr/>
          <p:nvPr/>
        </p:nvSpPr>
        <p:spPr>
          <a:xfrm>
            <a:off x="457200" y="1393506"/>
            <a:ext cx="8229600" cy="2699388"/>
          </a:xfrm>
          <a:prstGeom prst="roundRect">
            <a:avLst>
              <a:gd name="adj" fmla="val 2710"/>
            </a:avLst>
          </a:prstGeom>
          <a:solidFill>
            <a:schemeClr val="bg1"/>
          </a:solidFill>
          <a:ln w="9525">
            <a:solidFill>
              <a:srgbClr val="D5E3F0"/>
            </a:solidFill>
            <a:prstDash val="solid"/>
          </a:ln>
          <a:effectLst>
            <a:outerShdw sx="100000" sy="100000" kx="0" ky="0" algn="bl" rotWithShape="0" blurRad="127000" dist="38100" dir="5400000">
              <a:srgbClr val="0B1A2E">
                <a:alpha val="14000"/>
              </a:srgbClr>
            </a:outerShdw>
          </a:effectLst>
        </p:spPr>
      </p:sp>
      <p:pic>
        <p:nvPicPr>
          <p:cNvPr id="5" name="screenshot spc" descr="Defect rate per shift p-chart with an out-of-control spike">    </p:cNvPr>
          <p:cNvPicPr>
            <a:picLocks noChangeAspect="1"/>
          </p:cNvPicPr>
          <p:nvPr/>
        </p:nvPicPr>
        <p:blipFill>
          <a:blip r:embed="rId1"/>
          <a:stretch>
            <a:fillRect/>
          </a:stretch>
        </p:blipFill>
        <p:spPr>
          <a:xfrm>
            <a:off x="521208" y="1457514"/>
            <a:ext cx="8101584" cy="2571372"/>
          </a:xfrm>
          <a:prstGeom prst="rect">
            <a:avLst/>
          </a:prstGeom>
        </p:spPr>
      </p:pic>
      <p:sp>
        <p:nvSpPr>
          <p:cNvPr id="6" name="Text 3"/>
          <p:cNvSpPr txBox="1"/>
          <p:nvPr/>
        </p:nvSpPr>
        <p:spPr>
          <a:xfrm>
            <a:off x="457200" y="4370832"/>
            <a:ext cx="8229600" cy="365760"/>
          </a:xfrm>
          <a:prstGeom prst="rect">
            <a:avLst/>
          </a:prstGeom>
          <a:noFill/>
          <a:ln/>
        </p:spPr>
        <p:txBody>
          <a:bodyPr wrap="square" lIns="0" tIns="0" rIns="0" bIns="0" rtlCol="0" anchor="ctr"/>
          <a:lstStyle/>
          <a:p>
            <a:pPr indent="0" marL="0">
              <a:buNone/>
            </a:pPr>
            <a:r>
              <a:rPr lang="en-US" sz="1400" dirty="0">
                <a:solidFill>
                  <a:schemeClr val="tx1"/>
                </a:solidFill>
              </a:rPr>
              <a:t>Plain 3σ statistics, no AI. Process history in the demo is synthetic, with one cause planted on purpose.</a:t>
            </a:r>
            <a:endParaRPr lang="en-US" sz="14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5486400" cy="256032"/>
          </a:xfrm>
          <a:prstGeom prst="rect">
            <a:avLst/>
          </a:prstGeom>
          <a:noFill/>
          <a:ln/>
        </p:spPr>
        <p:txBody>
          <a:bodyPr wrap="square" lIns="0" tIns="0" rIns="0" bIns="0" rtlCol="0"/>
          <a:lstStyle/>
          <a:p>
            <a:pPr indent="0" marL="0">
              <a:buNone/>
            </a:pPr>
            <a:r>
              <a:rPr lang="en-US" sz="1100" b="1" spc="300" kern="0" dirty="0">
                <a:solidFill>
                  <a:schemeClr val="accent2"/>
                </a:solidFill>
              </a:rPr>
              <a:t>04 · LEARN</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800" b="1" dirty="0">
                <a:solidFill>
                  <a:schemeClr val="tx1"/>
                </a:solidFill>
                <a:latin typeface="+mj-lt" pitchFamily="34" charset="0"/>
                <a:ea typeface="+mj-lt" pitchFamily="34" charset="-122"/>
                <a:cs typeface="+mj-lt" pitchFamily="34" charset="-120"/>
              </a:rPr>
              <a:t>An ADK agent finds the root cause in 30 s</a:t>
            </a:r>
            <a:endParaRPr lang="en-US" sz="2800" dirty="0"/>
          </a:p>
        </p:txBody>
      </p:sp>
      <p:sp>
        <p:nvSpPr>
          <p:cNvPr id="4" name="frame rca"/>
          <p:cNvSpPr/>
          <p:nvPr/>
        </p:nvSpPr>
        <p:spPr>
          <a:xfrm>
            <a:off x="1651254" y="1188720"/>
            <a:ext cx="5841492" cy="3108960"/>
          </a:xfrm>
          <a:prstGeom prst="roundRect">
            <a:avLst>
              <a:gd name="adj" fmla="val 2353"/>
            </a:avLst>
          </a:prstGeom>
          <a:solidFill>
            <a:schemeClr val="bg1"/>
          </a:solidFill>
          <a:ln w="9525">
            <a:solidFill>
              <a:srgbClr val="D5E3F0"/>
            </a:solidFill>
            <a:prstDash val="solid"/>
          </a:ln>
          <a:effectLst>
            <a:outerShdw sx="100000" sy="100000" kx="0" ky="0" algn="bl" rotWithShape="0" blurRad="127000" dist="38100" dir="5400000">
              <a:srgbClr val="0B1A2E">
                <a:alpha val="14000"/>
              </a:srgbClr>
            </a:outerShdw>
          </a:effectLst>
        </p:spPr>
      </p:sp>
      <p:pic>
        <p:nvPicPr>
          <p:cNvPr id="5" name="screenshot rca" descr="Root-cause hypotheses ranked by the ADK agent">    </p:cNvPr>
          <p:cNvPicPr>
            <a:picLocks noChangeAspect="1"/>
          </p:cNvPicPr>
          <p:nvPr/>
        </p:nvPicPr>
        <p:blipFill>
          <a:blip r:embed="rId1"/>
          <a:stretch>
            <a:fillRect/>
          </a:stretch>
        </p:blipFill>
        <p:spPr>
          <a:xfrm>
            <a:off x="1715262" y="1252728"/>
            <a:ext cx="5713476" cy="2980944"/>
          </a:xfrm>
          <a:prstGeom prst="rect">
            <a:avLst/>
          </a:prstGeom>
        </p:spPr>
      </p:pic>
      <p:sp>
        <p:nvSpPr>
          <p:cNvPr id="6" name="Text 3"/>
          <p:cNvSpPr txBox="1"/>
          <p:nvPr/>
        </p:nvSpPr>
        <p:spPr>
          <a:xfrm>
            <a:off x="457200" y="4370832"/>
            <a:ext cx="8229600" cy="365760"/>
          </a:xfrm>
          <a:prstGeom prst="rect">
            <a:avLst/>
          </a:prstGeom>
          <a:noFill/>
          <a:ln/>
        </p:spPr>
        <p:txBody>
          <a:bodyPr wrap="square" lIns="0" tIns="0" rIns="0" bIns="0" rtlCol="0" anchor="ctr"/>
          <a:lstStyle/>
          <a:p>
            <a:pPr indent="0" marL="0">
              <a:buNone/>
            </a:pPr>
            <a:r>
              <a:rPr lang="en-US" sz="1400" dirty="0">
                <a:solidFill>
                  <a:schemeClr val="tx1"/>
                </a:solidFill>
              </a:rPr>
              <a:t>Read-only SQL templates only. Named mould MD-04 + lot LOT-2409C, the planted cause, for under 3 cents.</a:t>
            </a:r>
            <a:endParaRPr lang="en-US" sz="14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5486400" cy="256032"/>
          </a:xfrm>
          <a:prstGeom prst="rect">
            <a:avLst/>
          </a:prstGeom>
          <a:noFill/>
          <a:ln/>
        </p:spPr>
        <p:txBody>
          <a:bodyPr wrap="square" lIns="0" tIns="0" rIns="0" bIns="0" rtlCol="0"/>
          <a:lstStyle/>
          <a:p>
            <a:pPr indent="0" marL="0">
              <a:buNone/>
            </a:pPr>
            <a:r>
              <a:rPr lang="en-US" sz="1100" b="1" spc="300" kern="0" dirty="0">
                <a:solidFill>
                  <a:schemeClr val="accent2"/>
                </a:solidFill>
              </a:rPr>
              <a:t>04 · LEARN</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800" b="1" dirty="0">
                <a:solidFill>
                  <a:schemeClr val="tx1"/>
                </a:solidFill>
                <a:latin typeface="+mj-lt" pitchFamily="34" charset="0"/>
                <a:ea typeface="+mj-lt" pitchFamily="34" charset="-122"/>
                <a:cs typeface="+mj-lt" pitchFamily="34" charset="-120"/>
              </a:rPr>
              <a:t>The 8D draft is ready for the engineer</a:t>
            </a:r>
            <a:endParaRPr lang="en-US" sz="2800" dirty="0"/>
          </a:p>
        </p:txBody>
      </p:sp>
      <p:sp>
        <p:nvSpPr>
          <p:cNvPr id="4" name="num 1"/>
          <p:cNvSpPr/>
          <p:nvPr/>
        </p:nvSpPr>
        <p:spPr>
          <a:xfrm>
            <a:off x="457200" y="1344168"/>
            <a:ext cx="329184" cy="329184"/>
          </a:xfrm>
          <a:prstGeom prst="ellipse">
            <a:avLst/>
          </a:prstGeom>
          <a:solidFill>
            <a:schemeClr val="accent2"/>
          </a:solidFill>
          <a:ln/>
        </p:spPr>
      </p:sp>
      <p:sp>
        <p:nvSpPr>
          <p:cNvPr id="5" name="Text 3"/>
          <p:cNvSpPr txBox="1"/>
          <p:nvPr/>
        </p:nvSpPr>
        <p:spPr>
          <a:xfrm>
            <a:off x="457200" y="134416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914400" y="1289304"/>
            <a:ext cx="2560320" cy="91440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D1 to D8 pre-filled</a:t>
            </a:r>
            <a:endParaRPr lang="en-US" sz="1500" dirty="0"/>
          </a:p>
          <a:p>
            <a:pPr indent="0" marL="0">
              <a:spcAft>
                <a:spcPts val="200"/>
              </a:spcAft>
              <a:buNone/>
            </a:pPr>
            <a:r>
              <a:rPr lang="en-US" sz="1300" dirty="0">
                <a:solidFill>
                  <a:schemeClr val="accent6"/>
                </a:solidFill>
              </a:rPr>
              <a:t>From the agent's evidence and the expert's rules</a:t>
            </a:r>
            <a:endParaRPr lang="en-US" sz="1500" dirty="0"/>
          </a:p>
        </p:txBody>
      </p:sp>
      <p:sp>
        <p:nvSpPr>
          <p:cNvPr id="7" name="num 2"/>
          <p:cNvSpPr/>
          <p:nvPr/>
        </p:nvSpPr>
        <p:spPr>
          <a:xfrm>
            <a:off x="457200" y="2395728"/>
            <a:ext cx="329184" cy="329184"/>
          </a:xfrm>
          <a:prstGeom prst="ellipse">
            <a:avLst/>
          </a:prstGeom>
          <a:solidFill>
            <a:schemeClr val="accent2"/>
          </a:solidFill>
          <a:ln/>
        </p:spPr>
      </p:sp>
      <p:sp>
        <p:nvSpPr>
          <p:cNvPr id="8" name="Text 6"/>
          <p:cNvSpPr txBox="1"/>
          <p:nvPr/>
        </p:nvSpPr>
        <p:spPr>
          <a:xfrm>
            <a:off x="457200" y="239572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7"/>
          <p:cNvSpPr txBox="1"/>
          <p:nvPr/>
        </p:nvSpPr>
        <p:spPr>
          <a:xfrm>
            <a:off x="914400" y="2340864"/>
            <a:ext cx="2560320" cy="91440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The engineer owns it</a:t>
            </a:r>
            <a:endParaRPr lang="en-US" sz="1500" dirty="0"/>
          </a:p>
          <a:p>
            <a:pPr indent="0" marL="0">
              <a:spcAft>
                <a:spcPts val="200"/>
              </a:spcAft>
              <a:buNone/>
            </a:pPr>
            <a:r>
              <a:rPr lang="en-US" sz="1300" dirty="0">
                <a:solidFill>
                  <a:schemeClr val="accent6"/>
                </a:solidFill>
              </a:rPr>
              <a:t>Edit, approve, keep the audit trail</a:t>
            </a:r>
            <a:endParaRPr lang="en-US" sz="1500" dirty="0"/>
          </a:p>
        </p:txBody>
      </p:sp>
      <p:sp>
        <p:nvSpPr>
          <p:cNvPr id="10" name="num 3"/>
          <p:cNvSpPr/>
          <p:nvPr/>
        </p:nvSpPr>
        <p:spPr>
          <a:xfrm>
            <a:off x="457200" y="3447288"/>
            <a:ext cx="329184" cy="329184"/>
          </a:xfrm>
          <a:prstGeom prst="ellipse">
            <a:avLst/>
          </a:prstGeom>
          <a:solidFill>
            <a:schemeClr val="accent2"/>
          </a:solidFill>
          <a:ln/>
        </p:spPr>
      </p:sp>
      <p:sp>
        <p:nvSpPr>
          <p:cNvPr id="11" name="Text 9"/>
          <p:cNvSpPr txBox="1"/>
          <p:nvPr/>
        </p:nvSpPr>
        <p:spPr>
          <a:xfrm>
            <a:off x="457200" y="344728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 10"/>
          <p:cNvSpPr txBox="1"/>
          <p:nvPr/>
        </p:nvSpPr>
        <p:spPr>
          <a:xfrm>
            <a:off x="914400" y="3392424"/>
            <a:ext cx="2560320" cy="91440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Google Docs or Word</a:t>
            </a:r>
            <a:endParaRPr lang="en-US" sz="1500" dirty="0"/>
          </a:p>
          <a:p>
            <a:pPr indent="0" marL="0">
              <a:spcAft>
                <a:spcPts val="200"/>
              </a:spcAft>
              <a:buNone/>
            </a:pPr>
            <a:r>
              <a:rPr lang="en-US" sz="1300" dirty="0">
                <a:solidFill>
                  <a:schemeClr val="accent6"/>
                </a:solidFill>
              </a:rPr>
              <a:t>One-click .docx export for the customer</a:t>
            </a:r>
            <a:endParaRPr lang="en-US" sz="1500" dirty="0"/>
          </a:p>
        </p:txBody>
      </p:sp>
      <p:sp>
        <p:nvSpPr>
          <p:cNvPr id="13" name="frame report"/>
          <p:cNvSpPr/>
          <p:nvPr/>
        </p:nvSpPr>
        <p:spPr>
          <a:xfrm>
            <a:off x="4046693" y="1097280"/>
            <a:ext cx="4205294" cy="3657600"/>
          </a:xfrm>
          <a:prstGeom prst="roundRect">
            <a:avLst>
              <a:gd name="adj" fmla="val 2000"/>
            </a:avLst>
          </a:prstGeom>
          <a:solidFill>
            <a:schemeClr val="bg1"/>
          </a:solidFill>
          <a:ln w="9525">
            <a:solidFill>
              <a:srgbClr val="D5E3F0"/>
            </a:solidFill>
            <a:prstDash val="solid"/>
          </a:ln>
          <a:effectLst>
            <a:outerShdw sx="100000" sy="100000" kx="0" ky="0" algn="bl" rotWithShape="0" blurRad="127000" dist="38100" dir="5400000">
              <a:srgbClr val="0B1A2E">
                <a:alpha val="14000"/>
              </a:srgbClr>
            </a:outerShdw>
          </a:effectLst>
        </p:spPr>
      </p:sp>
      <p:pic>
        <p:nvPicPr>
          <p:cNvPr id="14" name="screenshot report" descr="8D report editor drafted by the agent">    </p:cNvPr>
          <p:cNvPicPr>
            <a:picLocks noChangeAspect="1"/>
          </p:cNvPicPr>
          <p:nvPr/>
        </p:nvPicPr>
        <p:blipFill>
          <a:blip r:embed="rId1"/>
          <a:stretch>
            <a:fillRect/>
          </a:stretch>
        </p:blipFill>
        <p:spPr>
          <a:xfrm>
            <a:off x="4110701" y="1161288"/>
            <a:ext cx="4077278" cy="3529584"/>
          </a:xfrm>
          <a:prstGeom prst="rect">
            <a:avLst/>
          </a:prstGeom>
        </p:spPr>
      </p:pic>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5486400" cy="256032"/>
          </a:xfrm>
          <a:prstGeom prst="rect">
            <a:avLst/>
          </a:prstGeom>
          <a:noFill/>
          <a:ln/>
        </p:spPr>
        <p:txBody>
          <a:bodyPr wrap="square" lIns="0" tIns="0" rIns="0" bIns="0" rtlCol="0"/>
          <a:lstStyle/>
          <a:p>
            <a:pPr indent="0" marL="0">
              <a:buNone/>
            </a:pPr>
            <a:r>
              <a:rPr lang="en-US" sz="1100" b="1" spc="300" kern="0" dirty="0">
                <a:solidFill>
                  <a:schemeClr val="accent2"/>
                </a:solidFill>
              </a:rPr>
              <a:t>ASK SENPAIQC</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800" b="1" dirty="0">
                <a:solidFill>
                  <a:schemeClr val="tx1"/>
                </a:solidFill>
                <a:latin typeface="+mj-lt" pitchFamily="34" charset="0"/>
                <a:ea typeface="+mj-lt" pitchFamily="34" charset="-122"/>
                <a:cs typeface="+mj-lt" pitchFamily="34" charset="-120"/>
              </a:rPr>
              <a:t>Answers only from the plant's own records</a:t>
            </a:r>
            <a:endParaRPr lang="en-US" sz="2800" dirty="0"/>
          </a:p>
        </p:txBody>
      </p:sp>
      <p:sp>
        <p:nvSpPr>
          <p:cNvPr id="4" name="frame ask"/>
          <p:cNvSpPr/>
          <p:nvPr/>
        </p:nvSpPr>
        <p:spPr>
          <a:xfrm>
            <a:off x="781812" y="1188720"/>
            <a:ext cx="7580376" cy="3108960"/>
          </a:xfrm>
          <a:prstGeom prst="roundRect">
            <a:avLst>
              <a:gd name="adj" fmla="val 2353"/>
            </a:avLst>
          </a:prstGeom>
          <a:solidFill>
            <a:schemeClr val="bg1"/>
          </a:solidFill>
          <a:ln w="9525">
            <a:solidFill>
              <a:srgbClr val="D5E3F0"/>
            </a:solidFill>
            <a:prstDash val="solid"/>
          </a:ln>
          <a:effectLst>
            <a:outerShdw sx="100000" sy="100000" kx="0" ky="0" algn="bl" rotWithShape="0" blurRad="127000" dist="38100" dir="5400000">
              <a:srgbClr val="0B1A2E">
                <a:alpha val="14000"/>
              </a:srgbClr>
            </a:outerShdw>
          </a:effectLst>
        </p:spPr>
      </p:sp>
      <p:pic>
        <p:nvPicPr>
          <p:cNvPr id="5" name="screenshot ask" descr="Ask SenpaiQC answering in Bahasa Indonesia with a cited rule">    </p:cNvPr>
          <p:cNvPicPr>
            <a:picLocks noChangeAspect="1"/>
          </p:cNvPicPr>
          <p:nvPr/>
        </p:nvPicPr>
        <p:blipFill>
          <a:blip r:embed="rId1"/>
          <a:stretch>
            <a:fillRect/>
          </a:stretch>
        </p:blipFill>
        <p:spPr>
          <a:xfrm>
            <a:off x="845820" y="1252728"/>
            <a:ext cx="7452360" cy="2980944"/>
          </a:xfrm>
          <a:prstGeom prst="rect">
            <a:avLst/>
          </a:prstGeom>
        </p:spPr>
      </p:pic>
      <p:sp>
        <p:nvSpPr>
          <p:cNvPr id="6" name="Text 3"/>
          <p:cNvSpPr txBox="1"/>
          <p:nvPr/>
        </p:nvSpPr>
        <p:spPr>
          <a:xfrm>
            <a:off x="457200" y="4370832"/>
            <a:ext cx="8229600" cy="365760"/>
          </a:xfrm>
          <a:prstGeom prst="rect">
            <a:avLst/>
          </a:prstGeom>
          <a:noFill/>
          <a:ln/>
        </p:spPr>
        <p:txBody>
          <a:bodyPr wrap="square" lIns="0" tIns="0" rIns="0" bIns="0" rtlCol="0" anchor="ctr"/>
          <a:lstStyle/>
          <a:p>
            <a:pPr indent="0" marL="0">
              <a:buNone/>
            </a:pPr>
            <a:r>
              <a:rPr lang="en-US" sz="1400" dirty="0">
                <a:solidFill>
                  <a:schemeClr val="tx1"/>
                </a:solidFill>
              </a:rPr>
              <a:t>Asked in Bahasa Indonesia, answered in 1.5 s with the source cited. No source, no answer.</a:t>
            </a:r>
            <a:endParaRPr lang="en-US" sz="14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5486400" cy="256032"/>
          </a:xfrm>
          <a:prstGeom prst="rect">
            <a:avLst/>
          </a:prstGeom>
          <a:noFill/>
          <a:ln/>
        </p:spPr>
        <p:txBody>
          <a:bodyPr wrap="square" lIns="0" tIns="0" rIns="0" bIns="0" rtlCol="0"/>
          <a:lstStyle/>
          <a:p>
            <a:pPr indent="0" marL="0">
              <a:buNone/>
            </a:pPr>
            <a:r>
              <a:rPr lang="en-US" sz="1100" b="1" spc="300" kern="0" dirty="0">
                <a:solidFill>
                  <a:schemeClr val="accent2"/>
                </a:solidFill>
              </a:rPr>
              <a:t>ON THE LINE</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800" b="1" dirty="0">
                <a:solidFill>
                  <a:schemeClr val="tx1"/>
                </a:solidFill>
                <a:latin typeface="+mj-lt" pitchFamily="34" charset="0"/>
                <a:ea typeface="+mj-lt" pitchFamily="34" charset="-122"/>
                <a:cs typeface="+mj-lt" pitchFamily="34" charset="-120"/>
              </a:rPr>
              <a:t>A phone at the line, a laptop in the QC office</a:t>
            </a:r>
            <a:endParaRPr lang="en-US" sz="2800" dirty="0"/>
          </a:p>
        </p:txBody>
      </p:sp>
      <p:sp>
        <p:nvSpPr>
          <p:cNvPr id="4" name="phone 1"/>
          <p:cNvSpPr/>
          <p:nvPr/>
        </p:nvSpPr>
        <p:spPr>
          <a:xfrm>
            <a:off x="4489704" y="1106424"/>
            <a:ext cx="1791336" cy="3685032"/>
          </a:xfrm>
          <a:prstGeom prst="roundRect">
            <a:avLst>
              <a:gd name="adj" fmla="val 11230"/>
            </a:avLst>
          </a:prstGeom>
          <a:solidFill>
            <a:schemeClr val="tx2"/>
          </a:solidFill>
          <a:ln/>
          <a:effectLst>
            <a:outerShdw sx="100000" sy="100000" kx="0" ky="0" algn="bl" rotWithShape="0" blurRad="127000" dist="38100" dir="5400000">
              <a:srgbClr val="0B1A2E">
                <a:alpha val="20000"/>
              </a:srgbClr>
            </a:outerShdw>
          </a:effectLst>
        </p:spPr>
      </p:sp>
      <p:pic>
        <p:nvPicPr>
          <p:cNvPr id="5" name="phone screen 1" descr="Overview on a phone">    </p:cNvPr>
          <p:cNvPicPr>
            <a:picLocks noChangeAspect="1"/>
          </p:cNvPicPr>
          <p:nvPr/>
        </p:nvPicPr>
        <p:blipFill>
          <a:blip r:embed="rId1"/>
          <a:stretch>
            <a:fillRect/>
          </a:stretch>
        </p:blipFill>
        <p:spPr>
          <a:xfrm>
            <a:off x="4572000" y="1188720"/>
            <a:ext cx="1626744" cy="3520440"/>
          </a:xfrm>
          <a:prstGeom prst="rect">
            <a:avLst/>
          </a:prstGeom>
        </p:spPr>
      </p:pic>
      <p:sp>
        <p:nvSpPr>
          <p:cNvPr id="6" name="phone 2"/>
          <p:cNvSpPr/>
          <p:nvPr/>
        </p:nvSpPr>
        <p:spPr>
          <a:xfrm>
            <a:off x="6527928" y="1106424"/>
            <a:ext cx="1791336" cy="3685032"/>
          </a:xfrm>
          <a:prstGeom prst="roundRect">
            <a:avLst>
              <a:gd name="adj" fmla="val 11230"/>
            </a:avLst>
          </a:prstGeom>
          <a:solidFill>
            <a:schemeClr val="tx2"/>
          </a:solidFill>
          <a:ln/>
          <a:effectLst>
            <a:outerShdw sx="100000" sy="100000" kx="0" ky="0" algn="bl" rotWithShape="0" blurRad="127000" dist="38100" dir="5400000">
              <a:srgbClr val="0B1A2E">
                <a:alpha val="20000"/>
              </a:srgbClr>
            </a:outerShdw>
          </a:effectLst>
        </p:spPr>
      </p:sp>
      <p:pic>
        <p:nvPicPr>
          <p:cNvPr id="7" name="phone screen 2" descr="Inspect result on a phone">    </p:cNvPr>
          <p:cNvPicPr>
            <a:picLocks noChangeAspect="1"/>
          </p:cNvPicPr>
          <p:nvPr/>
        </p:nvPicPr>
        <p:blipFill>
          <a:blip r:embed="rId2"/>
          <a:stretch>
            <a:fillRect/>
          </a:stretch>
        </p:blipFill>
        <p:spPr>
          <a:xfrm>
            <a:off x="6610224" y="1188720"/>
            <a:ext cx="1626744" cy="3520440"/>
          </a:xfrm>
          <a:prstGeom prst="rect">
            <a:avLst/>
          </a:prstGeom>
        </p:spPr>
      </p:pic>
      <p:sp>
        <p:nvSpPr>
          <p:cNvPr id="8" name="num 1"/>
          <p:cNvSpPr/>
          <p:nvPr/>
        </p:nvSpPr>
        <p:spPr>
          <a:xfrm>
            <a:off x="457200" y="1344168"/>
            <a:ext cx="329184" cy="329184"/>
          </a:xfrm>
          <a:prstGeom prst="ellipse">
            <a:avLst/>
          </a:prstGeom>
          <a:solidFill>
            <a:schemeClr val="accent2"/>
          </a:solidFill>
          <a:ln/>
        </p:spPr>
      </p:sp>
      <p:sp>
        <p:nvSpPr>
          <p:cNvPr id="9" name="Text 5"/>
          <p:cNvSpPr txBox="1"/>
          <p:nvPr/>
        </p:nvSpPr>
        <p:spPr>
          <a:xfrm>
            <a:off x="457200" y="134416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0" name="Text 6"/>
          <p:cNvSpPr txBox="1"/>
          <p:nvPr/>
        </p:nvSpPr>
        <p:spPr>
          <a:xfrm>
            <a:off x="914400" y="1289304"/>
            <a:ext cx="3291840" cy="91440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Any browser</a:t>
            </a:r>
            <a:endParaRPr lang="en-US" sz="1500" dirty="0"/>
          </a:p>
          <a:p>
            <a:pPr indent="0" marL="0">
              <a:spcAft>
                <a:spcPts val="200"/>
              </a:spcAft>
              <a:buNone/>
            </a:pPr>
            <a:r>
              <a:rPr lang="en-US" sz="1300" dirty="0">
                <a:solidFill>
                  <a:schemeClr val="accent6"/>
                </a:solidFill>
              </a:rPr>
              <a:t>No app install, no new hardware</a:t>
            </a:r>
            <a:endParaRPr lang="en-US" sz="1500" dirty="0"/>
          </a:p>
        </p:txBody>
      </p:sp>
      <p:sp>
        <p:nvSpPr>
          <p:cNvPr id="11" name="num 2"/>
          <p:cNvSpPr/>
          <p:nvPr/>
        </p:nvSpPr>
        <p:spPr>
          <a:xfrm>
            <a:off x="457200" y="2395728"/>
            <a:ext cx="329184" cy="329184"/>
          </a:xfrm>
          <a:prstGeom prst="ellipse">
            <a:avLst/>
          </a:prstGeom>
          <a:solidFill>
            <a:schemeClr val="accent2"/>
          </a:solidFill>
          <a:ln/>
        </p:spPr>
      </p:sp>
      <p:sp>
        <p:nvSpPr>
          <p:cNvPr id="12" name="Text 8"/>
          <p:cNvSpPr txBox="1"/>
          <p:nvPr/>
        </p:nvSpPr>
        <p:spPr>
          <a:xfrm>
            <a:off x="457200" y="239572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3" name="Text 9"/>
          <p:cNvSpPr txBox="1"/>
          <p:nvPr/>
        </p:nvSpPr>
        <p:spPr>
          <a:xfrm>
            <a:off x="914400" y="2340864"/>
            <a:ext cx="3291840" cy="91440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Role-aware</a:t>
            </a:r>
            <a:endParaRPr lang="en-US" sz="1500" dirty="0"/>
          </a:p>
          <a:p>
            <a:pPr indent="0" marL="0">
              <a:spcAft>
                <a:spcPts val="200"/>
              </a:spcAft>
              <a:buNone/>
            </a:pPr>
            <a:r>
              <a:rPr lang="en-US" sz="1300" dirty="0">
                <a:solidFill>
                  <a:schemeClr val="accent6"/>
                </a:solidFill>
              </a:rPr>
              <a:t>Operators see the next part; engineers see spikes</a:t>
            </a:r>
            <a:endParaRPr lang="en-US" sz="1500" dirty="0"/>
          </a:p>
        </p:txBody>
      </p:sp>
      <p:sp>
        <p:nvSpPr>
          <p:cNvPr id="14" name="num 3"/>
          <p:cNvSpPr/>
          <p:nvPr/>
        </p:nvSpPr>
        <p:spPr>
          <a:xfrm>
            <a:off x="457200" y="3447288"/>
            <a:ext cx="329184" cy="329184"/>
          </a:xfrm>
          <a:prstGeom prst="ellipse">
            <a:avLst/>
          </a:prstGeom>
          <a:solidFill>
            <a:schemeClr val="accent2"/>
          </a:solidFill>
          <a:ln/>
        </p:spPr>
      </p:sp>
      <p:sp>
        <p:nvSpPr>
          <p:cNvPr id="15" name="Text 11"/>
          <p:cNvSpPr txBox="1"/>
          <p:nvPr/>
        </p:nvSpPr>
        <p:spPr>
          <a:xfrm>
            <a:off x="457200" y="344728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Text 12"/>
          <p:cNvSpPr txBox="1"/>
          <p:nvPr/>
        </p:nvSpPr>
        <p:spPr>
          <a:xfrm>
            <a:off x="914400" y="3392424"/>
            <a:ext cx="3291840" cy="91440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One Cloud Run URL</a:t>
            </a:r>
            <a:endParaRPr lang="en-US" sz="1500" dirty="0"/>
          </a:p>
          <a:p>
            <a:pPr indent="0" marL="0">
              <a:spcAft>
                <a:spcPts val="200"/>
              </a:spcAft>
              <a:buNone/>
            </a:pPr>
            <a:r>
              <a:rPr lang="en-US" sz="1300" dirty="0">
                <a:solidFill>
                  <a:schemeClr val="accent6"/>
                </a:solidFill>
              </a:rPr>
              <a:t>Scales to zero when the line is idle</a:t>
            </a:r>
            <a:endParaRPr lang="en-US" sz="15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5486400" cy="256032"/>
          </a:xfrm>
          <a:prstGeom prst="rect">
            <a:avLst/>
          </a:prstGeom>
          <a:noFill/>
          <a:ln/>
        </p:spPr>
        <p:txBody>
          <a:bodyPr wrap="square" lIns="0" tIns="0" rIns="0" bIns="0" rtlCol="0"/>
          <a:lstStyle/>
          <a:p>
            <a:pPr indent="0" marL="0">
              <a:buNone/>
            </a:pPr>
            <a:r>
              <a:rPr lang="en-US" sz="1100" b="1" spc="300" kern="0" dirty="0">
                <a:solidFill>
                  <a:schemeClr val="accent2"/>
                </a:solidFill>
              </a:rPr>
              <a:t>ON GOOGLE CLOUD</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800" b="1" dirty="0">
                <a:solidFill>
                  <a:schemeClr val="tx1"/>
                </a:solidFill>
                <a:latin typeface="+mj-lt" pitchFamily="34" charset="0"/>
                <a:ea typeface="+mj-lt" pitchFamily="34" charset="-122"/>
                <a:cs typeface="+mj-lt" pitchFamily="34" charset="-120"/>
              </a:rPr>
              <a:t>One Cloud Run service on Google Cloud</a:t>
            </a:r>
            <a:endParaRPr lang="en-US" sz="2800" dirty="0"/>
          </a:p>
        </p:txBody>
      </p:sp>
      <p:sp>
        <p:nvSpPr>
          <p:cNvPr id="4" name="arch Browser"/>
          <p:cNvSpPr/>
          <p:nvPr/>
        </p:nvSpPr>
        <p:spPr>
          <a:xfrm>
            <a:off x="457200" y="1417320"/>
            <a:ext cx="1737360" cy="868680"/>
          </a:xfrm>
          <a:prstGeom prst="roundRect">
            <a:avLst>
              <a:gd name="adj" fmla="val 8421"/>
            </a:avLst>
          </a:prstGeom>
          <a:solidFill>
            <a:schemeClr val="bg1"/>
          </a:solidFill>
          <a:ln/>
          <a:effectLst>
            <a:outerShdw sx="100000" sy="100000" kx="0" ky="0" algn="bl" rotWithShape="0" blurRad="76200" dist="25400" dir="5400000">
              <a:srgbClr val="0B1A2E">
                <a:alpha val="8000"/>
              </a:srgbClr>
            </a:outerShdw>
          </a:effectLst>
        </p:spPr>
      </p:sp>
      <p:pic>
        <p:nvPicPr>
          <p:cNvPr id="5" name="Image 0" descr="Browser">    </p:cNvPr>
          <p:cNvPicPr>
            <a:picLocks noChangeAspect="1"/>
          </p:cNvPicPr>
          <p:nvPr/>
        </p:nvPicPr>
        <p:blipFill>
          <a:blip r:embed="rId1"/>
          <a:stretch>
            <a:fillRect/>
          </a:stretch>
        </p:blipFill>
        <p:spPr>
          <a:xfrm>
            <a:off x="621792" y="1572768"/>
            <a:ext cx="274320" cy="274320"/>
          </a:xfrm>
          <a:prstGeom prst="rect">
            <a:avLst/>
          </a:prstGeom>
        </p:spPr>
      </p:pic>
      <p:sp>
        <p:nvSpPr>
          <p:cNvPr id="6" name="Text 3"/>
          <p:cNvSpPr txBox="1"/>
          <p:nvPr/>
        </p:nvSpPr>
        <p:spPr>
          <a:xfrm>
            <a:off x="1005840" y="1508760"/>
            <a:ext cx="1097280" cy="685800"/>
          </a:xfrm>
          <a:prstGeom prst="rect">
            <a:avLst/>
          </a:prstGeom>
          <a:noFill/>
          <a:ln/>
        </p:spPr>
        <p:txBody>
          <a:bodyPr wrap="square" lIns="0" tIns="0" rIns="0" bIns="0" rtlCol="0" anchor="t"/>
          <a:lstStyle/>
          <a:p>
            <a:pPr indent="0" marL="0">
              <a:buNone/>
            </a:pPr>
            <a:r>
              <a:rPr lang="en-US" sz="1400" b="1" dirty="0">
                <a:solidFill>
                  <a:schemeClr val="tx1"/>
                </a:solidFill>
              </a:rPr>
              <a:t>Browser</a:t>
            </a:r>
            <a:endParaRPr lang="en-US" sz="1400" dirty="0"/>
          </a:p>
          <a:p>
            <a:pPr indent="0" marL="0">
              <a:buNone/>
            </a:pPr>
            <a:r>
              <a:rPr lang="en-US" sz="1100" dirty="0">
                <a:solidFill>
                  <a:schemeClr val="accent6"/>
                </a:solidFill>
              </a:rPr>
              <a:t>Phone or laptop</a:t>
            </a:r>
            <a:endParaRPr lang="en-US" sz="1400" dirty="0"/>
          </a:p>
        </p:txBody>
      </p:sp>
      <p:sp>
        <p:nvSpPr>
          <p:cNvPr id="7" name="arch Pub/Sub alerts"/>
          <p:cNvSpPr/>
          <p:nvPr/>
        </p:nvSpPr>
        <p:spPr>
          <a:xfrm>
            <a:off x="457200" y="3108960"/>
            <a:ext cx="1737360" cy="1051560"/>
          </a:xfrm>
          <a:prstGeom prst="roundRect">
            <a:avLst>
              <a:gd name="adj" fmla="val 6957"/>
            </a:avLst>
          </a:prstGeom>
          <a:solidFill>
            <a:schemeClr val="bg1"/>
          </a:solidFill>
          <a:ln/>
          <a:effectLst>
            <a:outerShdw sx="100000" sy="100000" kx="0" ky="0" algn="bl" rotWithShape="0" blurRad="76200" dist="25400" dir="5400000">
              <a:srgbClr val="0B1A2E">
                <a:alpha val="8000"/>
              </a:srgbClr>
            </a:outerShdw>
          </a:effectLst>
        </p:spPr>
      </p:sp>
      <p:pic>
        <p:nvPicPr>
          <p:cNvPr id="8" name="Image 1" descr="Pub/Sub alerts">    </p:cNvPr>
          <p:cNvPicPr>
            <a:picLocks noChangeAspect="1"/>
          </p:cNvPicPr>
          <p:nvPr/>
        </p:nvPicPr>
        <p:blipFill>
          <a:blip r:embed="rId2"/>
          <a:stretch>
            <a:fillRect/>
          </a:stretch>
        </p:blipFill>
        <p:spPr>
          <a:xfrm>
            <a:off x="621792" y="3264408"/>
            <a:ext cx="274320" cy="274320"/>
          </a:xfrm>
          <a:prstGeom prst="rect">
            <a:avLst/>
          </a:prstGeom>
        </p:spPr>
      </p:pic>
      <p:sp>
        <p:nvSpPr>
          <p:cNvPr id="9" name="Text 5"/>
          <p:cNvSpPr txBox="1"/>
          <p:nvPr/>
        </p:nvSpPr>
        <p:spPr>
          <a:xfrm>
            <a:off x="1005840" y="3200400"/>
            <a:ext cx="1097280" cy="868680"/>
          </a:xfrm>
          <a:prstGeom prst="rect">
            <a:avLst/>
          </a:prstGeom>
          <a:noFill/>
          <a:ln/>
        </p:spPr>
        <p:txBody>
          <a:bodyPr wrap="square" lIns="0" tIns="0" rIns="0" bIns="0" rtlCol="0" anchor="t"/>
          <a:lstStyle/>
          <a:p>
            <a:pPr indent="0" marL="0">
              <a:buNone/>
            </a:pPr>
            <a:r>
              <a:rPr lang="en-US" sz="1400" b="1" dirty="0">
                <a:solidFill>
                  <a:schemeClr val="tx1"/>
                </a:solidFill>
              </a:rPr>
              <a:t>Pub/Sub alerts</a:t>
            </a:r>
            <a:endParaRPr lang="en-US" sz="1400" dirty="0"/>
          </a:p>
          <a:p>
            <a:pPr indent="0" marL="0">
              <a:buNone/>
            </a:pPr>
            <a:r>
              <a:rPr lang="en-US" sz="1100" dirty="0">
                <a:solidFill>
                  <a:schemeClr val="accent6"/>
                </a:solidFill>
              </a:rPr>
              <a:t>Spike to Telegram or Google Chat</a:t>
            </a:r>
            <a:endParaRPr lang="en-US" sz="1400" dirty="0"/>
          </a:p>
        </p:txBody>
      </p:sp>
      <p:sp>
        <p:nvSpPr>
          <p:cNvPr id="10" name="arch Cloud Run"/>
          <p:cNvSpPr/>
          <p:nvPr/>
        </p:nvSpPr>
        <p:spPr>
          <a:xfrm>
            <a:off x="2697480" y="1280160"/>
            <a:ext cx="2651760" cy="2514600"/>
          </a:xfrm>
          <a:prstGeom prst="roundRect">
            <a:avLst>
              <a:gd name="adj" fmla="val 2909"/>
            </a:avLst>
          </a:prstGeom>
          <a:solidFill>
            <a:schemeClr val="tx2"/>
          </a:solidFill>
          <a:ln/>
          <a:effectLst>
            <a:outerShdw sx="100000" sy="100000" kx="0" ky="0" algn="bl" rotWithShape="0" blurRad="76200" dist="25400" dir="5400000">
              <a:srgbClr val="0B1A2E">
                <a:alpha val="8000"/>
              </a:srgbClr>
            </a:outerShdw>
          </a:effectLst>
        </p:spPr>
      </p:sp>
      <p:pic>
        <p:nvPicPr>
          <p:cNvPr id="11" name="Image 2" descr="Cloud Run">    </p:cNvPr>
          <p:cNvPicPr>
            <a:picLocks noChangeAspect="1"/>
          </p:cNvPicPr>
          <p:nvPr/>
        </p:nvPicPr>
        <p:blipFill>
          <a:blip r:embed="rId3"/>
          <a:stretch>
            <a:fillRect/>
          </a:stretch>
        </p:blipFill>
        <p:spPr>
          <a:xfrm>
            <a:off x="2862072" y="1435608"/>
            <a:ext cx="274320" cy="274320"/>
          </a:xfrm>
          <a:prstGeom prst="rect">
            <a:avLst/>
          </a:prstGeom>
        </p:spPr>
      </p:pic>
      <p:sp>
        <p:nvSpPr>
          <p:cNvPr id="12" name="Text 7"/>
          <p:cNvSpPr txBox="1"/>
          <p:nvPr/>
        </p:nvSpPr>
        <p:spPr>
          <a:xfrm>
            <a:off x="3246120" y="1371600"/>
            <a:ext cx="2011680" cy="2331720"/>
          </a:xfrm>
          <a:prstGeom prst="rect">
            <a:avLst/>
          </a:prstGeom>
          <a:noFill/>
          <a:ln/>
        </p:spPr>
        <p:txBody>
          <a:bodyPr wrap="square" lIns="0" tIns="0" rIns="0" bIns="0" rtlCol="0" anchor="t"/>
          <a:lstStyle/>
          <a:p>
            <a:pPr indent="0" marL="0">
              <a:buNone/>
            </a:pPr>
            <a:r>
              <a:rPr lang="en-US" sz="1400" b="1" dirty="0">
                <a:solidFill>
                  <a:schemeClr val="bg1"/>
                </a:solidFill>
              </a:rPr>
              <a:t>Cloud Run</a:t>
            </a:r>
            <a:endParaRPr lang="en-US" sz="1400" dirty="0"/>
          </a:p>
          <a:p>
            <a:pPr indent="0" marL="0">
              <a:buNone/>
            </a:pPr>
            <a:r>
              <a:rPr lang="en-US" sz="1100" dirty="0">
                <a:solidFill>
                  <a:srgbClr val="CADCFC"/>
                </a:solidFill>
              </a:rPr>
              <a:t>FastAPI · YOLO11n on CPU · escalation policy · robot safety gate · AI budget</a:t>
            </a:r>
            <a:endParaRPr lang="en-US" sz="1400" dirty="0"/>
          </a:p>
        </p:txBody>
      </p:sp>
      <p:sp>
        <p:nvSpPr>
          <p:cNvPr id="13" name="arch Gemini on Vertex AI"/>
          <p:cNvSpPr/>
          <p:nvPr/>
        </p:nvSpPr>
        <p:spPr>
          <a:xfrm>
            <a:off x="5852160" y="1234440"/>
            <a:ext cx="2834640" cy="868680"/>
          </a:xfrm>
          <a:prstGeom prst="roundRect">
            <a:avLst>
              <a:gd name="adj" fmla="val 8421"/>
            </a:avLst>
          </a:prstGeom>
          <a:solidFill>
            <a:schemeClr val="bg1"/>
          </a:solidFill>
          <a:ln/>
          <a:effectLst>
            <a:outerShdw sx="100000" sy="100000" kx="0" ky="0" algn="bl" rotWithShape="0" blurRad="76200" dist="25400" dir="5400000">
              <a:srgbClr val="0B1A2E">
                <a:alpha val="8000"/>
              </a:srgbClr>
            </a:outerShdw>
          </a:effectLst>
        </p:spPr>
      </p:sp>
      <p:pic>
        <p:nvPicPr>
          <p:cNvPr id="14" name="Image 3" descr="Gemini on Vertex AI">    </p:cNvPr>
          <p:cNvPicPr>
            <a:picLocks noChangeAspect="1"/>
          </p:cNvPicPr>
          <p:nvPr/>
        </p:nvPicPr>
        <p:blipFill>
          <a:blip r:embed="rId4"/>
          <a:stretch>
            <a:fillRect/>
          </a:stretch>
        </p:blipFill>
        <p:spPr>
          <a:xfrm>
            <a:off x="6016752" y="1389888"/>
            <a:ext cx="274320" cy="274320"/>
          </a:xfrm>
          <a:prstGeom prst="rect">
            <a:avLst/>
          </a:prstGeom>
        </p:spPr>
      </p:pic>
      <p:sp>
        <p:nvSpPr>
          <p:cNvPr id="15" name="Text 9"/>
          <p:cNvSpPr txBox="1"/>
          <p:nvPr/>
        </p:nvSpPr>
        <p:spPr>
          <a:xfrm>
            <a:off x="6400800" y="1325880"/>
            <a:ext cx="2194560" cy="685800"/>
          </a:xfrm>
          <a:prstGeom prst="rect">
            <a:avLst/>
          </a:prstGeom>
          <a:noFill/>
          <a:ln/>
        </p:spPr>
        <p:txBody>
          <a:bodyPr wrap="square" lIns="0" tIns="0" rIns="0" bIns="0" rtlCol="0" anchor="t"/>
          <a:lstStyle/>
          <a:p>
            <a:pPr indent="0" marL="0">
              <a:buNone/>
            </a:pPr>
            <a:r>
              <a:rPr lang="en-US" sz="1400" b="1" dirty="0">
                <a:solidFill>
                  <a:schemeClr val="tx1"/>
                </a:solidFill>
              </a:rPr>
              <a:t>Gemini on Vertex AI</a:t>
            </a:r>
            <a:endParaRPr lang="en-US" sz="1400" dirty="0"/>
          </a:p>
          <a:p>
            <a:pPr indent="0" marL="0">
              <a:buNone/>
            </a:pPr>
            <a:r>
              <a:rPr lang="en-US" sz="1100" dirty="0">
                <a:solidFill>
                  <a:schemeClr val="accent6"/>
                </a:solidFill>
              </a:rPr>
              <a:t>Flash-Lite · Robotics ER 2 via API key</a:t>
            </a:r>
            <a:endParaRPr lang="en-US" sz="1400" dirty="0"/>
          </a:p>
        </p:txBody>
      </p:sp>
      <p:sp>
        <p:nvSpPr>
          <p:cNvPr id="16" name="arch ADK root-cause agent"/>
          <p:cNvSpPr/>
          <p:nvPr/>
        </p:nvSpPr>
        <p:spPr>
          <a:xfrm>
            <a:off x="5852160" y="2240280"/>
            <a:ext cx="2834640" cy="868680"/>
          </a:xfrm>
          <a:prstGeom prst="roundRect">
            <a:avLst>
              <a:gd name="adj" fmla="val 8421"/>
            </a:avLst>
          </a:prstGeom>
          <a:solidFill>
            <a:schemeClr val="bg1"/>
          </a:solidFill>
          <a:ln/>
          <a:effectLst>
            <a:outerShdw sx="100000" sy="100000" kx="0" ky="0" algn="bl" rotWithShape="0" blurRad="76200" dist="25400" dir="5400000">
              <a:srgbClr val="0B1A2E">
                <a:alpha val="8000"/>
              </a:srgbClr>
            </a:outerShdw>
          </a:effectLst>
        </p:spPr>
      </p:sp>
      <p:pic>
        <p:nvPicPr>
          <p:cNvPr id="17" name="Image 4" descr="ADK root-cause agent">    </p:cNvPr>
          <p:cNvPicPr>
            <a:picLocks noChangeAspect="1"/>
          </p:cNvPicPr>
          <p:nvPr/>
        </p:nvPicPr>
        <p:blipFill>
          <a:blip r:embed="rId5"/>
          <a:stretch>
            <a:fillRect/>
          </a:stretch>
        </p:blipFill>
        <p:spPr>
          <a:xfrm>
            <a:off x="6016752" y="2395728"/>
            <a:ext cx="274320" cy="274320"/>
          </a:xfrm>
          <a:prstGeom prst="rect">
            <a:avLst/>
          </a:prstGeom>
        </p:spPr>
      </p:pic>
      <p:sp>
        <p:nvSpPr>
          <p:cNvPr id="18" name="Text 11"/>
          <p:cNvSpPr txBox="1"/>
          <p:nvPr/>
        </p:nvSpPr>
        <p:spPr>
          <a:xfrm>
            <a:off x="6400800" y="2331720"/>
            <a:ext cx="2194560" cy="685800"/>
          </a:xfrm>
          <a:prstGeom prst="rect">
            <a:avLst/>
          </a:prstGeom>
          <a:noFill/>
          <a:ln/>
        </p:spPr>
        <p:txBody>
          <a:bodyPr wrap="square" lIns="0" tIns="0" rIns="0" bIns="0" rtlCol="0" anchor="t"/>
          <a:lstStyle/>
          <a:p>
            <a:pPr indent="0" marL="0">
              <a:buNone/>
            </a:pPr>
            <a:r>
              <a:rPr lang="en-US" sz="1400" b="1" dirty="0">
                <a:solidFill>
                  <a:schemeClr val="tx1"/>
                </a:solidFill>
              </a:rPr>
              <a:t>ADK root-cause agent</a:t>
            </a:r>
            <a:endParaRPr lang="en-US" sz="1400" dirty="0"/>
          </a:p>
          <a:p>
            <a:pPr indent="0" marL="0">
              <a:buNone/>
            </a:pPr>
            <a:r>
              <a:rPr lang="en-US" sz="1100" dirty="0">
                <a:solidFill>
                  <a:schemeClr val="accent6"/>
                </a:solidFill>
              </a:rPr>
              <a:t>Read-only SQL templates</a:t>
            </a:r>
            <a:endParaRPr lang="en-US" sz="1400" dirty="0"/>
          </a:p>
        </p:txBody>
      </p:sp>
      <p:sp>
        <p:nvSpPr>
          <p:cNvPr id="19" name="arch Firestore · Storage · BigQuery"/>
          <p:cNvSpPr/>
          <p:nvPr/>
        </p:nvSpPr>
        <p:spPr>
          <a:xfrm>
            <a:off x="5852160" y="3246120"/>
            <a:ext cx="2834640" cy="868680"/>
          </a:xfrm>
          <a:prstGeom prst="roundRect">
            <a:avLst>
              <a:gd name="adj" fmla="val 8421"/>
            </a:avLst>
          </a:prstGeom>
          <a:solidFill>
            <a:schemeClr val="bg1"/>
          </a:solidFill>
          <a:ln/>
          <a:effectLst>
            <a:outerShdw sx="100000" sy="100000" kx="0" ky="0" algn="bl" rotWithShape="0" blurRad="76200" dist="25400" dir="5400000">
              <a:srgbClr val="0B1A2E">
                <a:alpha val="8000"/>
              </a:srgbClr>
            </a:outerShdw>
          </a:effectLst>
        </p:spPr>
      </p:sp>
      <p:pic>
        <p:nvPicPr>
          <p:cNvPr id="20" name="Image 5" descr="Firestore · Storage · BigQuery">    </p:cNvPr>
          <p:cNvPicPr>
            <a:picLocks noChangeAspect="1"/>
          </p:cNvPicPr>
          <p:nvPr/>
        </p:nvPicPr>
        <p:blipFill>
          <a:blip r:embed="rId6"/>
          <a:stretch>
            <a:fillRect/>
          </a:stretch>
        </p:blipFill>
        <p:spPr>
          <a:xfrm>
            <a:off x="6016752" y="3401568"/>
            <a:ext cx="274320" cy="274320"/>
          </a:xfrm>
          <a:prstGeom prst="rect">
            <a:avLst/>
          </a:prstGeom>
        </p:spPr>
      </p:pic>
      <p:sp>
        <p:nvSpPr>
          <p:cNvPr id="21" name="Text 13"/>
          <p:cNvSpPr txBox="1"/>
          <p:nvPr/>
        </p:nvSpPr>
        <p:spPr>
          <a:xfrm>
            <a:off x="6400800" y="3337560"/>
            <a:ext cx="2194560" cy="685800"/>
          </a:xfrm>
          <a:prstGeom prst="rect">
            <a:avLst/>
          </a:prstGeom>
          <a:noFill/>
          <a:ln/>
        </p:spPr>
        <p:txBody>
          <a:bodyPr wrap="square" lIns="0" tIns="0" rIns="0" bIns="0" rtlCol="0" anchor="t"/>
          <a:lstStyle/>
          <a:p>
            <a:pPr indent="0" marL="0">
              <a:buNone/>
            </a:pPr>
            <a:r>
              <a:rPr lang="en-US" sz="1400" b="1" dirty="0">
                <a:solidFill>
                  <a:schemeClr val="tx1"/>
                </a:solidFill>
              </a:rPr>
              <a:t>Firestore · Storage · BigQuery</a:t>
            </a:r>
            <a:endParaRPr lang="en-US" sz="1400" dirty="0"/>
          </a:p>
          <a:p>
            <a:pPr indent="0" marL="0">
              <a:buNone/>
            </a:pPr>
            <a:r>
              <a:rPr lang="en-US" sz="1100" dirty="0">
                <a:solidFill>
                  <a:schemeClr val="accent6"/>
                </a:solidFill>
              </a:rPr>
              <a:t>Rules, photos, every decision</a:t>
            </a:r>
            <a:endParaRPr lang="en-US" sz="1400" dirty="0"/>
          </a:p>
        </p:txBody>
      </p:sp>
      <p:sp>
        <p:nvSpPr>
          <p:cNvPr id="22" name="arch Secret Manager"/>
          <p:cNvSpPr/>
          <p:nvPr/>
        </p:nvSpPr>
        <p:spPr>
          <a:xfrm>
            <a:off x="2697480" y="3931920"/>
            <a:ext cx="2651760" cy="640080"/>
          </a:xfrm>
          <a:prstGeom prst="roundRect">
            <a:avLst>
              <a:gd name="adj" fmla="val 11429"/>
            </a:avLst>
          </a:prstGeom>
          <a:solidFill>
            <a:schemeClr val="bg1"/>
          </a:solidFill>
          <a:ln/>
          <a:effectLst>
            <a:outerShdw sx="100000" sy="100000" kx="0" ky="0" algn="bl" rotWithShape="0" blurRad="76200" dist="25400" dir="5400000">
              <a:srgbClr val="0B1A2E">
                <a:alpha val="8000"/>
              </a:srgbClr>
            </a:outerShdw>
          </a:effectLst>
        </p:spPr>
      </p:sp>
      <p:pic>
        <p:nvPicPr>
          <p:cNvPr id="23" name="Image 6" descr="Secret Manager">    </p:cNvPr>
          <p:cNvPicPr>
            <a:picLocks noChangeAspect="1"/>
          </p:cNvPicPr>
          <p:nvPr/>
        </p:nvPicPr>
        <p:blipFill>
          <a:blip r:embed="rId7"/>
          <a:stretch>
            <a:fillRect/>
          </a:stretch>
        </p:blipFill>
        <p:spPr>
          <a:xfrm>
            <a:off x="2862072" y="4087368"/>
            <a:ext cx="274320" cy="274320"/>
          </a:xfrm>
          <a:prstGeom prst="rect">
            <a:avLst/>
          </a:prstGeom>
        </p:spPr>
      </p:pic>
      <p:sp>
        <p:nvSpPr>
          <p:cNvPr id="24" name="Text 15"/>
          <p:cNvSpPr txBox="1"/>
          <p:nvPr/>
        </p:nvSpPr>
        <p:spPr>
          <a:xfrm>
            <a:off x="3246120" y="4023360"/>
            <a:ext cx="2011680" cy="457200"/>
          </a:xfrm>
          <a:prstGeom prst="rect">
            <a:avLst/>
          </a:prstGeom>
          <a:noFill/>
          <a:ln/>
        </p:spPr>
        <p:txBody>
          <a:bodyPr wrap="square" lIns="0" tIns="0" rIns="0" bIns="0" rtlCol="0" anchor="t"/>
          <a:lstStyle/>
          <a:p>
            <a:pPr indent="0" marL="0">
              <a:buNone/>
            </a:pPr>
            <a:r>
              <a:rPr lang="en-US" sz="1400" b="1" dirty="0">
                <a:solidFill>
                  <a:schemeClr val="tx1"/>
                </a:solidFill>
              </a:rPr>
              <a:t>Secret Manager</a:t>
            </a:r>
            <a:endParaRPr lang="en-US" sz="1400" dirty="0"/>
          </a:p>
          <a:p>
            <a:pPr indent="0" marL="0">
              <a:buNone/>
            </a:pPr>
            <a:r>
              <a:rPr lang="en-US" sz="1100" dirty="0">
                <a:solidFill>
                  <a:schemeClr val="accent6"/>
                </a:solidFill>
              </a:rPr>
              <a:t>No keys in code or image</a:t>
            </a:r>
            <a:endParaRPr lang="en-US" sz="1400" dirty="0"/>
          </a:p>
        </p:txBody>
      </p:sp>
      <p:sp>
        <p:nvSpPr>
          <p:cNvPr id="25" name="Shape 16"/>
          <p:cNvSpPr/>
          <p:nvPr/>
        </p:nvSpPr>
        <p:spPr>
          <a:xfrm>
            <a:off x="2194560" y="1847088"/>
            <a:ext cx="502920" cy="0"/>
          </a:xfrm>
          <a:prstGeom prst="line">
            <a:avLst/>
          </a:prstGeom>
          <a:noFill/>
          <a:ln w="15875">
            <a:solidFill>
              <a:schemeClr val="accent6"/>
            </a:solidFill>
            <a:prstDash val="solid"/>
            <a:tailEnd type="triangle"/>
          </a:ln>
        </p:spPr>
      </p:sp>
      <p:sp>
        <p:nvSpPr>
          <p:cNvPr id="26" name="Shape 17"/>
          <p:cNvSpPr/>
          <p:nvPr/>
        </p:nvSpPr>
        <p:spPr>
          <a:xfrm>
            <a:off x="5349240" y="1664208"/>
            <a:ext cx="502920" cy="0"/>
          </a:xfrm>
          <a:prstGeom prst="line">
            <a:avLst/>
          </a:prstGeom>
          <a:noFill/>
          <a:ln w="15875">
            <a:solidFill>
              <a:schemeClr val="accent6"/>
            </a:solidFill>
            <a:prstDash val="solid"/>
            <a:tailEnd type="triangle"/>
          </a:ln>
        </p:spPr>
      </p:sp>
      <p:sp>
        <p:nvSpPr>
          <p:cNvPr id="27" name="Shape 18"/>
          <p:cNvSpPr/>
          <p:nvPr/>
        </p:nvSpPr>
        <p:spPr>
          <a:xfrm>
            <a:off x="5349240" y="2670048"/>
            <a:ext cx="502920" cy="0"/>
          </a:xfrm>
          <a:prstGeom prst="line">
            <a:avLst/>
          </a:prstGeom>
          <a:noFill/>
          <a:ln w="15875">
            <a:solidFill>
              <a:schemeClr val="accent6"/>
            </a:solidFill>
            <a:prstDash val="solid"/>
            <a:tailEnd type="triangle"/>
          </a:ln>
        </p:spPr>
      </p:sp>
      <p:sp>
        <p:nvSpPr>
          <p:cNvPr id="28" name="Shape 19"/>
          <p:cNvSpPr/>
          <p:nvPr/>
        </p:nvSpPr>
        <p:spPr>
          <a:xfrm>
            <a:off x="5349240" y="3675888"/>
            <a:ext cx="502920" cy="0"/>
          </a:xfrm>
          <a:prstGeom prst="line">
            <a:avLst/>
          </a:prstGeom>
          <a:noFill/>
          <a:ln w="15875">
            <a:solidFill>
              <a:schemeClr val="accent6"/>
            </a:solidFill>
            <a:prstDash val="solid"/>
            <a:tailEnd type="triangle"/>
          </a:ln>
        </p:spPr>
      </p:sp>
      <p:sp>
        <p:nvSpPr>
          <p:cNvPr id="29" name="Shape 20"/>
          <p:cNvSpPr/>
          <p:nvPr/>
        </p:nvSpPr>
        <p:spPr>
          <a:xfrm>
            <a:off x="2194560" y="3611880"/>
            <a:ext cx="502920" cy="0"/>
          </a:xfrm>
          <a:prstGeom prst="line">
            <a:avLst/>
          </a:prstGeom>
          <a:noFill/>
          <a:ln w="15875">
            <a:solidFill>
              <a:schemeClr val="accent6"/>
            </a:solidFill>
            <a:prstDash val="solid"/>
            <a:headEnd type="triangle"/>
          </a:ln>
        </p:spPr>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5486400" cy="256032"/>
          </a:xfrm>
          <a:prstGeom prst="rect">
            <a:avLst/>
          </a:prstGeom>
          <a:noFill/>
          <a:ln/>
        </p:spPr>
        <p:txBody>
          <a:bodyPr wrap="square" lIns="0" tIns="0" rIns="0" bIns="0" rtlCol="0"/>
          <a:lstStyle/>
          <a:p>
            <a:pPr indent="0" marL="0">
              <a:buNone/>
            </a:pPr>
            <a:r>
              <a:rPr lang="en-US" sz="1100" b="1" spc="300" kern="0" dirty="0">
                <a:solidFill>
                  <a:schemeClr val="accent2"/>
                </a:solidFill>
              </a:rPr>
              <a:t>RESULTS</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800" b="1" dirty="0">
                <a:solidFill>
                  <a:schemeClr val="tx1"/>
                </a:solidFill>
                <a:latin typeface="+mj-lt" pitchFamily="34" charset="0"/>
                <a:ea typeface="+mj-lt" pitchFamily="34" charset="-122"/>
                <a:cs typeface="+mj-lt" pitchFamily="34" charset="-120"/>
              </a:rPr>
              <a:t>Measured on 200 held-out images</a:t>
            </a:r>
            <a:endParaRPr lang="en-US" sz="2800" dirty="0"/>
          </a:p>
        </p:txBody>
      </p:sp>
      <p:sp>
        <p:nvSpPr>
          <p:cNvPr id="4" name="stat 1"/>
          <p:cNvSpPr/>
          <p:nvPr/>
        </p:nvSpPr>
        <p:spPr>
          <a:xfrm>
            <a:off x="457200" y="1325880"/>
            <a:ext cx="1920240" cy="1600200"/>
          </a:xfrm>
          <a:prstGeom prst="roundRect">
            <a:avLst>
              <a:gd name="adj" fmla="val 5714"/>
            </a:avLst>
          </a:prstGeom>
          <a:solidFill>
            <a:schemeClr val="bg1"/>
          </a:solidFill>
          <a:ln/>
          <a:effectLst>
            <a:outerShdw sx="100000" sy="100000" kx="0" ky="0" algn="bl" rotWithShape="0" blurRad="101600" dist="25400" dir="5400000">
              <a:srgbClr val="0B1A2E">
                <a:alpha val="8000"/>
              </a:srgbClr>
            </a:outerShdw>
          </a:effectLst>
        </p:spPr>
      </p:sp>
      <p:sp>
        <p:nvSpPr>
          <p:cNvPr id="5" name="Text 3"/>
          <p:cNvSpPr txBox="1"/>
          <p:nvPr/>
        </p:nvSpPr>
        <p:spPr>
          <a:xfrm>
            <a:off x="640080" y="1463040"/>
            <a:ext cx="1554480" cy="777240"/>
          </a:xfrm>
          <a:prstGeom prst="rect">
            <a:avLst/>
          </a:prstGeom>
          <a:noFill/>
          <a:ln/>
        </p:spPr>
        <p:txBody>
          <a:bodyPr wrap="square" lIns="0" tIns="0" rIns="0" bIns="0" rtlCol="0" anchor="ctr"/>
          <a:lstStyle/>
          <a:p>
            <a:pPr indent="0" marL="0">
              <a:buNone/>
            </a:pPr>
            <a:r>
              <a:rPr lang="en-US" sz="3600" b="1" dirty="0">
                <a:solidFill>
                  <a:schemeClr val="accent1"/>
                </a:solidFill>
                <a:latin typeface="+mj-lt" pitchFamily="34" charset="0"/>
                <a:ea typeface="+mj-lt" pitchFamily="34" charset="-122"/>
                <a:cs typeface="+mj-lt" pitchFamily="34" charset="-120"/>
              </a:rPr>
              <a:t>99%</a:t>
            </a:r>
            <a:endParaRPr lang="en-US" sz="3600" dirty="0"/>
          </a:p>
        </p:txBody>
      </p:sp>
      <p:sp>
        <p:nvSpPr>
          <p:cNvPr id="6" name="Text 4"/>
          <p:cNvSpPr txBox="1"/>
          <p:nvPr/>
        </p:nvSpPr>
        <p:spPr>
          <a:xfrm>
            <a:off x="640080" y="2286000"/>
            <a:ext cx="1554480" cy="502920"/>
          </a:xfrm>
          <a:prstGeom prst="rect">
            <a:avLst/>
          </a:prstGeom>
          <a:noFill/>
          <a:ln/>
        </p:spPr>
        <p:txBody>
          <a:bodyPr wrap="square" lIns="0" tIns="0" rIns="0" bIns="0" rtlCol="0" anchor="t"/>
          <a:lstStyle/>
          <a:p>
            <a:pPr indent="0" marL="0">
              <a:buNone/>
            </a:pPr>
            <a:r>
              <a:rPr lang="en-US" sz="1300" dirty="0">
                <a:solidFill>
                  <a:schemeClr val="accent6"/>
                </a:solidFill>
              </a:rPr>
              <a:t>defect recall</a:t>
            </a:r>
            <a:endParaRPr lang="en-US" sz="1300" dirty="0"/>
          </a:p>
        </p:txBody>
      </p:sp>
      <p:sp>
        <p:nvSpPr>
          <p:cNvPr id="7" name="stat 2"/>
          <p:cNvSpPr/>
          <p:nvPr/>
        </p:nvSpPr>
        <p:spPr>
          <a:xfrm>
            <a:off x="2560320" y="1325880"/>
            <a:ext cx="1920240" cy="1600200"/>
          </a:xfrm>
          <a:prstGeom prst="roundRect">
            <a:avLst>
              <a:gd name="adj" fmla="val 5714"/>
            </a:avLst>
          </a:prstGeom>
          <a:solidFill>
            <a:schemeClr val="bg1"/>
          </a:solidFill>
          <a:ln/>
          <a:effectLst>
            <a:outerShdw sx="100000" sy="100000" kx="0" ky="0" algn="bl" rotWithShape="0" blurRad="101600" dist="25400" dir="5400000">
              <a:srgbClr val="0B1A2E">
                <a:alpha val="8000"/>
              </a:srgbClr>
            </a:outerShdw>
          </a:effectLst>
        </p:spPr>
      </p:sp>
      <p:sp>
        <p:nvSpPr>
          <p:cNvPr id="8" name="Text 6"/>
          <p:cNvSpPr txBox="1"/>
          <p:nvPr/>
        </p:nvSpPr>
        <p:spPr>
          <a:xfrm>
            <a:off x="2743200" y="1463040"/>
            <a:ext cx="1554480" cy="777240"/>
          </a:xfrm>
          <a:prstGeom prst="rect">
            <a:avLst/>
          </a:prstGeom>
          <a:noFill/>
          <a:ln/>
        </p:spPr>
        <p:txBody>
          <a:bodyPr wrap="square" lIns="0" tIns="0" rIns="0" bIns="0" rtlCol="0" anchor="ctr"/>
          <a:lstStyle/>
          <a:p>
            <a:pPr indent="0" marL="0">
              <a:buNone/>
            </a:pPr>
            <a:r>
              <a:rPr lang="en-US" sz="3600" b="1" dirty="0">
                <a:solidFill>
                  <a:schemeClr val="accent1"/>
                </a:solidFill>
                <a:latin typeface="+mj-lt" pitchFamily="34" charset="0"/>
                <a:ea typeface="+mj-lt" pitchFamily="34" charset="-122"/>
                <a:cs typeface="+mj-lt" pitchFamily="34" charset="-120"/>
              </a:rPr>
              <a:t>0%</a:t>
            </a:r>
            <a:endParaRPr lang="en-US" sz="3600" dirty="0"/>
          </a:p>
        </p:txBody>
      </p:sp>
      <p:sp>
        <p:nvSpPr>
          <p:cNvPr id="9" name="Text 7"/>
          <p:cNvSpPr txBox="1"/>
          <p:nvPr/>
        </p:nvSpPr>
        <p:spPr>
          <a:xfrm>
            <a:off x="2743200" y="2286000"/>
            <a:ext cx="1554480" cy="502920"/>
          </a:xfrm>
          <a:prstGeom prst="rect">
            <a:avLst/>
          </a:prstGeom>
          <a:noFill/>
          <a:ln/>
        </p:spPr>
        <p:txBody>
          <a:bodyPr wrap="square" lIns="0" tIns="0" rIns="0" bIns="0" rtlCol="0" anchor="t"/>
          <a:lstStyle/>
          <a:p>
            <a:pPr indent="0" marL="0">
              <a:buNone/>
            </a:pPr>
            <a:r>
              <a:rPr lang="en-US" sz="1300" dirty="0">
                <a:solidFill>
                  <a:schemeClr val="accent6"/>
                </a:solidFill>
              </a:rPr>
              <a:t>false rejects</a:t>
            </a:r>
            <a:endParaRPr lang="en-US" sz="1300" dirty="0"/>
          </a:p>
        </p:txBody>
      </p:sp>
      <p:sp>
        <p:nvSpPr>
          <p:cNvPr id="10" name="stat 3"/>
          <p:cNvSpPr/>
          <p:nvPr/>
        </p:nvSpPr>
        <p:spPr>
          <a:xfrm>
            <a:off x="4663440" y="1325880"/>
            <a:ext cx="1920240" cy="1600200"/>
          </a:xfrm>
          <a:prstGeom prst="roundRect">
            <a:avLst>
              <a:gd name="adj" fmla="val 5714"/>
            </a:avLst>
          </a:prstGeom>
          <a:solidFill>
            <a:schemeClr val="bg1"/>
          </a:solidFill>
          <a:ln/>
          <a:effectLst>
            <a:outerShdw sx="100000" sy="100000" kx="0" ky="0" algn="bl" rotWithShape="0" blurRad="101600" dist="25400" dir="5400000">
              <a:srgbClr val="0B1A2E">
                <a:alpha val="8000"/>
              </a:srgbClr>
            </a:outerShdw>
          </a:effectLst>
        </p:spPr>
      </p:sp>
      <p:sp>
        <p:nvSpPr>
          <p:cNvPr id="11" name="Text 9"/>
          <p:cNvSpPr txBox="1"/>
          <p:nvPr/>
        </p:nvSpPr>
        <p:spPr>
          <a:xfrm>
            <a:off x="4846320" y="1463040"/>
            <a:ext cx="1554480" cy="777240"/>
          </a:xfrm>
          <a:prstGeom prst="rect">
            <a:avLst/>
          </a:prstGeom>
          <a:noFill/>
          <a:ln/>
        </p:spPr>
        <p:txBody>
          <a:bodyPr wrap="square" lIns="0" tIns="0" rIns="0" bIns="0" rtlCol="0" anchor="ctr"/>
          <a:lstStyle/>
          <a:p>
            <a:pPr indent="0" marL="0">
              <a:buNone/>
            </a:pPr>
            <a:r>
              <a:rPr lang="en-US" sz="3600" b="1" dirty="0">
                <a:solidFill>
                  <a:schemeClr val="accent1"/>
                </a:solidFill>
                <a:latin typeface="+mj-lt" pitchFamily="34" charset="0"/>
                <a:ea typeface="+mj-lt" pitchFamily="34" charset="-122"/>
                <a:cs typeface="+mj-lt" pitchFamily="34" charset="-120"/>
              </a:rPr>
              <a:t>171 ms</a:t>
            </a:r>
            <a:endParaRPr lang="en-US" sz="3600" dirty="0"/>
          </a:p>
        </p:txBody>
      </p:sp>
      <p:sp>
        <p:nvSpPr>
          <p:cNvPr id="12" name="Text 10"/>
          <p:cNvSpPr txBox="1"/>
          <p:nvPr/>
        </p:nvSpPr>
        <p:spPr>
          <a:xfrm>
            <a:off x="4846320" y="2286000"/>
            <a:ext cx="1554480" cy="502920"/>
          </a:xfrm>
          <a:prstGeom prst="rect">
            <a:avLst/>
          </a:prstGeom>
          <a:noFill/>
          <a:ln/>
        </p:spPr>
        <p:txBody>
          <a:bodyPr wrap="square" lIns="0" tIns="0" rIns="0" bIns="0" rtlCol="0" anchor="t"/>
          <a:lstStyle/>
          <a:p>
            <a:pPr indent="0" marL="0">
              <a:buNone/>
            </a:pPr>
            <a:r>
              <a:rPr lang="en-US" sz="1300" dirty="0">
                <a:solidFill>
                  <a:schemeClr val="accent6"/>
                </a:solidFill>
              </a:rPr>
              <a:t>p95, YOLO fast path</a:t>
            </a:r>
            <a:endParaRPr lang="en-US" sz="1300" dirty="0"/>
          </a:p>
        </p:txBody>
      </p:sp>
      <p:sp>
        <p:nvSpPr>
          <p:cNvPr id="13" name="stat 4"/>
          <p:cNvSpPr/>
          <p:nvPr/>
        </p:nvSpPr>
        <p:spPr>
          <a:xfrm>
            <a:off x="6766560" y="1325880"/>
            <a:ext cx="1920240" cy="1600200"/>
          </a:xfrm>
          <a:prstGeom prst="roundRect">
            <a:avLst>
              <a:gd name="adj" fmla="val 5714"/>
            </a:avLst>
          </a:prstGeom>
          <a:solidFill>
            <a:schemeClr val="bg1"/>
          </a:solidFill>
          <a:ln/>
          <a:effectLst>
            <a:outerShdw sx="100000" sy="100000" kx="0" ky="0" algn="bl" rotWithShape="0" blurRad="101600" dist="25400" dir="5400000">
              <a:srgbClr val="0B1A2E">
                <a:alpha val="8000"/>
              </a:srgbClr>
            </a:outerShdw>
          </a:effectLst>
        </p:spPr>
      </p:sp>
      <p:sp>
        <p:nvSpPr>
          <p:cNvPr id="14" name="Text 12"/>
          <p:cNvSpPr txBox="1"/>
          <p:nvPr/>
        </p:nvSpPr>
        <p:spPr>
          <a:xfrm>
            <a:off x="6949440" y="1463040"/>
            <a:ext cx="1554480" cy="777240"/>
          </a:xfrm>
          <a:prstGeom prst="rect">
            <a:avLst/>
          </a:prstGeom>
          <a:noFill/>
          <a:ln/>
        </p:spPr>
        <p:txBody>
          <a:bodyPr wrap="square" lIns="0" tIns="0" rIns="0" bIns="0" rtlCol="0" anchor="ctr"/>
          <a:lstStyle/>
          <a:p>
            <a:pPr indent="0" marL="0">
              <a:buNone/>
            </a:pPr>
            <a:r>
              <a:rPr lang="en-US" sz="3600" b="1" dirty="0">
                <a:solidFill>
                  <a:schemeClr val="accent1"/>
                </a:solidFill>
                <a:latin typeface="+mj-lt" pitchFamily="34" charset="0"/>
                <a:ea typeface="+mj-lt" pitchFamily="34" charset="-122"/>
                <a:cs typeface="+mj-lt" pitchFamily="34" charset="-120"/>
              </a:rPr>
              <a:t>$0.07</a:t>
            </a:r>
            <a:endParaRPr lang="en-US" sz="3600" dirty="0"/>
          </a:p>
        </p:txBody>
      </p:sp>
      <p:sp>
        <p:nvSpPr>
          <p:cNvPr id="15" name="Text 13"/>
          <p:cNvSpPr txBox="1"/>
          <p:nvPr/>
        </p:nvSpPr>
        <p:spPr>
          <a:xfrm>
            <a:off x="6949440" y="2286000"/>
            <a:ext cx="1554480" cy="502920"/>
          </a:xfrm>
          <a:prstGeom prst="rect">
            <a:avLst/>
          </a:prstGeom>
          <a:noFill/>
          <a:ln/>
        </p:spPr>
        <p:txBody>
          <a:bodyPr wrap="square" lIns="0" tIns="0" rIns="0" bIns="0" rtlCol="0" anchor="t"/>
          <a:lstStyle/>
          <a:p>
            <a:pPr indent="0" marL="0">
              <a:buNone/>
            </a:pPr>
            <a:r>
              <a:rPr lang="en-US" sz="1300" dirty="0">
                <a:solidFill>
                  <a:schemeClr val="accent6"/>
                </a:solidFill>
              </a:rPr>
              <a:t>Gemini per 1,000 parts</a:t>
            </a:r>
            <a:endParaRPr lang="en-US" sz="1300" dirty="0"/>
          </a:p>
        </p:txBody>
      </p:sp>
      <p:pic>
        <p:nvPicPr>
          <p:cNvPr id="16" name="Image 0" descr="Limits">    </p:cNvPr>
          <p:cNvPicPr>
            <a:picLocks noChangeAspect="1"/>
          </p:cNvPicPr>
          <p:nvPr/>
        </p:nvPicPr>
        <p:blipFill>
          <a:blip r:embed="rId1"/>
          <a:stretch>
            <a:fillRect/>
          </a:stretch>
        </p:blipFill>
        <p:spPr>
          <a:xfrm>
            <a:off x="457200" y="3246120"/>
            <a:ext cx="237744" cy="237744"/>
          </a:xfrm>
          <a:prstGeom prst="rect">
            <a:avLst/>
          </a:prstGeom>
        </p:spPr>
      </p:pic>
      <p:sp>
        <p:nvSpPr>
          <p:cNvPr id="17" name="Text 14"/>
          <p:cNvSpPr txBox="1"/>
          <p:nvPr/>
        </p:nvSpPr>
        <p:spPr>
          <a:xfrm>
            <a:off x="822960" y="3182112"/>
            <a:ext cx="7863840" cy="914400"/>
          </a:xfrm>
          <a:prstGeom prst="rect">
            <a:avLst/>
          </a:prstGeom>
          <a:noFill/>
          <a:ln/>
        </p:spPr>
        <p:txBody>
          <a:bodyPr wrap="square" lIns="0" tIns="0" rIns="0" bIns="0" rtlCol="0" anchor="t"/>
          <a:lstStyle/>
          <a:p>
            <a:pPr indent="0" marL="0">
              <a:buNone/>
            </a:pPr>
            <a:r>
              <a:rPr lang="en-US" sz="1300" b="1" dirty="0">
                <a:solidFill>
                  <a:schemeClr val="tx1"/>
                </a:solidFill>
              </a:rPr>
              <a:t>Honest limits. </a:t>
            </a:r>
            <a:pPr indent="0" marL="0">
              <a:buNone/>
            </a:pPr>
            <a:r>
              <a:rPr lang="en-US" sz="1300" dirty="0">
                <a:solidFill>
                  <a:schemeClr val="accent6"/>
                </a:solidFill>
              </a:rPr>
              <a:t>Rule cards and process history in this demo are synthetic; the robot is simulated; the Gemini path is measured on only 2 golden-set parts. Next: one real expert video and one real plant log.</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822960"/>
            <a:ext cx="4206240" cy="320040"/>
          </a:xfrm>
          <a:prstGeom prst="rect">
            <a:avLst/>
          </a:prstGeom>
          <a:noFill/>
          <a:ln/>
        </p:spPr>
        <p:txBody>
          <a:bodyPr wrap="square" lIns="0" tIns="0" rIns="0" bIns="0" rtlCol="0"/>
          <a:lstStyle/>
          <a:p>
            <a:pPr indent="0" marL="0">
              <a:buNone/>
            </a:pPr>
            <a:r>
              <a:rPr lang="en-US" sz="1200" b="1" spc="300" kern="0" dirty="0">
                <a:solidFill>
                  <a:schemeClr val="accent2"/>
                </a:solidFill>
              </a:rPr>
              <a:t>TRY IT LIVE</a:t>
            </a:r>
            <a:endParaRPr lang="en-US" sz="1200" dirty="0"/>
          </a:p>
        </p:txBody>
      </p:sp>
      <p:sp>
        <p:nvSpPr>
          <p:cNvPr id="3" name="Text 0"/>
          <p:cNvSpPr/>
          <p:nvPr>
            <p:ph idx="101" type="title" hasCustomPrompt="1"/>
          </p:nvPr>
        </p:nvSpPr>
        <p:spPr>
          <a:xfrm>
            <a:off x="548640" y="1188720"/>
            <a:ext cx="4297680" cy="1828800"/>
          </a:xfrm>
          <a:prstGeom prst="rect">
            <a:avLst/>
          </a:prstGeom>
          <a:noFill/>
          <a:ln/>
        </p:spPr>
        <p:txBody>
          <a:bodyPr wrap="square" lIns="0" tIns="0" rIns="0" bIns="0" rtlCol="0" anchor="t"/>
          <a:lstStyle/>
          <a:p>
            <a:pPr algn="l" indent="0" marL="0">
              <a:buNone/>
            </a:pPr>
            <a:r>
              <a:rPr lang="en-US" sz="3600" b="1" dirty="0">
                <a:solidFill>
                  <a:schemeClr val="bg1"/>
                </a:solidFill>
                <a:latin typeface="+mj-lt" pitchFamily="34" charset="0"/>
                <a:ea typeface="+mj-lt" pitchFamily="34" charset="-122"/>
                <a:cs typeface="+mj-lt" pitchFamily="34" charset="-120"/>
              </a:rPr>
              <a:t>Teach once. Inspect every part. Fix it right.</a:t>
            </a:r>
            <a:endParaRPr lang="en-US" sz="3600" dirty="0"/>
          </a:p>
        </p:txBody>
      </p:sp>
      <p:sp>
        <p:nvSpPr>
          <p:cNvPr id="4" name="Text 0"/>
          <p:cNvSpPr/>
          <p:nvPr>
            <p:ph idx="102" type="body" hasCustomPrompt="1"/>
          </p:nvPr>
        </p:nvSpPr>
        <p:spPr>
          <a:xfrm>
            <a:off x="548640" y="3154680"/>
            <a:ext cx="4114800" cy="1097280"/>
          </a:xfrm>
          <a:prstGeom prst="rect">
            <a:avLst/>
          </a:prstGeom>
          <a:noFill/>
          <a:ln/>
        </p:spPr>
        <p:txBody>
          <a:bodyPr wrap="square" lIns="0" tIns="0" rIns="0" bIns="0" rtlCol="0" anchor="t"/>
          <a:lstStyle/>
          <a:p>
            <a:pPr indent="0" marL="0">
              <a:buNone/>
            </a:pPr>
            <a:r>
              <a:rPr lang="en-US" sz="1500" b="1" dirty="0">
                <a:solidFill>
                  <a:srgbClr val="FFFFFF"/>
                </a:solidFill>
              </a:rPr>
              <a:t>senpaiqc-568251697792.us-central1.run.app</a:t>
            </a:r>
            <a:endParaRPr lang="en-US" sz="1500" dirty="0"/>
          </a:p>
          <a:p>
            <a:pPr indent="0" marL="0">
              <a:buNone/>
            </a:pPr>
            <a:r>
              <a:rPr lang="en-US" sz="1500" dirty="0">
                <a:solidFill>
                  <a:srgbClr val="8FA3BF"/>
                </a:solidFill>
              </a:rPr>
              <a:t>Access token in the submission notes</a:t>
            </a:r>
            <a:endParaRPr lang="en-US" sz="1500" dirty="0"/>
          </a:p>
        </p:txBody>
      </p:sp>
      <p:sp>
        <p:nvSpPr>
          <p:cNvPr id="5" name="frame m_inspect"/>
          <p:cNvSpPr/>
          <p:nvPr/>
        </p:nvSpPr>
        <p:spPr>
          <a:xfrm>
            <a:off x="5911498" y="411480"/>
            <a:ext cx="2075883" cy="4343400"/>
          </a:xfrm>
          <a:prstGeom prst="roundRect">
            <a:avLst>
              <a:gd name="adj" fmla="val 3524"/>
            </a:avLst>
          </a:prstGeom>
          <a:solidFill>
            <a:schemeClr val="bg1"/>
          </a:solidFill>
          <a:ln w="9525">
            <a:solidFill>
              <a:srgbClr val="D5E3F0"/>
            </a:solidFill>
            <a:prstDash val="solid"/>
          </a:ln>
          <a:effectLst>
            <a:outerShdw sx="100000" sy="100000" kx="0" ky="0" algn="bl" rotWithShape="0" blurRad="127000" dist="38100" dir="5400000">
              <a:srgbClr val="0B1A2E">
                <a:alpha val="14000"/>
              </a:srgbClr>
            </a:outerShdw>
          </a:effectLst>
        </p:spPr>
      </p:sp>
      <p:pic>
        <p:nvPicPr>
          <p:cNvPr id="6" name="screenshot m_inspect" descr="SenpaiQC on a phone">    </p:cNvPr>
          <p:cNvPicPr>
            <a:picLocks noChangeAspect="1"/>
          </p:cNvPicPr>
          <p:nvPr/>
        </p:nvPicPr>
        <p:blipFill>
          <a:blip r:embed="rId1"/>
          <a:stretch>
            <a:fillRect/>
          </a:stretch>
        </p:blipFill>
        <p:spPr>
          <a:xfrm>
            <a:off x="5975506" y="475488"/>
            <a:ext cx="1947867" cy="4215384"/>
          </a:xfrm>
          <a:prstGeom prst="rect">
            <a:avLst/>
          </a:prstGeom>
        </p:spPr>
      </p:pic>
    </p:spTree>
  </p:cSld>
  <p:clrMapOvr>
    <a:masterClrMapping/>
  </p:clrMapOvr>
</p:sld>
</file>

<file path=ppt/theme/theme1.xml><?xml version="1.0" encoding="utf-8"?>
<a:theme xmlns:a="http://schemas.openxmlformats.org/drawingml/2006/main" name="SenpaiQC">
  <a:themeElements>
    <a:clrScheme name="SenpaiQC">
      <a:dk1>
        <a:srgbClr val="14213D"/>
      </a:dk1>
      <a:lt1>
        <a:srgbClr val="FFFFFF"/>
      </a:lt1>
      <a:dk2>
        <a:srgbClr val="0B1A2E"/>
      </a:dk2>
      <a:lt2>
        <a:srgbClr val="EAF4FB"/>
      </a:lt2>
      <a:accent1>
        <a:srgbClr val="1D4ED8"/>
      </a:accent1>
      <a:accent2>
        <a:srgbClr val="0F8A7E"/>
      </a:accent2>
      <a:accent3>
        <a:srgbClr val="E0A100"/>
      </a:accent3>
      <a:accent4>
        <a:srgbClr val="C2410C"/>
      </a:accent4>
      <a:accent5>
        <a:srgbClr val="15803D"/>
      </a:accent5>
      <a:accent6>
        <a:srgbClr val="5B6B80"/>
      </a:accent6>
      <a:hlink>
        <a:srgbClr val="1D4ED8"/>
      </a:hlink>
      <a:folHlink>
        <a:srgbClr val="0F8A7E"/>
      </a:folHlink>
    </a:clrScheme>
    <a:fontScheme name="SenpaiQC">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SenpaiQC demo</dc:title>
  <dc:subject>PptxGenJS Presentation</dc:subject>
  <dc:creator>Simon Surya Keban</dc:creator>
  <cp:lastModifiedBy>Simon Surya Keban</cp:lastModifiedBy>
  <cp:revision>1</cp:revision>
  <dcterms:created xsi:type="dcterms:W3CDTF">2026-10-18T12:42:35Z</dcterms:created>
  <dcterms:modified xsi:type="dcterms:W3CDTF">2026-10-18T12:42:35Z</dcterms:modified>
</cp:coreProperties>
</file>