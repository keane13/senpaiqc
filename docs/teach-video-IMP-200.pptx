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aching video" id="{c37421a4-9c83-6691-7ce7-eccdc446d2c9}">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OPENING
"I'm [name], a QC inspector. This is part IMP-200, a cast impeller. I'll walk through the four most common defects, and when a part passes, needs rework, or must be scrapped. This is a good part: the hub surface is smooth, with no dark spots."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[0:15-0:50] POROSITY
"First defect: porosity. You see round pinholes, clusters of small dark dots, or dull spots near the hub. It usually shows up at the hub and the blade root. To see it, tilt the part about 30 degrees so the light rakes across the hub surface. The pinholes show as dark dots with a bright rim. The limit: at most 2 pinholes under 0.5 millimetres outside the sealing face, and none at all on the sealing face. This is rework: grind the area flush, and fill it with approved epoxy if it is less than 1 millimetre deep. If any pinhole is on the sealing face, scrap the part."
(Point at the small dots on the left side of the 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[0:50-1:20] SHRINKAGE
"Second: shrinkage. The cavity is irregular and jagged, with a branch-like, dendritic texture inside, and the surface looks sunken. It forms in the thick sections at the hub. Tilt the part 45 degrees toward the light and look into the thick hub section. The limit: no visible shrinkage cavity on any machined face. This is rework: mark the cavity, send it to weld repair, re-machine it, and inspect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[1:20-1:50] CRACK
"Third, and the most dangerous: crack. It is a thin dark line that follows a blade edge or the outer rim. Rotate the part about minus 20 degrees and follow each blade edge and the outer rim under low-angle light. The limit is zero, there is no tolerance. This is scrap. Do not rework it, and tag the mould for inspection."
(Point at the line on the lower-left of the 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[1:50-2:20] BURR
"Fourth: burr, or flash. You see a raised, rough edge, a thin fin of metal along the parting line of the mould, on the outer rim. View the part edge-on, at about 80 degrees, so the raised flash stands out against the background. Flash under 0.3 millimetres high is acceptable. Above that it is a minor defect: deburr it with a hand file along the parting line, blow off the chips, and re-inspect the edge."
(Point at the rough edge along the 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[2:20-2:30] CLOSING
"Those are the four defects for IMP-200. When in doubt, hold the part and ask QC."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75488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43200"/>
            <a:ext cx="4754880" cy="1463040"/>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EC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0" y="365760"/>
            <a:ext cx="2743200" cy="5486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822960"/>
            <a:ext cx="4754880" cy="365760"/>
          </a:xfrm>
          <a:prstGeom prst="rect">
            <a:avLst/>
          </a:prstGeom>
          <a:noFill/>
          <a:ln/>
        </p:spPr>
        <p:txBody>
          <a:bodyPr wrap="square" lIns="0" tIns="0" rIns="0" bIns="0" rtlCol="0" anchor="ctr"/>
          <a:lstStyle/>
          <a:p>
            <a:pPr indent="0" marL="0">
              <a:buNone/>
            </a:pPr>
            <a:r>
              <a:rPr lang="en-US" sz="1400" b="1" spc="200" kern="0" dirty="0">
                <a:solidFill>
                  <a:schemeClr val="accent1"/>
                </a:solidFill>
              </a:rPr>
              <a:t>Part IMP-200</a:t>
            </a:r>
            <a:endParaRPr lang="en-US" sz="1400" dirty="0"/>
          </a:p>
        </p:txBody>
      </p:sp>
      <p:sp>
        <p:nvSpPr>
          <p:cNvPr id="3" name="Text 0"/>
          <p:cNvSpPr/>
          <p:nvPr>
            <p:ph idx="100" type="title" hasCustomPrompt="1"/>
          </p:nvPr>
        </p:nvSpPr>
        <p:spPr>
          <a:xfrm>
            <a:off x="548640" y="1371600"/>
            <a:ext cx="4754880" cy="1280160"/>
          </a:xfrm>
          <a:prstGeom prst="rect">
            <a:avLst/>
          </a:prstGeom>
          <a:noFill/>
          <a:ln/>
        </p:spPr>
        <p:txBody>
          <a:bodyPr wrap="square" lIns="0" tIns="0" rIns="0" bIns="0" rtlCol="0" anchor="t"/>
          <a:lstStyle/>
          <a:p>
            <a:pPr algn="l" indent="0" marL="0">
              <a:buNone/>
            </a:pPr>
            <a:r>
              <a:rPr lang="en-US" sz="4000" b="1" dirty="0">
                <a:solidFill>
                  <a:schemeClr val="bg1"/>
                </a:solidFill>
              </a:rPr>
              <a:t>Four casting defects on the impeller</a:t>
            </a:r>
            <a:endParaRPr lang="en-US" sz="4000" dirty="0"/>
          </a:p>
        </p:txBody>
      </p:sp>
      <p:sp>
        <p:nvSpPr>
          <p:cNvPr id="4" name="Text 0"/>
          <p:cNvSpPr/>
          <p:nvPr>
            <p:ph idx="101" type="body" hasCustomPrompt="1"/>
          </p:nvPr>
        </p:nvSpPr>
        <p:spPr>
          <a:xfrm>
            <a:off x="548640" y="2743200"/>
            <a:ext cx="4754880" cy="1463040"/>
          </a:xfrm>
          <a:prstGeom prst="rect">
            <a:avLst/>
          </a:prstGeom>
          <a:noFill/>
          <a:ln/>
        </p:spPr>
        <p:txBody>
          <a:bodyPr wrap="square" lIns="0" tIns="0" rIns="0" bIns="0" rtlCol="0" anchor="t"/>
          <a:lstStyle/>
          <a:p>
            <a:pPr algn="l" indent="0" marL="0">
              <a:buNone/>
            </a:pPr>
            <a:r>
              <a:rPr lang="en-US" sz="1600" dirty="0">
                <a:solidFill>
                  <a:schemeClr val="accent6"/>
                </a:solidFill>
              </a:rPr>
              <a:t>When a part passes, goes to rework, or is scrapped. Explained by a senior QC inspector.</a:t>
            </a:r>
            <a:endParaRPr lang="en-US" sz="1600" dirty="0"/>
          </a:p>
        </p:txBody>
      </p:sp>
      <p:sp>
        <p:nvSpPr>
          <p:cNvPr id="5" name="Good part frame"/>
          <p:cNvSpPr/>
          <p:nvPr/>
        </p:nvSpPr>
        <p:spPr>
          <a:xfrm>
            <a:off x="5669280" y="640080"/>
            <a:ext cx="3017520" cy="3566160"/>
          </a:xfrm>
          <a:prstGeom prst="roundRect">
            <a:avLst>
              <a:gd name="adj" fmla="val 4545"/>
            </a:avLst>
          </a:prstGeom>
          <a:solidFill>
            <a:schemeClr val="tx2"/>
          </a:solidFill>
          <a:ln w="12700">
            <a:solidFill>
              <a:schemeClr val="tx2"/>
            </a:solidFill>
            <a:prstDash val="solid"/>
          </a:ln>
        </p:spPr>
      </p:sp>
      <p:pic>
        <p:nvPicPr>
          <p:cNvPr id="6" name="Good part" descr="IMP-200 impeller with no defects">    </p:cNvPr>
          <p:cNvPicPr>
            <a:picLocks noChangeAspect="1"/>
          </p:cNvPicPr>
          <p:nvPr/>
        </p:nvPicPr>
        <p:blipFill>
          <a:blip r:embed="rId1"/>
          <a:stretch>
            <a:fillRect/>
          </a:stretch>
        </p:blipFill>
        <p:spPr>
          <a:xfrm>
            <a:off x="5852160" y="822960"/>
            <a:ext cx="2651760" cy="2651760"/>
          </a:xfrm>
          <a:prstGeom prst="rect">
            <a:avLst/>
          </a:prstGeom>
        </p:spPr>
      </p:pic>
      <p:sp>
        <p:nvSpPr>
          <p:cNvPr id="7" name="Good part caption"/>
          <p:cNvSpPr txBox="1"/>
          <p:nvPr/>
        </p:nvSpPr>
        <p:spPr>
          <a:xfrm>
            <a:off x="5852160" y="3566160"/>
            <a:ext cx="2651760" cy="457200"/>
          </a:xfrm>
          <a:prstGeom prst="rect">
            <a:avLst/>
          </a:prstGeom>
          <a:noFill/>
          <a:ln/>
        </p:spPr>
        <p:txBody>
          <a:bodyPr wrap="square" lIns="0" tIns="0" rIns="0" bIns="0" rtlCol="0" anchor="ctr"/>
          <a:lstStyle/>
          <a:p>
            <a:pPr indent="0" marL="0">
              <a:buNone/>
            </a:pPr>
            <a:r>
              <a:rPr lang="en-US" sz="1200" b="1" dirty="0">
                <a:solidFill>
                  <a:schemeClr val="accent4"/>
                </a:solidFill>
              </a:rPr>
              <a:t>GOOD PART  </a:t>
            </a:r>
            <a:pPr indent="0" marL="0">
              <a:buNone/>
            </a:pPr>
            <a:r>
              <a:rPr lang="en-US" sz="1200" dirty="0">
                <a:solidFill>
                  <a:schemeClr val="bg1"/>
                </a:solidFill>
              </a:rPr>
              <a:t>smooth hub, no dark spots</a:t>
            </a:r>
            <a:endParaRPr lang="en-US" sz="1200" dirty="0"/>
          </a:p>
        </p:txBody>
      </p:sp>
      <p:sp>
        <p:nvSpPr>
          <p:cNvPr id="8" name="Source"/>
          <p:cNvSpPr txBox="1"/>
          <p:nvPr/>
        </p:nvSpPr>
        <p:spPr>
          <a:xfrm>
            <a:off x="548640" y="45720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Images: Kaggle casting dataset (illustrative)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hoto frame"/>
          <p:cNvSpPr/>
          <p:nvPr/>
        </p:nvSpPr>
        <p:spPr>
          <a:xfrm>
            <a:off x="457200" y="457200"/>
            <a:ext cx="3749040" cy="4206240"/>
          </a:xfrm>
          <a:prstGeom prst="roundRect">
            <a:avLst>
              <a:gd name="adj" fmla="val 3659"/>
            </a:avLst>
          </a:prstGeom>
          <a:solidFill>
            <a:schemeClr val="tx1"/>
          </a:solidFill>
          <a:ln w="12700">
            <a:solidFill>
              <a:schemeClr val="tx1"/>
            </a:solidFill>
            <a:prstDash val="solid"/>
          </a:ln>
        </p:spPr>
      </p:sp>
      <p:pic>
        <p:nvPicPr>
          <p:cNvPr id="3" name="Defect photo" descr="Example of porosity on IMP-200">    </p:cNvPr>
          <p:cNvPicPr>
            <a:picLocks noChangeAspect="1"/>
          </p:cNvPicPr>
          <p:nvPr/>
        </p:nvPicPr>
        <p:blipFill>
          <a:blip r:embed="rId1"/>
          <a:stretch>
            <a:fillRect/>
          </a:stretch>
        </p:blipFill>
        <p:spPr>
          <a:xfrm>
            <a:off x="640080" y="640080"/>
            <a:ext cx="3383280" cy="3383280"/>
          </a:xfrm>
          <a:prstGeom prst="rect">
            <a:avLst/>
          </a:prstGeom>
        </p:spPr>
      </p:pic>
      <p:sp>
        <p:nvSpPr>
          <p:cNvPr id="4" name="Photo caption"/>
          <p:cNvSpPr txBox="1"/>
          <p:nvPr/>
        </p:nvSpPr>
        <p:spPr>
          <a:xfrm>
            <a:off x="640080" y="4114800"/>
            <a:ext cx="3383280" cy="365760"/>
          </a:xfrm>
          <a:prstGeom prst="rect">
            <a:avLst/>
          </a:prstGeom>
          <a:noFill/>
          <a:ln/>
        </p:spPr>
        <p:txBody>
          <a:bodyPr wrap="square" lIns="0" tIns="0" rIns="0" bIns="0" rtlCol="0" anchor="ctr"/>
          <a:lstStyle/>
          <a:p>
            <a:pPr indent="0" marL="0">
              <a:buNone/>
            </a:pPr>
            <a:r>
              <a:rPr lang="en-US" sz="1100" dirty="0">
                <a:solidFill>
                  <a:schemeClr val="accent6"/>
                </a:solidFill>
              </a:rPr>
              <a:t>Defect 1 of 4  ·  example dataset image</a:t>
            </a:r>
            <a:endParaRPr lang="en-US" sz="1100" dirty="0"/>
          </a:p>
        </p:txBody>
      </p:sp>
      <p:sp>
        <p:nvSpPr>
          <p:cNvPr id="5" name="Text 0"/>
          <p:cNvSpPr/>
          <p:nvPr>
            <p:ph idx="100" type="title" hasCustomPrompt="1"/>
          </p:nvPr>
        </p:nvSpPr>
        <p:spPr>
          <a:xfrm>
            <a:off x="4572000" y="365760"/>
            <a:ext cx="2743200" cy="548640"/>
          </a:xfrm>
          <a:prstGeom prst="rect">
            <a:avLst/>
          </a:prstGeom>
          <a:noFill/>
          <a:ln/>
        </p:spPr>
        <p:txBody>
          <a:bodyPr wrap="square" lIns="0" tIns="0" rIns="0" bIns="0" rtlCol="0" anchor="ctr"/>
          <a:lstStyle/>
          <a:p>
            <a:pPr algn="l" indent="0" marL="0">
              <a:buNone/>
            </a:pPr>
            <a:r>
              <a:rPr lang="en-US" sz="3600" b="1" dirty="0">
                <a:solidFill>
                  <a:schemeClr val="tx1"/>
                </a:solidFill>
              </a:rPr>
              <a:t>porosity</a:t>
            </a:r>
            <a:endParaRPr lang="en-US" sz="3600" dirty="0"/>
          </a:p>
        </p:txBody>
      </p:sp>
      <p:sp>
        <p:nvSpPr>
          <p:cNvPr id="6" name="Severity chip"/>
          <p:cNvSpPr/>
          <p:nvPr/>
        </p:nvSpPr>
        <p:spPr>
          <a:xfrm>
            <a:off x="7315200" y="457200"/>
            <a:ext cx="1371600" cy="384048"/>
          </a:xfrm>
          <a:prstGeom prst="roundRect">
            <a:avLst>
              <a:gd name="adj" fmla="val 50000"/>
            </a:avLst>
          </a:prstGeom>
          <a:solidFill>
            <a:srgbClr val="D9822B"/>
          </a:solidFill>
          <a:ln w="12700">
            <a:solidFill>
              <a:srgbClr val="D9822B"/>
            </a:solidFill>
            <a:prstDash val="solid"/>
          </a:ln>
        </p:spPr>
      </p:sp>
      <p:sp>
        <p:nvSpPr>
          <p:cNvPr id="7" name="Severity label"/>
          <p:cNvSpPr txBox="1"/>
          <p:nvPr/>
        </p:nvSpPr>
        <p:spPr>
          <a:xfrm>
            <a:off x="7315200" y="457200"/>
            <a:ext cx="1371600" cy="384048"/>
          </a:xfrm>
          <a:prstGeom prst="rect">
            <a:avLst/>
          </a:prstGeom>
          <a:noFill/>
          <a:ln/>
        </p:spPr>
        <p:txBody>
          <a:bodyPr wrap="square" lIns="0" tIns="0" rIns="0" bIns="0" rtlCol="0" anchor="ctr"/>
          <a:lstStyle/>
          <a:p>
            <a:pPr algn="ctr" indent="0" marL="0">
              <a:buNone/>
            </a:pPr>
            <a:r>
              <a:rPr lang="en-US" sz="1300" b="1" dirty="0">
                <a:solidFill>
                  <a:schemeClr val="bg1"/>
                </a:solidFill>
              </a:rPr>
              <a:t>REWORK</a:t>
            </a:r>
            <a:endParaRPr lang="en-US" sz="1300" dirty="0"/>
          </a:p>
        </p:txBody>
      </p:sp>
      <p:sp>
        <p:nvSpPr>
          <p:cNvPr id="8" name="Severity note"/>
          <p:cNvSpPr txBox="1"/>
          <p:nvPr/>
        </p:nvSpPr>
        <p:spPr>
          <a:xfrm>
            <a:off x="6400800" y="868680"/>
            <a:ext cx="2286000" cy="274320"/>
          </a:xfrm>
          <a:prstGeom prst="rect">
            <a:avLst/>
          </a:prstGeom>
          <a:noFill/>
          <a:ln/>
        </p:spPr>
        <p:txBody>
          <a:bodyPr wrap="square" lIns="0" tIns="0" rIns="0" bIns="0" rtlCol="0" anchor="ctr"/>
          <a:lstStyle/>
          <a:p>
            <a:pPr algn="r" indent="0" marL="0">
              <a:buNone/>
            </a:pPr>
            <a:r>
              <a:rPr lang="en-US" sz="1000" dirty="0">
                <a:solidFill>
                  <a:schemeClr val="accent5"/>
                </a:solidFill>
              </a:rPr>
              <a:t>scrap if on the sealing face</a:t>
            </a:r>
            <a:endParaRPr lang="en-US" sz="1000" dirty="0"/>
          </a:p>
        </p:txBody>
      </p:sp>
      <p:sp>
        <p:nvSpPr>
          <p:cNvPr id="9" name="Row band 1"/>
          <p:cNvSpPr/>
          <p:nvPr/>
        </p:nvSpPr>
        <p:spPr>
          <a:xfrm>
            <a:off x="4480560" y="1243584"/>
            <a:ext cx="4251960" cy="640080"/>
          </a:xfrm>
          <a:prstGeom prst="roundRect">
            <a:avLst>
              <a:gd name="adj" fmla="val 11429"/>
            </a:avLst>
          </a:prstGeom>
          <a:solidFill>
            <a:schemeClr val="bg2"/>
          </a:solidFill>
          <a:ln w="12700">
            <a:solidFill>
              <a:schemeClr val="bg2"/>
            </a:solidFill>
            <a:prstDash val="solid"/>
          </a:ln>
        </p:spPr>
      </p:sp>
      <p:sp>
        <p:nvSpPr>
          <p:cNvPr id="10" name="Cues label"/>
          <p:cNvSpPr txBox="1"/>
          <p:nvPr/>
        </p:nvSpPr>
        <p:spPr>
          <a:xfrm>
            <a:off x="4572000" y="1280160"/>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CUES</a:t>
            </a:r>
            <a:endParaRPr lang="en-US" sz="1000" dirty="0"/>
          </a:p>
        </p:txBody>
      </p:sp>
      <p:sp>
        <p:nvSpPr>
          <p:cNvPr id="11" name="Cues text"/>
          <p:cNvSpPr txBox="1"/>
          <p:nvPr/>
        </p:nvSpPr>
        <p:spPr>
          <a:xfrm>
            <a:off x="5669280" y="1280160"/>
            <a:ext cx="2971800" cy="566928"/>
          </a:xfrm>
          <a:prstGeom prst="rect">
            <a:avLst/>
          </a:prstGeom>
          <a:noFill/>
          <a:ln/>
        </p:spPr>
        <p:txBody>
          <a:bodyPr wrap="square" lIns="0" tIns="0" rIns="0" bIns="0" rtlCol="0" anchor="ctr"/>
          <a:lstStyle/>
          <a:p>
            <a:pPr indent="0" marL="0">
              <a:buNone/>
            </a:pPr>
            <a:r>
              <a:rPr lang="en-US" sz="1300" dirty="0">
                <a:solidFill>
                  <a:schemeClr val="tx1"/>
                </a:solidFill>
              </a:rPr>
              <a:t>Round pinholes; clusters of small dark dots; dull spots near the hub</a:t>
            </a:r>
            <a:endParaRPr lang="en-US" sz="1300" dirty="0"/>
          </a:p>
        </p:txBody>
      </p:sp>
      <p:sp>
        <p:nvSpPr>
          <p:cNvPr id="12" name="Location label"/>
          <p:cNvSpPr txBox="1"/>
          <p:nvPr/>
        </p:nvSpPr>
        <p:spPr>
          <a:xfrm>
            <a:off x="4572000" y="1956816"/>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LOCATION</a:t>
            </a:r>
            <a:endParaRPr lang="en-US" sz="1000" dirty="0"/>
          </a:p>
        </p:txBody>
      </p:sp>
      <p:sp>
        <p:nvSpPr>
          <p:cNvPr id="13" name="Location text"/>
          <p:cNvSpPr txBox="1"/>
          <p:nvPr/>
        </p:nvSpPr>
        <p:spPr>
          <a:xfrm>
            <a:off x="5669280" y="1956816"/>
            <a:ext cx="2971800" cy="566928"/>
          </a:xfrm>
          <a:prstGeom prst="rect">
            <a:avLst/>
          </a:prstGeom>
          <a:noFill/>
          <a:ln/>
        </p:spPr>
        <p:txBody>
          <a:bodyPr wrap="square" lIns="0" tIns="0" rIns="0" bIns="0" rtlCol="0" anchor="ctr"/>
          <a:lstStyle/>
          <a:p>
            <a:pPr indent="0" marL="0">
              <a:buNone/>
            </a:pPr>
            <a:r>
              <a:rPr lang="en-US" sz="1300" dirty="0">
                <a:solidFill>
                  <a:schemeClr val="tx1"/>
                </a:solidFill>
              </a:rPr>
              <a:t>Hub and blade root</a:t>
            </a:r>
            <a:endParaRPr lang="en-US" sz="1300" dirty="0"/>
          </a:p>
        </p:txBody>
      </p:sp>
      <p:sp>
        <p:nvSpPr>
          <p:cNvPr id="14" name="Row band 3"/>
          <p:cNvSpPr/>
          <p:nvPr/>
        </p:nvSpPr>
        <p:spPr>
          <a:xfrm>
            <a:off x="4480560" y="2596896"/>
            <a:ext cx="4251960" cy="640080"/>
          </a:xfrm>
          <a:prstGeom prst="roundRect">
            <a:avLst>
              <a:gd name="adj" fmla="val 11429"/>
            </a:avLst>
          </a:prstGeom>
          <a:solidFill>
            <a:schemeClr val="bg2"/>
          </a:solidFill>
          <a:ln w="12700">
            <a:solidFill>
              <a:schemeClr val="bg2"/>
            </a:solidFill>
            <a:prstDash val="solid"/>
          </a:ln>
        </p:spPr>
      </p:sp>
      <p:sp>
        <p:nvSpPr>
          <p:cNvPr id="15" name="How to look label"/>
          <p:cNvSpPr txBox="1"/>
          <p:nvPr/>
        </p:nvSpPr>
        <p:spPr>
          <a:xfrm>
            <a:off x="4572000" y="2633472"/>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HOW TO LOOK</a:t>
            </a:r>
            <a:endParaRPr lang="en-US" sz="1000" dirty="0"/>
          </a:p>
        </p:txBody>
      </p:sp>
      <p:sp>
        <p:nvSpPr>
          <p:cNvPr id="16" name="How to look text"/>
          <p:cNvSpPr txBox="1"/>
          <p:nvPr/>
        </p:nvSpPr>
        <p:spPr>
          <a:xfrm>
            <a:off x="5669280" y="2633472"/>
            <a:ext cx="2971800" cy="566928"/>
          </a:xfrm>
          <a:prstGeom prst="rect">
            <a:avLst/>
          </a:prstGeom>
          <a:noFill/>
          <a:ln/>
        </p:spPr>
        <p:txBody>
          <a:bodyPr wrap="square" lIns="0" tIns="0" rIns="0" bIns="0" rtlCol="0" anchor="ctr"/>
          <a:lstStyle/>
          <a:p>
            <a:pPr indent="0" marL="0">
              <a:buNone/>
            </a:pPr>
            <a:r>
              <a:rPr lang="en-US" sz="1300" dirty="0">
                <a:solidFill>
                  <a:schemeClr val="tx1"/>
                </a:solidFill>
              </a:rPr>
              <a:t>Tilt 30° so light rakes across the hub: dark dots with a bright rim</a:t>
            </a:r>
            <a:endParaRPr lang="en-US" sz="1300" dirty="0"/>
          </a:p>
        </p:txBody>
      </p:sp>
      <p:sp>
        <p:nvSpPr>
          <p:cNvPr id="17" name="Accept limit label"/>
          <p:cNvSpPr txBox="1"/>
          <p:nvPr/>
        </p:nvSpPr>
        <p:spPr>
          <a:xfrm>
            <a:off x="4572000" y="3310128"/>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ACCEPT LIMIT</a:t>
            </a:r>
            <a:endParaRPr lang="en-US" sz="1000" dirty="0"/>
          </a:p>
        </p:txBody>
      </p:sp>
      <p:sp>
        <p:nvSpPr>
          <p:cNvPr id="18" name="Accept limit text"/>
          <p:cNvSpPr txBox="1"/>
          <p:nvPr/>
        </p:nvSpPr>
        <p:spPr>
          <a:xfrm>
            <a:off x="5669280" y="3310128"/>
            <a:ext cx="2971800" cy="566928"/>
          </a:xfrm>
          <a:prstGeom prst="rect">
            <a:avLst/>
          </a:prstGeom>
          <a:noFill/>
          <a:ln/>
        </p:spPr>
        <p:txBody>
          <a:bodyPr wrap="square" lIns="0" tIns="0" rIns="0" bIns="0" rtlCol="0" anchor="ctr"/>
          <a:lstStyle/>
          <a:p>
            <a:pPr indent="0" marL="0">
              <a:buNone/>
            </a:pPr>
            <a:r>
              <a:rPr lang="en-US" sz="1300" dirty="0">
                <a:solidFill>
                  <a:schemeClr val="tx1"/>
                </a:solidFill>
              </a:rPr>
              <a:t>Max 2 pinholes under 0.5 mm outside the sealing face; none on it</a:t>
            </a:r>
            <a:endParaRPr lang="en-US" sz="1300" dirty="0"/>
          </a:p>
        </p:txBody>
      </p:sp>
      <p:sp>
        <p:nvSpPr>
          <p:cNvPr id="19" name="Row band 5"/>
          <p:cNvSpPr/>
          <p:nvPr/>
        </p:nvSpPr>
        <p:spPr>
          <a:xfrm>
            <a:off x="4480560" y="3950208"/>
            <a:ext cx="4251960" cy="640080"/>
          </a:xfrm>
          <a:prstGeom prst="roundRect">
            <a:avLst>
              <a:gd name="adj" fmla="val 11429"/>
            </a:avLst>
          </a:prstGeom>
          <a:solidFill>
            <a:schemeClr val="bg2"/>
          </a:solidFill>
          <a:ln w="12700">
            <a:solidFill>
              <a:schemeClr val="bg2"/>
            </a:solidFill>
            <a:prstDash val="solid"/>
          </a:ln>
        </p:spPr>
      </p:sp>
      <p:sp>
        <p:nvSpPr>
          <p:cNvPr id="20" name="Fix label"/>
          <p:cNvSpPr txBox="1"/>
          <p:nvPr/>
        </p:nvSpPr>
        <p:spPr>
          <a:xfrm>
            <a:off x="4572000" y="3986784"/>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FIX</a:t>
            </a:r>
            <a:endParaRPr lang="en-US" sz="1000" dirty="0"/>
          </a:p>
        </p:txBody>
      </p:sp>
      <p:sp>
        <p:nvSpPr>
          <p:cNvPr id="21" name="Fix text"/>
          <p:cNvSpPr txBox="1"/>
          <p:nvPr/>
        </p:nvSpPr>
        <p:spPr>
          <a:xfrm>
            <a:off x="5669280" y="3986784"/>
            <a:ext cx="2971800" cy="566928"/>
          </a:xfrm>
          <a:prstGeom prst="rect">
            <a:avLst/>
          </a:prstGeom>
          <a:noFill/>
          <a:ln/>
        </p:spPr>
        <p:txBody>
          <a:bodyPr wrap="square" lIns="0" tIns="0" rIns="0" bIns="0" rtlCol="0" anchor="ctr"/>
          <a:lstStyle/>
          <a:p>
            <a:pPr indent="0" marL="0">
              <a:buNone/>
            </a:pPr>
            <a:r>
              <a:rPr lang="en-US" sz="1300" dirty="0">
                <a:solidFill>
                  <a:schemeClr val="tx1"/>
                </a:solidFill>
              </a:rPr>
              <a:t>Grind flush; fill with approved epoxy if under 1 mm deep</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hoto frame"/>
          <p:cNvSpPr/>
          <p:nvPr/>
        </p:nvSpPr>
        <p:spPr>
          <a:xfrm>
            <a:off x="457200" y="457200"/>
            <a:ext cx="3749040" cy="4206240"/>
          </a:xfrm>
          <a:prstGeom prst="roundRect">
            <a:avLst>
              <a:gd name="adj" fmla="val 3659"/>
            </a:avLst>
          </a:prstGeom>
          <a:solidFill>
            <a:schemeClr val="tx1"/>
          </a:solidFill>
          <a:ln w="12700">
            <a:solidFill>
              <a:schemeClr val="tx1"/>
            </a:solidFill>
            <a:prstDash val="solid"/>
          </a:ln>
        </p:spPr>
      </p:sp>
      <p:pic>
        <p:nvPicPr>
          <p:cNvPr id="3" name="Defect photo" descr="Example of shrinkage on IMP-200">    </p:cNvPr>
          <p:cNvPicPr>
            <a:picLocks noChangeAspect="1"/>
          </p:cNvPicPr>
          <p:nvPr/>
        </p:nvPicPr>
        <p:blipFill>
          <a:blip r:embed="rId1"/>
          <a:stretch>
            <a:fillRect/>
          </a:stretch>
        </p:blipFill>
        <p:spPr>
          <a:xfrm>
            <a:off x="640080" y="640080"/>
            <a:ext cx="3383280" cy="3383280"/>
          </a:xfrm>
          <a:prstGeom prst="rect">
            <a:avLst/>
          </a:prstGeom>
        </p:spPr>
      </p:pic>
      <p:sp>
        <p:nvSpPr>
          <p:cNvPr id="4" name="Photo caption"/>
          <p:cNvSpPr txBox="1"/>
          <p:nvPr/>
        </p:nvSpPr>
        <p:spPr>
          <a:xfrm>
            <a:off x="640080" y="4114800"/>
            <a:ext cx="3383280" cy="365760"/>
          </a:xfrm>
          <a:prstGeom prst="rect">
            <a:avLst/>
          </a:prstGeom>
          <a:noFill/>
          <a:ln/>
        </p:spPr>
        <p:txBody>
          <a:bodyPr wrap="square" lIns="0" tIns="0" rIns="0" bIns="0" rtlCol="0" anchor="ctr"/>
          <a:lstStyle/>
          <a:p>
            <a:pPr indent="0" marL="0">
              <a:buNone/>
            </a:pPr>
            <a:r>
              <a:rPr lang="en-US" sz="1100" dirty="0">
                <a:solidFill>
                  <a:schemeClr val="accent6"/>
                </a:solidFill>
              </a:rPr>
              <a:t>Defect 2 of 4  ·  example dataset image</a:t>
            </a:r>
            <a:endParaRPr lang="en-US" sz="1100" dirty="0"/>
          </a:p>
        </p:txBody>
      </p:sp>
      <p:sp>
        <p:nvSpPr>
          <p:cNvPr id="5" name="Text 0"/>
          <p:cNvSpPr/>
          <p:nvPr>
            <p:ph idx="100" type="title" hasCustomPrompt="1"/>
          </p:nvPr>
        </p:nvSpPr>
        <p:spPr>
          <a:xfrm>
            <a:off x="4572000" y="365760"/>
            <a:ext cx="2743200" cy="548640"/>
          </a:xfrm>
          <a:prstGeom prst="rect">
            <a:avLst/>
          </a:prstGeom>
          <a:noFill/>
          <a:ln/>
        </p:spPr>
        <p:txBody>
          <a:bodyPr wrap="square" lIns="0" tIns="0" rIns="0" bIns="0" rtlCol="0" anchor="ctr"/>
          <a:lstStyle/>
          <a:p>
            <a:pPr algn="l" indent="0" marL="0">
              <a:buNone/>
            </a:pPr>
            <a:r>
              <a:rPr lang="en-US" sz="3600" b="1" dirty="0">
                <a:solidFill>
                  <a:schemeClr val="tx1"/>
                </a:solidFill>
              </a:rPr>
              <a:t>shrinkage</a:t>
            </a:r>
            <a:endParaRPr lang="en-US" sz="3600" dirty="0"/>
          </a:p>
        </p:txBody>
      </p:sp>
      <p:sp>
        <p:nvSpPr>
          <p:cNvPr id="6" name="Severity chip"/>
          <p:cNvSpPr/>
          <p:nvPr/>
        </p:nvSpPr>
        <p:spPr>
          <a:xfrm>
            <a:off x="7315200" y="457200"/>
            <a:ext cx="1371600" cy="384048"/>
          </a:xfrm>
          <a:prstGeom prst="roundRect">
            <a:avLst>
              <a:gd name="adj" fmla="val 50000"/>
            </a:avLst>
          </a:prstGeom>
          <a:solidFill>
            <a:srgbClr val="D9822B"/>
          </a:solidFill>
          <a:ln w="12700">
            <a:solidFill>
              <a:srgbClr val="D9822B"/>
            </a:solidFill>
            <a:prstDash val="solid"/>
          </a:ln>
        </p:spPr>
      </p:sp>
      <p:sp>
        <p:nvSpPr>
          <p:cNvPr id="7" name="Severity label"/>
          <p:cNvSpPr txBox="1"/>
          <p:nvPr/>
        </p:nvSpPr>
        <p:spPr>
          <a:xfrm>
            <a:off x="7315200" y="457200"/>
            <a:ext cx="1371600" cy="384048"/>
          </a:xfrm>
          <a:prstGeom prst="rect">
            <a:avLst/>
          </a:prstGeom>
          <a:noFill/>
          <a:ln/>
        </p:spPr>
        <p:txBody>
          <a:bodyPr wrap="square" lIns="0" tIns="0" rIns="0" bIns="0" rtlCol="0" anchor="ctr"/>
          <a:lstStyle/>
          <a:p>
            <a:pPr algn="ctr" indent="0" marL="0">
              <a:buNone/>
            </a:pPr>
            <a:r>
              <a:rPr lang="en-US" sz="1300" b="1" dirty="0">
                <a:solidFill>
                  <a:schemeClr val="bg1"/>
                </a:solidFill>
              </a:rPr>
              <a:t>REWORK</a:t>
            </a:r>
            <a:endParaRPr lang="en-US" sz="1300" dirty="0"/>
          </a:p>
        </p:txBody>
      </p:sp>
      <p:sp>
        <p:nvSpPr>
          <p:cNvPr id="8" name="Severity note"/>
          <p:cNvSpPr txBox="1"/>
          <p:nvPr/>
        </p:nvSpPr>
        <p:spPr>
          <a:xfrm>
            <a:off x="6400800" y="868680"/>
            <a:ext cx="2286000" cy="274320"/>
          </a:xfrm>
          <a:prstGeom prst="rect">
            <a:avLst/>
          </a:prstGeom>
          <a:noFill/>
          <a:ln/>
        </p:spPr>
        <p:txBody>
          <a:bodyPr wrap="square" lIns="0" tIns="0" rIns="0" bIns="0" rtlCol="0" anchor="ctr"/>
          <a:lstStyle/>
          <a:p>
            <a:pPr algn="r" indent="0" marL="0">
              <a:buNone/>
            </a:pPr>
            <a:r>
              <a:rPr lang="en-US" sz="1000" dirty="0">
                <a:solidFill>
                  <a:schemeClr val="accent5"/>
                </a:solidFill>
              </a:rPr>
              <a:t>weld repair</a:t>
            </a:r>
            <a:endParaRPr lang="en-US" sz="1000" dirty="0"/>
          </a:p>
        </p:txBody>
      </p:sp>
      <p:sp>
        <p:nvSpPr>
          <p:cNvPr id="9" name="Row band 1"/>
          <p:cNvSpPr/>
          <p:nvPr/>
        </p:nvSpPr>
        <p:spPr>
          <a:xfrm>
            <a:off x="4480560" y="1243584"/>
            <a:ext cx="4251960" cy="640080"/>
          </a:xfrm>
          <a:prstGeom prst="roundRect">
            <a:avLst>
              <a:gd name="adj" fmla="val 11429"/>
            </a:avLst>
          </a:prstGeom>
          <a:solidFill>
            <a:schemeClr val="bg2"/>
          </a:solidFill>
          <a:ln w="12700">
            <a:solidFill>
              <a:schemeClr val="bg2"/>
            </a:solidFill>
            <a:prstDash val="solid"/>
          </a:ln>
        </p:spPr>
      </p:sp>
      <p:sp>
        <p:nvSpPr>
          <p:cNvPr id="10" name="Cues label"/>
          <p:cNvSpPr txBox="1"/>
          <p:nvPr/>
        </p:nvSpPr>
        <p:spPr>
          <a:xfrm>
            <a:off x="4572000" y="1280160"/>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CUES</a:t>
            </a:r>
            <a:endParaRPr lang="en-US" sz="1000" dirty="0"/>
          </a:p>
        </p:txBody>
      </p:sp>
      <p:sp>
        <p:nvSpPr>
          <p:cNvPr id="11" name="Cues text"/>
          <p:cNvSpPr txBox="1"/>
          <p:nvPr/>
        </p:nvSpPr>
        <p:spPr>
          <a:xfrm>
            <a:off x="5669280" y="1280160"/>
            <a:ext cx="2971800" cy="566928"/>
          </a:xfrm>
          <a:prstGeom prst="rect">
            <a:avLst/>
          </a:prstGeom>
          <a:noFill/>
          <a:ln/>
        </p:spPr>
        <p:txBody>
          <a:bodyPr wrap="square" lIns="0" tIns="0" rIns="0" bIns="0" rtlCol="0" anchor="ctr"/>
          <a:lstStyle/>
          <a:p>
            <a:pPr indent="0" marL="0">
              <a:buNone/>
            </a:pPr>
            <a:r>
              <a:rPr lang="en-US" sz="1300" dirty="0">
                <a:solidFill>
                  <a:schemeClr val="tx1"/>
                </a:solidFill>
              </a:rPr>
              <a:t>Irregular, jagged cavity; branch-like texture inside; sunken surface</a:t>
            </a:r>
            <a:endParaRPr lang="en-US" sz="1300" dirty="0"/>
          </a:p>
        </p:txBody>
      </p:sp>
      <p:sp>
        <p:nvSpPr>
          <p:cNvPr id="12" name="Location label"/>
          <p:cNvSpPr txBox="1"/>
          <p:nvPr/>
        </p:nvSpPr>
        <p:spPr>
          <a:xfrm>
            <a:off x="4572000" y="1956816"/>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LOCATION</a:t>
            </a:r>
            <a:endParaRPr lang="en-US" sz="1000" dirty="0"/>
          </a:p>
        </p:txBody>
      </p:sp>
      <p:sp>
        <p:nvSpPr>
          <p:cNvPr id="13" name="Location text"/>
          <p:cNvSpPr txBox="1"/>
          <p:nvPr/>
        </p:nvSpPr>
        <p:spPr>
          <a:xfrm>
            <a:off x="5669280" y="1956816"/>
            <a:ext cx="2971800" cy="566928"/>
          </a:xfrm>
          <a:prstGeom prst="rect">
            <a:avLst/>
          </a:prstGeom>
          <a:noFill/>
          <a:ln/>
        </p:spPr>
        <p:txBody>
          <a:bodyPr wrap="square" lIns="0" tIns="0" rIns="0" bIns="0" rtlCol="0" anchor="ctr"/>
          <a:lstStyle/>
          <a:p>
            <a:pPr indent="0" marL="0">
              <a:buNone/>
            </a:pPr>
            <a:r>
              <a:rPr lang="en-US" sz="1300" dirty="0">
                <a:solidFill>
                  <a:schemeClr val="tx1"/>
                </a:solidFill>
              </a:rPr>
              <a:t>Thick sections at the hub</a:t>
            </a:r>
            <a:endParaRPr lang="en-US" sz="1300" dirty="0"/>
          </a:p>
        </p:txBody>
      </p:sp>
      <p:sp>
        <p:nvSpPr>
          <p:cNvPr id="14" name="Row band 3"/>
          <p:cNvSpPr/>
          <p:nvPr/>
        </p:nvSpPr>
        <p:spPr>
          <a:xfrm>
            <a:off x="4480560" y="2596896"/>
            <a:ext cx="4251960" cy="640080"/>
          </a:xfrm>
          <a:prstGeom prst="roundRect">
            <a:avLst>
              <a:gd name="adj" fmla="val 11429"/>
            </a:avLst>
          </a:prstGeom>
          <a:solidFill>
            <a:schemeClr val="bg2"/>
          </a:solidFill>
          <a:ln w="12700">
            <a:solidFill>
              <a:schemeClr val="bg2"/>
            </a:solidFill>
            <a:prstDash val="solid"/>
          </a:ln>
        </p:spPr>
      </p:sp>
      <p:sp>
        <p:nvSpPr>
          <p:cNvPr id="15" name="How to look label"/>
          <p:cNvSpPr txBox="1"/>
          <p:nvPr/>
        </p:nvSpPr>
        <p:spPr>
          <a:xfrm>
            <a:off x="4572000" y="2633472"/>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HOW TO LOOK</a:t>
            </a:r>
            <a:endParaRPr lang="en-US" sz="1000" dirty="0"/>
          </a:p>
        </p:txBody>
      </p:sp>
      <p:sp>
        <p:nvSpPr>
          <p:cNvPr id="16" name="How to look text"/>
          <p:cNvSpPr txBox="1"/>
          <p:nvPr/>
        </p:nvSpPr>
        <p:spPr>
          <a:xfrm>
            <a:off x="5669280" y="2633472"/>
            <a:ext cx="2971800" cy="566928"/>
          </a:xfrm>
          <a:prstGeom prst="rect">
            <a:avLst/>
          </a:prstGeom>
          <a:noFill/>
          <a:ln/>
        </p:spPr>
        <p:txBody>
          <a:bodyPr wrap="square" lIns="0" tIns="0" rIns="0" bIns="0" rtlCol="0" anchor="ctr"/>
          <a:lstStyle/>
          <a:p>
            <a:pPr indent="0" marL="0">
              <a:buNone/>
            </a:pPr>
            <a:r>
              <a:rPr lang="en-US" sz="1300" dirty="0">
                <a:solidFill>
                  <a:schemeClr val="tx1"/>
                </a:solidFill>
              </a:rPr>
              <a:t>Tilt 45° toward the light and look into the thick hub section</a:t>
            </a:r>
            <a:endParaRPr lang="en-US" sz="1300" dirty="0"/>
          </a:p>
        </p:txBody>
      </p:sp>
      <p:sp>
        <p:nvSpPr>
          <p:cNvPr id="17" name="Accept limit label"/>
          <p:cNvSpPr txBox="1"/>
          <p:nvPr/>
        </p:nvSpPr>
        <p:spPr>
          <a:xfrm>
            <a:off x="4572000" y="3310128"/>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ACCEPT LIMIT</a:t>
            </a:r>
            <a:endParaRPr lang="en-US" sz="1000" dirty="0"/>
          </a:p>
        </p:txBody>
      </p:sp>
      <p:sp>
        <p:nvSpPr>
          <p:cNvPr id="18" name="Accept limit text"/>
          <p:cNvSpPr txBox="1"/>
          <p:nvPr/>
        </p:nvSpPr>
        <p:spPr>
          <a:xfrm>
            <a:off x="5669280" y="3310128"/>
            <a:ext cx="2971800" cy="566928"/>
          </a:xfrm>
          <a:prstGeom prst="rect">
            <a:avLst/>
          </a:prstGeom>
          <a:noFill/>
          <a:ln/>
        </p:spPr>
        <p:txBody>
          <a:bodyPr wrap="square" lIns="0" tIns="0" rIns="0" bIns="0" rtlCol="0" anchor="ctr"/>
          <a:lstStyle/>
          <a:p>
            <a:pPr indent="0" marL="0">
              <a:buNone/>
            </a:pPr>
            <a:r>
              <a:rPr lang="en-US" sz="1300" dirty="0">
                <a:solidFill>
                  <a:schemeClr val="tx1"/>
                </a:solidFill>
              </a:rPr>
              <a:t>No visible shrinkage cavity on machined faces</a:t>
            </a:r>
            <a:endParaRPr lang="en-US" sz="1300" dirty="0"/>
          </a:p>
        </p:txBody>
      </p:sp>
      <p:sp>
        <p:nvSpPr>
          <p:cNvPr id="19" name="Row band 5"/>
          <p:cNvSpPr/>
          <p:nvPr/>
        </p:nvSpPr>
        <p:spPr>
          <a:xfrm>
            <a:off x="4480560" y="3950208"/>
            <a:ext cx="4251960" cy="640080"/>
          </a:xfrm>
          <a:prstGeom prst="roundRect">
            <a:avLst>
              <a:gd name="adj" fmla="val 11429"/>
            </a:avLst>
          </a:prstGeom>
          <a:solidFill>
            <a:schemeClr val="bg2"/>
          </a:solidFill>
          <a:ln w="12700">
            <a:solidFill>
              <a:schemeClr val="bg2"/>
            </a:solidFill>
            <a:prstDash val="solid"/>
          </a:ln>
        </p:spPr>
      </p:sp>
      <p:sp>
        <p:nvSpPr>
          <p:cNvPr id="20" name="Fix label"/>
          <p:cNvSpPr txBox="1"/>
          <p:nvPr/>
        </p:nvSpPr>
        <p:spPr>
          <a:xfrm>
            <a:off x="4572000" y="3986784"/>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FIX</a:t>
            </a:r>
            <a:endParaRPr lang="en-US" sz="1000" dirty="0"/>
          </a:p>
        </p:txBody>
      </p:sp>
      <p:sp>
        <p:nvSpPr>
          <p:cNvPr id="21" name="Fix text"/>
          <p:cNvSpPr txBox="1"/>
          <p:nvPr/>
        </p:nvSpPr>
        <p:spPr>
          <a:xfrm>
            <a:off x="5669280" y="3986784"/>
            <a:ext cx="2971800" cy="566928"/>
          </a:xfrm>
          <a:prstGeom prst="rect">
            <a:avLst/>
          </a:prstGeom>
          <a:noFill/>
          <a:ln/>
        </p:spPr>
        <p:txBody>
          <a:bodyPr wrap="square" lIns="0" tIns="0" rIns="0" bIns="0" rtlCol="0" anchor="ctr"/>
          <a:lstStyle/>
          <a:p>
            <a:pPr indent="0" marL="0">
              <a:buNone/>
            </a:pPr>
            <a:r>
              <a:rPr lang="en-US" sz="1300" dirty="0">
                <a:solidFill>
                  <a:schemeClr val="tx1"/>
                </a:solidFill>
              </a:rPr>
              <a:t>Mark the cavity; weld repair; re-machine and re-inspect</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hoto frame"/>
          <p:cNvSpPr/>
          <p:nvPr/>
        </p:nvSpPr>
        <p:spPr>
          <a:xfrm>
            <a:off x="457200" y="457200"/>
            <a:ext cx="3749040" cy="4206240"/>
          </a:xfrm>
          <a:prstGeom prst="roundRect">
            <a:avLst>
              <a:gd name="adj" fmla="val 3659"/>
            </a:avLst>
          </a:prstGeom>
          <a:solidFill>
            <a:schemeClr val="tx1"/>
          </a:solidFill>
          <a:ln w="12700">
            <a:solidFill>
              <a:schemeClr val="tx1"/>
            </a:solidFill>
            <a:prstDash val="solid"/>
          </a:ln>
        </p:spPr>
      </p:sp>
      <p:pic>
        <p:nvPicPr>
          <p:cNvPr id="3" name="Defect photo" descr="Example of crack on IMP-200">    </p:cNvPr>
          <p:cNvPicPr>
            <a:picLocks noChangeAspect="1"/>
          </p:cNvPicPr>
          <p:nvPr/>
        </p:nvPicPr>
        <p:blipFill>
          <a:blip r:embed="rId1"/>
          <a:stretch>
            <a:fillRect/>
          </a:stretch>
        </p:blipFill>
        <p:spPr>
          <a:xfrm>
            <a:off x="640080" y="640080"/>
            <a:ext cx="3383280" cy="3383280"/>
          </a:xfrm>
          <a:prstGeom prst="rect">
            <a:avLst/>
          </a:prstGeom>
        </p:spPr>
      </p:pic>
      <p:sp>
        <p:nvSpPr>
          <p:cNvPr id="4" name="Photo caption"/>
          <p:cNvSpPr txBox="1"/>
          <p:nvPr/>
        </p:nvSpPr>
        <p:spPr>
          <a:xfrm>
            <a:off x="640080" y="4114800"/>
            <a:ext cx="3383280" cy="365760"/>
          </a:xfrm>
          <a:prstGeom prst="rect">
            <a:avLst/>
          </a:prstGeom>
          <a:noFill/>
          <a:ln/>
        </p:spPr>
        <p:txBody>
          <a:bodyPr wrap="square" lIns="0" tIns="0" rIns="0" bIns="0" rtlCol="0" anchor="ctr"/>
          <a:lstStyle/>
          <a:p>
            <a:pPr indent="0" marL="0">
              <a:buNone/>
            </a:pPr>
            <a:r>
              <a:rPr lang="en-US" sz="1100" dirty="0">
                <a:solidFill>
                  <a:schemeClr val="accent6"/>
                </a:solidFill>
              </a:rPr>
              <a:t>Defect 3 of 4  ·  example dataset image</a:t>
            </a:r>
            <a:endParaRPr lang="en-US" sz="1100" dirty="0"/>
          </a:p>
        </p:txBody>
      </p:sp>
      <p:sp>
        <p:nvSpPr>
          <p:cNvPr id="5" name="Text 0"/>
          <p:cNvSpPr/>
          <p:nvPr>
            <p:ph idx="100" type="title" hasCustomPrompt="1"/>
          </p:nvPr>
        </p:nvSpPr>
        <p:spPr>
          <a:xfrm>
            <a:off x="4572000" y="365760"/>
            <a:ext cx="2743200" cy="548640"/>
          </a:xfrm>
          <a:prstGeom prst="rect">
            <a:avLst/>
          </a:prstGeom>
          <a:noFill/>
          <a:ln/>
        </p:spPr>
        <p:txBody>
          <a:bodyPr wrap="square" lIns="0" tIns="0" rIns="0" bIns="0" rtlCol="0" anchor="ctr"/>
          <a:lstStyle/>
          <a:p>
            <a:pPr algn="l" indent="0" marL="0">
              <a:buNone/>
            </a:pPr>
            <a:r>
              <a:rPr lang="en-US" sz="3600" b="1" dirty="0">
                <a:solidFill>
                  <a:schemeClr val="tx1"/>
                </a:solidFill>
              </a:rPr>
              <a:t>crack</a:t>
            </a:r>
            <a:endParaRPr lang="en-US" sz="3600" dirty="0"/>
          </a:p>
        </p:txBody>
      </p:sp>
      <p:sp>
        <p:nvSpPr>
          <p:cNvPr id="6" name="Severity chip"/>
          <p:cNvSpPr/>
          <p:nvPr/>
        </p:nvSpPr>
        <p:spPr>
          <a:xfrm>
            <a:off x="7315200" y="457200"/>
            <a:ext cx="1371600" cy="384048"/>
          </a:xfrm>
          <a:prstGeom prst="roundRect">
            <a:avLst>
              <a:gd name="adj" fmla="val 50000"/>
            </a:avLst>
          </a:prstGeom>
          <a:solidFill>
            <a:srgbClr val="C0392B"/>
          </a:solidFill>
          <a:ln w="12700">
            <a:solidFill>
              <a:srgbClr val="C0392B"/>
            </a:solidFill>
            <a:prstDash val="solid"/>
          </a:ln>
        </p:spPr>
      </p:sp>
      <p:sp>
        <p:nvSpPr>
          <p:cNvPr id="7" name="Severity label"/>
          <p:cNvSpPr txBox="1"/>
          <p:nvPr/>
        </p:nvSpPr>
        <p:spPr>
          <a:xfrm>
            <a:off x="7315200" y="457200"/>
            <a:ext cx="1371600" cy="384048"/>
          </a:xfrm>
          <a:prstGeom prst="rect">
            <a:avLst/>
          </a:prstGeom>
          <a:noFill/>
          <a:ln/>
        </p:spPr>
        <p:txBody>
          <a:bodyPr wrap="square" lIns="0" tIns="0" rIns="0" bIns="0" rtlCol="0" anchor="ctr"/>
          <a:lstStyle/>
          <a:p>
            <a:pPr algn="ctr" indent="0" marL="0">
              <a:buNone/>
            </a:pPr>
            <a:r>
              <a:rPr lang="en-US" sz="1300" b="1" dirty="0">
                <a:solidFill>
                  <a:schemeClr val="bg1"/>
                </a:solidFill>
              </a:rPr>
              <a:t>SCRAP</a:t>
            </a:r>
            <a:endParaRPr lang="en-US" sz="1300" dirty="0"/>
          </a:p>
        </p:txBody>
      </p:sp>
      <p:sp>
        <p:nvSpPr>
          <p:cNvPr id="8" name="Severity note"/>
          <p:cNvSpPr txBox="1"/>
          <p:nvPr/>
        </p:nvSpPr>
        <p:spPr>
          <a:xfrm>
            <a:off x="6400800" y="868680"/>
            <a:ext cx="2286000" cy="274320"/>
          </a:xfrm>
          <a:prstGeom prst="rect">
            <a:avLst/>
          </a:prstGeom>
          <a:noFill/>
          <a:ln/>
        </p:spPr>
        <p:txBody>
          <a:bodyPr wrap="square" lIns="0" tIns="0" rIns="0" bIns="0" rtlCol="0" anchor="ctr"/>
          <a:lstStyle/>
          <a:p>
            <a:pPr algn="r" indent="0" marL="0">
              <a:buNone/>
            </a:pPr>
            <a:r>
              <a:rPr lang="en-US" sz="1000" dirty="0">
                <a:solidFill>
                  <a:schemeClr val="accent5"/>
                </a:solidFill>
              </a:rPr>
              <a:t>never rework</a:t>
            </a:r>
            <a:endParaRPr lang="en-US" sz="1000" dirty="0"/>
          </a:p>
        </p:txBody>
      </p:sp>
      <p:sp>
        <p:nvSpPr>
          <p:cNvPr id="9" name="Row band 1"/>
          <p:cNvSpPr/>
          <p:nvPr/>
        </p:nvSpPr>
        <p:spPr>
          <a:xfrm>
            <a:off x="4480560" y="1243584"/>
            <a:ext cx="4251960" cy="640080"/>
          </a:xfrm>
          <a:prstGeom prst="roundRect">
            <a:avLst>
              <a:gd name="adj" fmla="val 11429"/>
            </a:avLst>
          </a:prstGeom>
          <a:solidFill>
            <a:schemeClr val="bg2"/>
          </a:solidFill>
          <a:ln w="12700">
            <a:solidFill>
              <a:schemeClr val="bg2"/>
            </a:solidFill>
            <a:prstDash val="solid"/>
          </a:ln>
        </p:spPr>
      </p:sp>
      <p:sp>
        <p:nvSpPr>
          <p:cNvPr id="10" name="Cues label"/>
          <p:cNvSpPr txBox="1"/>
          <p:nvPr/>
        </p:nvSpPr>
        <p:spPr>
          <a:xfrm>
            <a:off x="4572000" y="1280160"/>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CUES</a:t>
            </a:r>
            <a:endParaRPr lang="en-US" sz="1000" dirty="0"/>
          </a:p>
        </p:txBody>
      </p:sp>
      <p:sp>
        <p:nvSpPr>
          <p:cNvPr id="11" name="Cues text"/>
          <p:cNvSpPr txBox="1"/>
          <p:nvPr/>
        </p:nvSpPr>
        <p:spPr>
          <a:xfrm>
            <a:off x="5669280" y="1280160"/>
            <a:ext cx="2971800" cy="566928"/>
          </a:xfrm>
          <a:prstGeom prst="rect">
            <a:avLst/>
          </a:prstGeom>
          <a:noFill/>
          <a:ln/>
        </p:spPr>
        <p:txBody>
          <a:bodyPr wrap="square" lIns="0" tIns="0" rIns="0" bIns="0" rtlCol="0" anchor="ctr"/>
          <a:lstStyle/>
          <a:p>
            <a:pPr indent="0" marL="0">
              <a:buNone/>
            </a:pPr>
            <a:r>
              <a:rPr lang="en-US" sz="1300" dirty="0">
                <a:solidFill>
                  <a:schemeClr val="tx1"/>
                </a:solidFill>
              </a:rPr>
              <a:t>Thin dark line that follows a blade edge or the outer rim</a:t>
            </a:r>
            <a:endParaRPr lang="en-US" sz="1300" dirty="0"/>
          </a:p>
        </p:txBody>
      </p:sp>
      <p:sp>
        <p:nvSpPr>
          <p:cNvPr id="12" name="Location label"/>
          <p:cNvSpPr txBox="1"/>
          <p:nvPr/>
        </p:nvSpPr>
        <p:spPr>
          <a:xfrm>
            <a:off x="4572000" y="1956816"/>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LOCATION</a:t>
            </a:r>
            <a:endParaRPr lang="en-US" sz="1000" dirty="0"/>
          </a:p>
        </p:txBody>
      </p:sp>
      <p:sp>
        <p:nvSpPr>
          <p:cNvPr id="13" name="Location text"/>
          <p:cNvSpPr txBox="1"/>
          <p:nvPr/>
        </p:nvSpPr>
        <p:spPr>
          <a:xfrm>
            <a:off x="5669280" y="1956816"/>
            <a:ext cx="2971800" cy="566928"/>
          </a:xfrm>
          <a:prstGeom prst="rect">
            <a:avLst/>
          </a:prstGeom>
          <a:noFill/>
          <a:ln/>
        </p:spPr>
        <p:txBody>
          <a:bodyPr wrap="square" lIns="0" tIns="0" rIns="0" bIns="0" rtlCol="0" anchor="ctr"/>
          <a:lstStyle/>
          <a:p>
            <a:pPr indent="0" marL="0">
              <a:buNone/>
            </a:pPr>
            <a:r>
              <a:rPr lang="en-US" sz="1300" dirty="0">
                <a:solidFill>
                  <a:schemeClr val="tx1"/>
                </a:solidFill>
              </a:rPr>
              <a:t>Blade edges and outer rim</a:t>
            </a:r>
            <a:endParaRPr lang="en-US" sz="1300" dirty="0"/>
          </a:p>
        </p:txBody>
      </p:sp>
      <p:sp>
        <p:nvSpPr>
          <p:cNvPr id="14" name="Row band 3"/>
          <p:cNvSpPr/>
          <p:nvPr/>
        </p:nvSpPr>
        <p:spPr>
          <a:xfrm>
            <a:off x="4480560" y="2596896"/>
            <a:ext cx="4251960" cy="640080"/>
          </a:xfrm>
          <a:prstGeom prst="roundRect">
            <a:avLst>
              <a:gd name="adj" fmla="val 11429"/>
            </a:avLst>
          </a:prstGeom>
          <a:solidFill>
            <a:schemeClr val="bg2"/>
          </a:solidFill>
          <a:ln w="12700">
            <a:solidFill>
              <a:schemeClr val="bg2"/>
            </a:solidFill>
            <a:prstDash val="solid"/>
          </a:ln>
        </p:spPr>
      </p:sp>
      <p:sp>
        <p:nvSpPr>
          <p:cNvPr id="15" name="How to look label"/>
          <p:cNvSpPr txBox="1"/>
          <p:nvPr/>
        </p:nvSpPr>
        <p:spPr>
          <a:xfrm>
            <a:off x="4572000" y="2633472"/>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HOW TO LOOK</a:t>
            </a:r>
            <a:endParaRPr lang="en-US" sz="1000" dirty="0"/>
          </a:p>
        </p:txBody>
      </p:sp>
      <p:sp>
        <p:nvSpPr>
          <p:cNvPr id="16" name="How to look text"/>
          <p:cNvSpPr txBox="1"/>
          <p:nvPr/>
        </p:nvSpPr>
        <p:spPr>
          <a:xfrm>
            <a:off x="5669280" y="2633472"/>
            <a:ext cx="2971800" cy="566928"/>
          </a:xfrm>
          <a:prstGeom prst="rect">
            <a:avLst/>
          </a:prstGeom>
          <a:noFill/>
          <a:ln/>
        </p:spPr>
        <p:txBody>
          <a:bodyPr wrap="square" lIns="0" tIns="0" rIns="0" bIns="0" rtlCol="0" anchor="ctr"/>
          <a:lstStyle/>
          <a:p>
            <a:pPr indent="0" marL="0">
              <a:buNone/>
            </a:pPr>
            <a:r>
              <a:rPr lang="en-US" sz="1300" dirty="0">
                <a:solidFill>
                  <a:schemeClr val="tx1"/>
                </a:solidFill>
              </a:rPr>
              <a:t>Rotate -20° and follow each blade edge and the rim under low-angle light</a:t>
            </a:r>
            <a:endParaRPr lang="en-US" sz="1300" dirty="0"/>
          </a:p>
        </p:txBody>
      </p:sp>
      <p:sp>
        <p:nvSpPr>
          <p:cNvPr id="17" name="Accept limit label"/>
          <p:cNvSpPr txBox="1"/>
          <p:nvPr/>
        </p:nvSpPr>
        <p:spPr>
          <a:xfrm>
            <a:off x="4572000" y="3310128"/>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ACCEPT LIMIT</a:t>
            </a:r>
            <a:endParaRPr lang="en-US" sz="1000" dirty="0"/>
          </a:p>
        </p:txBody>
      </p:sp>
      <p:sp>
        <p:nvSpPr>
          <p:cNvPr id="18" name="Accept limit text"/>
          <p:cNvSpPr txBox="1"/>
          <p:nvPr/>
        </p:nvSpPr>
        <p:spPr>
          <a:xfrm>
            <a:off x="5669280" y="3310128"/>
            <a:ext cx="2971800" cy="566928"/>
          </a:xfrm>
          <a:prstGeom prst="rect">
            <a:avLst/>
          </a:prstGeom>
          <a:noFill/>
          <a:ln/>
        </p:spPr>
        <p:txBody>
          <a:bodyPr wrap="square" lIns="0" tIns="0" rIns="0" bIns="0" rtlCol="0" anchor="ctr"/>
          <a:lstStyle/>
          <a:p>
            <a:pPr indent="0" marL="0">
              <a:buNone/>
            </a:pPr>
            <a:r>
              <a:rPr lang="en-US" sz="1300" dirty="0">
                <a:solidFill>
                  <a:schemeClr val="tx1"/>
                </a:solidFill>
              </a:rPr>
              <a:t>Zero. No tolerance</a:t>
            </a:r>
            <a:endParaRPr lang="en-US" sz="1300" dirty="0"/>
          </a:p>
        </p:txBody>
      </p:sp>
      <p:sp>
        <p:nvSpPr>
          <p:cNvPr id="19" name="Row band 5"/>
          <p:cNvSpPr/>
          <p:nvPr/>
        </p:nvSpPr>
        <p:spPr>
          <a:xfrm>
            <a:off x="4480560" y="3950208"/>
            <a:ext cx="4251960" cy="640080"/>
          </a:xfrm>
          <a:prstGeom prst="roundRect">
            <a:avLst>
              <a:gd name="adj" fmla="val 11429"/>
            </a:avLst>
          </a:prstGeom>
          <a:solidFill>
            <a:schemeClr val="bg2"/>
          </a:solidFill>
          <a:ln w="12700">
            <a:solidFill>
              <a:schemeClr val="bg2"/>
            </a:solidFill>
            <a:prstDash val="solid"/>
          </a:ln>
        </p:spPr>
      </p:sp>
      <p:sp>
        <p:nvSpPr>
          <p:cNvPr id="20" name="Fix label"/>
          <p:cNvSpPr txBox="1"/>
          <p:nvPr/>
        </p:nvSpPr>
        <p:spPr>
          <a:xfrm>
            <a:off x="4572000" y="3986784"/>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FIX</a:t>
            </a:r>
            <a:endParaRPr lang="en-US" sz="1000" dirty="0"/>
          </a:p>
        </p:txBody>
      </p:sp>
      <p:sp>
        <p:nvSpPr>
          <p:cNvPr id="21" name="Fix text"/>
          <p:cNvSpPr txBox="1"/>
          <p:nvPr/>
        </p:nvSpPr>
        <p:spPr>
          <a:xfrm>
            <a:off x="5669280" y="3986784"/>
            <a:ext cx="2971800" cy="566928"/>
          </a:xfrm>
          <a:prstGeom prst="rect">
            <a:avLst/>
          </a:prstGeom>
          <a:noFill/>
          <a:ln/>
        </p:spPr>
        <p:txBody>
          <a:bodyPr wrap="square" lIns="0" tIns="0" rIns="0" bIns="0" rtlCol="0" anchor="ctr"/>
          <a:lstStyle/>
          <a:p>
            <a:pPr indent="0" marL="0">
              <a:buNone/>
            </a:pPr>
            <a:r>
              <a:rPr lang="en-US" sz="1300" dirty="0">
                <a:solidFill>
                  <a:schemeClr val="tx1"/>
                </a:solidFill>
              </a:rPr>
              <a:t>Scrap the part; tag the mould for inspection</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hoto frame"/>
          <p:cNvSpPr/>
          <p:nvPr/>
        </p:nvSpPr>
        <p:spPr>
          <a:xfrm>
            <a:off x="457200" y="457200"/>
            <a:ext cx="3749040" cy="4206240"/>
          </a:xfrm>
          <a:prstGeom prst="roundRect">
            <a:avLst>
              <a:gd name="adj" fmla="val 3659"/>
            </a:avLst>
          </a:prstGeom>
          <a:solidFill>
            <a:schemeClr val="tx1"/>
          </a:solidFill>
          <a:ln w="12700">
            <a:solidFill>
              <a:schemeClr val="tx1"/>
            </a:solidFill>
            <a:prstDash val="solid"/>
          </a:ln>
        </p:spPr>
      </p:sp>
      <p:pic>
        <p:nvPicPr>
          <p:cNvPr id="3" name="Defect photo" descr="Example of burr on IMP-200">    </p:cNvPr>
          <p:cNvPicPr>
            <a:picLocks noChangeAspect="1"/>
          </p:cNvPicPr>
          <p:nvPr/>
        </p:nvPicPr>
        <p:blipFill>
          <a:blip r:embed="rId1"/>
          <a:stretch>
            <a:fillRect/>
          </a:stretch>
        </p:blipFill>
        <p:spPr>
          <a:xfrm>
            <a:off x="640080" y="640080"/>
            <a:ext cx="3383280" cy="3383280"/>
          </a:xfrm>
          <a:prstGeom prst="rect">
            <a:avLst/>
          </a:prstGeom>
        </p:spPr>
      </p:pic>
      <p:sp>
        <p:nvSpPr>
          <p:cNvPr id="4" name="Photo caption"/>
          <p:cNvSpPr txBox="1"/>
          <p:nvPr/>
        </p:nvSpPr>
        <p:spPr>
          <a:xfrm>
            <a:off x="640080" y="4114800"/>
            <a:ext cx="3383280" cy="365760"/>
          </a:xfrm>
          <a:prstGeom prst="rect">
            <a:avLst/>
          </a:prstGeom>
          <a:noFill/>
          <a:ln/>
        </p:spPr>
        <p:txBody>
          <a:bodyPr wrap="square" lIns="0" tIns="0" rIns="0" bIns="0" rtlCol="0" anchor="ctr"/>
          <a:lstStyle/>
          <a:p>
            <a:pPr indent="0" marL="0">
              <a:buNone/>
            </a:pPr>
            <a:r>
              <a:rPr lang="en-US" sz="1100" dirty="0">
                <a:solidFill>
                  <a:schemeClr val="accent6"/>
                </a:solidFill>
              </a:rPr>
              <a:t>Defect 4 of 4  ·  example dataset image</a:t>
            </a:r>
            <a:endParaRPr lang="en-US" sz="1100" dirty="0"/>
          </a:p>
        </p:txBody>
      </p:sp>
      <p:sp>
        <p:nvSpPr>
          <p:cNvPr id="5" name="Text 0"/>
          <p:cNvSpPr/>
          <p:nvPr>
            <p:ph idx="100" type="title" hasCustomPrompt="1"/>
          </p:nvPr>
        </p:nvSpPr>
        <p:spPr>
          <a:xfrm>
            <a:off x="4572000" y="365760"/>
            <a:ext cx="2743200" cy="548640"/>
          </a:xfrm>
          <a:prstGeom prst="rect">
            <a:avLst/>
          </a:prstGeom>
          <a:noFill/>
          <a:ln/>
        </p:spPr>
        <p:txBody>
          <a:bodyPr wrap="square" lIns="0" tIns="0" rIns="0" bIns="0" rtlCol="0" anchor="ctr"/>
          <a:lstStyle/>
          <a:p>
            <a:pPr algn="l" indent="0" marL="0">
              <a:buNone/>
            </a:pPr>
            <a:r>
              <a:rPr lang="en-US" sz="3600" b="1" dirty="0">
                <a:solidFill>
                  <a:schemeClr val="tx1"/>
                </a:solidFill>
              </a:rPr>
              <a:t>burr</a:t>
            </a:r>
            <a:endParaRPr lang="en-US" sz="3600" dirty="0"/>
          </a:p>
        </p:txBody>
      </p:sp>
      <p:sp>
        <p:nvSpPr>
          <p:cNvPr id="6" name="Severity chip"/>
          <p:cNvSpPr/>
          <p:nvPr/>
        </p:nvSpPr>
        <p:spPr>
          <a:xfrm>
            <a:off x="7315200" y="457200"/>
            <a:ext cx="1371600" cy="384048"/>
          </a:xfrm>
          <a:prstGeom prst="roundRect">
            <a:avLst>
              <a:gd name="adj" fmla="val 50000"/>
            </a:avLst>
          </a:prstGeom>
          <a:solidFill>
            <a:srgbClr val="3A8D5C"/>
          </a:solidFill>
          <a:ln w="12700">
            <a:solidFill>
              <a:srgbClr val="3A8D5C"/>
            </a:solidFill>
            <a:prstDash val="solid"/>
          </a:ln>
        </p:spPr>
      </p:sp>
      <p:sp>
        <p:nvSpPr>
          <p:cNvPr id="7" name="Severity label"/>
          <p:cNvSpPr txBox="1"/>
          <p:nvPr/>
        </p:nvSpPr>
        <p:spPr>
          <a:xfrm>
            <a:off x="7315200" y="457200"/>
            <a:ext cx="1371600" cy="384048"/>
          </a:xfrm>
          <a:prstGeom prst="rect">
            <a:avLst/>
          </a:prstGeom>
          <a:noFill/>
          <a:ln/>
        </p:spPr>
        <p:txBody>
          <a:bodyPr wrap="square" lIns="0" tIns="0" rIns="0" bIns="0" rtlCol="0" anchor="ctr"/>
          <a:lstStyle/>
          <a:p>
            <a:pPr algn="ctr" indent="0" marL="0">
              <a:buNone/>
            </a:pPr>
            <a:r>
              <a:rPr lang="en-US" sz="1300" b="1" dirty="0">
                <a:solidFill>
                  <a:schemeClr val="bg1"/>
                </a:solidFill>
              </a:rPr>
              <a:t>MINOR</a:t>
            </a:r>
            <a:endParaRPr lang="en-US" sz="1300" dirty="0"/>
          </a:p>
        </p:txBody>
      </p:sp>
      <p:sp>
        <p:nvSpPr>
          <p:cNvPr id="8" name="Severity note"/>
          <p:cNvSpPr txBox="1"/>
          <p:nvPr/>
        </p:nvSpPr>
        <p:spPr>
          <a:xfrm>
            <a:off x="6400800" y="868680"/>
            <a:ext cx="2286000" cy="274320"/>
          </a:xfrm>
          <a:prstGeom prst="rect">
            <a:avLst/>
          </a:prstGeom>
          <a:noFill/>
          <a:ln/>
        </p:spPr>
        <p:txBody>
          <a:bodyPr wrap="square" lIns="0" tIns="0" rIns="0" bIns="0" rtlCol="0" anchor="ctr"/>
          <a:lstStyle/>
          <a:p>
            <a:pPr algn="r" indent="0" marL="0">
              <a:buNone/>
            </a:pPr>
            <a:r>
              <a:rPr lang="en-US" sz="1000" dirty="0">
                <a:solidFill>
                  <a:schemeClr val="accent5"/>
                </a:solidFill>
              </a:rPr>
              <a:t>under 0.3 mm passes</a:t>
            </a:r>
            <a:endParaRPr lang="en-US" sz="1000" dirty="0"/>
          </a:p>
        </p:txBody>
      </p:sp>
      <p:sp>
        <p:nvSpPr>
          <p:cNvPr id="9" name="Row band 1"/>
          <p:cNvSpPr/>
          <p:nvPr/>
        </p:nvSpPr>
        <p:spPr>
          <a:xfrm>
            <a:off x="4480560" y="1243584"/>
            <a:ext cx="4251960" cy="640080"/>
          </a:xfrm>
          <a:prstGeom prst="roundRect">
            <a:avLst>
              <a:gd name="adj" fmla="val 11429"/>
            </a:avLst>
          </a:prstGeom>
          <a:solidFill>
            <a:schemeClr val="bg2"/>
          </a:solidFill>
          <a:ln w="12700">
            <a:solidFill>
              <a:schemeClr val="bg2"/>
            </a:solidFill>
            <a:prstDash val="solid"/>
          </a:ln>
        </p:spPr>
      </p:sp>
      <p:sp>
        <p:nvSpPr>
          <p:cNvPr id="10" name="Cues label"/>
          <p:cNvSpPr txBox="1"/>
          <p:nvPr/>
        </p:nvSpPr>
        <p:spPr>
          <a:xfrm>
            <a:off x="4572000" y="1280160"/>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CUES</a:t>
            </a:r>
            <a:endParaRPr lang="en-US" sz="1000" dirty="0"/>
          </a:p>
        </p:txBody>
      </p:sp>
      <p:sp>
        <p:nvSpPr>
          <p:cNvPr id="11" name="Cues text"/>
          <p:cNvSpPr txBox="1"/>
          <p:nvPr/>
        </p:nvSpPr>
        <p:spPr>
          <a:xfrm>
            <a:off x="5669280" y="1280160"/>
            <a:ext cx="2971800" cy="566928"/>
          </a:xfrm>
          <a:prstGeom prst="rect">
            <a:avLst/>
          </a:prstGeom>
          <a:noFill/>
          <a:ln/>
        </p:spPr>
        <p:txBody>
          <a:bodyPr wrap="square" lIns="0" tIns="0" rIns="0" bIns="0" rtlCol="0" anchor="ctr"/>
          <a:lstStyle/>
          <a:p>
            <a:pPr indent="0" marL="0">
              <a:buNone/>
            </a:pPr>
            <a:r>
              <a:rPr lang="en-US" sz="1300" dirty="0">
                <a:solidFill>
                  <a:schemeClr val="tx1"/>
                </a:solidFill>
              </a:rPr>
              <a:t>Raised, rough edge; flash along the parting line</a:t>
            </a:r>
            <a:endParaRPr lang="en-US" sz="1300" dirty="0"/>
          </a:p>
        </p:txBody>
      </p:sp>
      <p:sp>
        <p:nvSpPr>
          <p:cNvPr id="12" name="Location label"/>
          <p:cNvSpPr txBox="1"/>
          <p:nvPr/>
        </p:nvSpPr>
        <p:spPr>
          <a:xfrm>
            <a:off x="4572000" y="1956816"/>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LOCATION</a:t>
            </a:r>
            <a:endParaRPr lang="en-US" sz="1000" dirty="0"/>
          </a:p>
        </p:txBody>
      </p:sp>
      <p:sp>
        <p:nvSpPr>
          <p:cNvPr id="13" name="Location text"/>
          <p:cNvSpPr txBox="1"/>
          <p:nvPr/>
        </p:nvSpPr>
        <p:spPr>
          <a:xfrm>
            <a:off x="5669280" y="1956816"/>
            <a:ext cx="2971800" cy="566928"/>
          </a:xfrm>
          <a:prstGeom prst="rect">
            <a:avLst/>
          </a:prstGeom>
          <a:noFill/>
          <a:ln/>
        </p:spPr>
        <p:txBody>
          <a:bodyPr wrap="square" lIns="0" tIns="0" rIns="0" bIns="0" rtlCol="0" anchor="ctr"/>
          <a:lstStyle/>
          <a:p>
            <a:pPr indent="0" marL="0">
              <a:buNone/>
            </a:pPr>
            <a:r>
              <a:rPr lang="en-US" sz="1300" dirty="0">
                <a:solidFill>
                  <a:schemeClr val="tx1"/>
                </a:solidFill>
              </a:rPr>
              <a:t>Outer rim and parting line</a:t>
            </a:r>
            <a:endParaRPr lang="en-US" sz="1300" dirty="0"/>
          </a:p>
        </p:txBody>
      </p:sp>
      <p:sp>
        <p:nvSpPr>
          <p:cNvPr id="14" name="Row band 3"/>
          <p:cNvSpPr/>
          <p:nvPr/>
        </p:nvSpPr>
        <p:spPr>
          <a:xfrm>
            <a:off x="4480560" y="2596896"/>
            <a:ext cx="4251960" cy="640080"/>
          </a:xfrm>
          <a:prstGeom prst="roundRect">
            <a:avLst>
              <a:gd name="adj" fmla="val 11429"/>
            </a:avLst>
          </a:prstGeom>
          <a:solidFill>
            <a:schemeClr val="bg2"/>
          </a:solidFill>
          <a:ln w="12700">
            <a:solidFill>
              <a:schemeClr val="bg2"/>
            </a:solidFill>
            <a:prstDash val="solid"/>
          </a:ln>
        </p:spPr>
      </p:sp>
      <p:sp>
        <p:nvSpPr>
          <p:cNvPr id="15" name="How to look label"/>
          <p:cNvSpPr txBox="1"/>
          <p:nvPr/>
        </p:nvSpPr>
        <p:spPr>
          <a:xfrm>
            <a:off x="4572000" y="2633472"/>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HOW TO LOOK</a:t>
            </a:r>
            <a:endParaRPr lang="en-US" sz="1000" dirty="0"/>
          </a:p>
        </p:txBody>
      </p:sp>
      <p:sp>
        <p:nvSpPr>
          <p:cNvPr id="16" name="How to look text"/>
          <p:cNvSpPr txBox="1"/>
          <p:nvPr/>
        </p:nvSpPr>
        <p:spPr>
          <a:xfrm>
            <a:off x="5669280" y="2633472"/>
            <a:ext cx="2971800" cy="566928"/>
          </a:xfrm>
          <a:prstGeom prst="rect">
            <a:avLst/>
          </a:prstGeom>
          <a:noFill/>
          <a:ln/>
        </p:spPr>
        <p:txBody>
          <a:bodyPr wrap="square" lIns="0" tIns="0" rIns="0" bIns="0" rtlCol="0" anchor="ctr"/>
          <a:lstStyle/>
          <a:p>
            <a:pPr indent="0" marL="0">
              <a:buNone/>
            </a:pPr>
            <a:r>
              <a:rPr lang="en-US" sz="1300" dirty="0">
                <a:solidFill>
                  <a:schemeClr val="tx1"/>
                </a:solidFill>
              </a:rPr>
              <a:t>View edge-on at about 80° so raised flash stands out</a:t>
            </a:r>
            <a:endParaRPr lang="en-US" sz="1300" dirty="0"/>
          </a:p>
        </p:txBody>
      </p:sp>
      <p:sp>
        <p:nvSpPr>
          <p:cNvPr id="17" name="Accept limit label"/>
          <p:cNvSpPr txBox="1"/>
          <p:nvPr/>
        </p:nvSpPr>
        <p:spPr>
          <a:xfrm>
            <a:off x="4572000" y="3310128"/>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ACCEPT LIMIT</a:t>
            </a:r>
            <a:endParaRPr lang="en-US" sz="1000" dirty="0"/>
          </a:p>
        </p:txBody>
      </p:sp>
      <p:sp>
        <p:nvSpPr>
          <p:cNvPr id="18" name="Accept limit text"/>
          <p:cNvSpPr txBox="1"/>
          <p:nvPr/>
        </p:nvSpPr>
        <p:spPr>
          <a:xfrm>
            <a:off x="5669280" y="3310128"/>
            <a:ext cx="2971800" cy="566928"/>
          </a:xfrm>
          <a:prstGeom prst="rect">
            <a:avLst/>
          </a:prstGeom>
          <a:noFill/>
          <a:ln/>
        </p:spPr>
        <p:txBody>
          <a:bodyPr wrap="square" lIns="0" tIns="0" rIns="0" bIns="0" rtlCol="0" anchor="ctr"/>
          <a:lstStyle/>
          <a:p>
            <a:pPr indent="0" marL="0">
              <a:buNone/>
            </a:pPr>
            <a:r>
              <a:rPr lang="en-US" sz="1300" dirty="0">
                <a:solidFill>
                  <a:schemeClr val="tx1"/>
                </a:solidFill>
              </a:rPr>
              <a:t>Flash under 0.3 mm high is acceptable</a:t>
            </a:r>
            <a:endParaRPr lang="en-US" sz="1300" dirty="0"/>
          </a:p>
        </p:txBody>
      </p:sp>
      <p:sp>
        <p:nvSpPr>
          <p:cNvPr id="19" name="Row band 5"/>
          <p:cNvSpPr/>
          <p:nvPr/>
        </p:nvSpPr>
        <p:spPr>
          <a:xfrm>
            <a:off x="4480560" y="3950208"/>
            <a:ext cx="4251960" cy="640080"/>
          </a:xfrm>
          <a:prstGeom prst="roundRect">
            <a:avLst>
              <a:gd name="adj" fmla="val 11429"/>
            </a:avLst>
          </a:prstGeom>
          <a:solidFill>
            <a:schemeClr val="bg2"/>
          </a:solidFill>
          <a:ln w="12700">
            <a:solidFill>
              <a:schemeClr val="bg2"/>
            </a:solidFill>
            <a:prstDash val="solid"/>
          </a:ln>
        </p:spPr>
      </p:sp>
      <p:sp>
        <p:nvSpPr>
          <p:cNvPr id="20" name="Fix label"/>
          <p:cNvSpPr txBox="1"/>
          <p:nvPr/>
        </p:nvSpPr>
        <p:spPr>
          <a:xfrm>
            <a:off x="4572000" y="3986784"/>
            <a:ext cx="1097280" cy="566928"/>
          </a:xfrm>
          <a:prstGeom prst="rect">
            <a:avLst/>
          </a:prstGeom>
          <a:noFill/>
          <a:ln/>
        </p:spPr>
        <p:txBody>
          <a:bodyPr wrap="square" lIns="0" tIns="0" rIns="0" bIns="0" rtlCol="0" anchor="ctr"/>
          <a:lstStyle/>
          <a:p>
            <a:pPr indent="0" marL="0">
              <a:buNone/>
            </a:pPr>
            <a:r>
              <a:rPr lang="en-US" sz="1000" b="1" dirty="0">
                <a:solidFill>
                  <a:schemeClr val="accent5"/>
                </a:solidFill>
              </a:rPr>
              <a:t>FIX</a:t>
            </a:r>
            <a:endParaRPr lang="en-US" sz="1000" dirty="0"/>
          </a:p>
        </p:txBody>
      </p:sp>
      <p:sp>
        <p:nvSpPr>
          <p:cNvPr id="21" name="Fix text"/>
          <p:cNvSpPr txBox="1"/>
          <p:nvPr/>
        </p:nvSpPr>
        <p:spPr>
          <a:xfrm>
            <a:off x="5669280" y="3986784"/>
            <a:ext cx="2971800" cy="566928"/>
          </a:xfrm>
          <a:prstGeom prst="rect">
            <a:avLst/>
          </a:prstGeom>
          <a:noFill/>
          <a:ln/>
        </p:spPr>
        <p:txBody>
          <a:bodyPr wrap="square" lIns="0" tIns="0" rIns="0" bIns="0" rtlCol="0" anchor="ctr"/>
          <a:lstStyle/>
          <a:p>
            <a:pPr indent="0" marL="0">
              <a:buNone/>
            </a:pPr>
            <a:r>
              <a:rPr lang="en-US" sz="1300" dirty="0">
                <a:solidFill>
                  <a:schemeClr val="tx1"/>
                </a:solidFill>
              </a:rPr>
              <a:t>Deburr with a hand file; blow off chips; check the edge again</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754880" cy="1280160"/>
          </a:xfrm>
          <a:prstGeom prst="rect">
            <a:avLst/>
          </a:prstGeom>
          <a:noFill/>
          <a:ln/>
        </p:spPr>
        <p:txBody>
          <a:bodyPr wrap="square" lIns="0" tIns="0" rIns="0" bIns="0" rtlCol="0" anchor="t"/>
          <a:lstStyle/>
          <a:p>
            <a:pPr algn="l" indent="0" marL="0">
              <a:buNone/>
            </a:pPr>
            <a:r>
              <a:rPr lang="en-US" sz="4000" b="1" dirty="0">
                <a:solidFill>
                  <a:schemeClr val="bg1"/>
                </a:solidFill>
              </a:rPr>
              <a:t>When in doubt, hold the part</a:t>
            </a:r>
            <a:endParaRPr lang="en-US" sz="4000" dirty="0"/>
          </a:p>
        </p:txBody>
      </p:sp>
      <p:sp>
        <p:nvSpPr>
          <p:cNvPr id="3" name="Text 0"/>
          <p:cNvSpPr/>
          <p:nvPr>
            <p:ph idx="101" type="body" hasCustomPrompt="1"/>
          </p:nvPr>
        </p:nvSpPr>
        <p:spPr>
          <a:xfrm>
            <a:off x="548640" y="2743200"/>
            <a:ext cx="4754880" cy="1463040"/>
          </a:xfrm>
          <a:prstGeom prst="rect">
            <a:avLst/>
          </a:prstGeom>
          <a:noFill/>
          <a:ln/>
        </p:spPr>
        <p:txBody>
          <a:bodyPr wrap="square" lIns="0" tIns="0" rIns="0" bIns="0" rtlCol="0" anchor="t"/>
          <a:lstStyle/>
          <a:p>
            <a:pPr algn="l" indent="0" marL="0">
              <a:buNone/>
            </a:pPr>
            <a:r>
              <a:rPr lang="en-US" sz="1600" dirty="0">
                <a:solidFill>
                  <a:schemeClr val="accent6"/>
                </a:solidFill>
              </a:rPr>
              <a:t>Ask QC before the part moves on to the next process.</a:t>
            </a:r>
            <a:endParaRPr lang="en-US" sz="1600" dirty="0"/>
          </a:p>
        </p:txBody>
      </p:sp>
      <p:sp>
        <p:nvSpPr>
          <p:cNvPr id="4" name="Summary porosity"/>
          <p:cNvSpPr/>
          <p:nvPr/>
        </p:nvSpPr>
        <p:spPr>
          <a:xfrm>
            <a:off x="5669280" y="822960"/>
            <a:ext cx="3017520" cy="685800"/>
          </a:xfrm>
          <a:prstGeom prst="roundRect">
            <a:avLst>
              <a:gd name="adj" fmla="val 16000"/>
            </a:avLst>
          </a:prstGeom>
          <a:solidFill>
            <a:schemeClr val="tx2"/>
          </a:solidFill>
          <a:ln w="12700">
            <a:solidFill>
              <a:schemeClr val="tx2"/>
            </a:solidFill>
            <a:prstDash val="solid"/>
          </a:ln>
        </p:spPr>
      </p:sp>
      <p:sp>
        <p:nvSpPr>
          <p:cNvPr id="5" name="Summary porosity name"/>
          <p:cNvSpPr txBox="1"/>
          <p:nvPr/>
        </p:nvSpPr>
        <p:spPr>
          <a:xfrm>
            <a:off x="5897880" y="822960"/>
            <a:ext cx="1554480" cy="685800"/>
          </a:xfrm>
          <a:prstGeom prst="rect">
            <a:avLst/>
          </a:prstGeom>
          <a:noFill/>
          <a:ln/>
        </p:spPr>
        <p:txBody>
          <a:bodyPr wrap="square" lIns="0" tIns="0" rIns="0" bIns="0" rtlCol="0" anchor="ctr"/>
          <a:lstStyle/>
          <a:p>
            <a:pPr indent="0" marL="0">
              <a:buNone/>
            </a:pPr>
            <a:r>
              <a:rPr lang="en-US" sz="1800" b="1" dirty="0">
                <a:solidFill>
                  <a:schemeClr val="bg1"/>
                </a:solidFill>
              </a:rPr>
              <a:t>porosity</a:t>
            </a:r>
            <a:endParaRPr lang="en-US" sz="1800" dirty="0"/>
          </a:p>
        </p:txBody>
      </p:sp>
      <p:sp>
        <p:nvSpPr>
          <p:cNvPr id="6" name="Summary porosity chip"/>
          <p:cNvSpPr/>
          <p:nvPr/>
        </p:nvSpPr>
        <p:spPr>
          <a:xfrm>
            <a:off x="7452360" y="996696"/>
            <a:ext cx="1051560" cy="338328"/>
          </a:xfrm>
          <a:prstGeom prst="roundRect">
            <a:avLst>
              <a:gd name="adj" fmla="val 48649"/>
            </a:avLst>
          </a:prstGeom>
          <a:solidFill>
            <a:srgbClr val="D9822B"/>
          </a:solidFill>
          <a:ln w="12700">
            <a:solidFill>
              <a:srgbClr val="D9822B"/>
            </a:solidFill>
            <a:prstDash val="solid"/>
          </a:ln>
        </p:spPr>
      </p:sp>
      <p:sp>
        <p:nvSpPr>
          <p:cNvPr id="7" name="Summary porosity sev"/>
          <p:cNvSpPr txBox="1"/>
          <p:nvPr/>
        </p:nvSpPr>
        <p:spPr>
          <a:xfrm>
            <a:off x="7452360" y="996696"/>
            <a:ext cx="1051560" cy="338328"/>
          </a:xfrm>
          <a:prstGeom prst="rect">
            <a:avLst/>
          </a:prstGeom>
          <a:noFill/>
          <a:ln/>
        </p:spPr>
        <p:txBody>
          <a:bodyPr wrap="square" lIns="0" tIns="0" rIns="0" bIns="0" rtlCol="0" anchor="ctr"/>
          <a:lstStyle/>
          <a:p>
            <a:pPr algn="ctr" indent="0" marL="0">
              <a:buNone/>
            </a:pPr>
            <a:r>
              <a:rPr lang="en-US" sz="1100" b="1" dirty="0">
                <a:solidFill>
                  <a:schemeClr val="bg1"/>
                </a:solidFill>
              </a:rPr>
              <a:t>REWORK</a:t>
            </a:r>
            <a:endParaRPr lang="en-US" sz="1100" dirty="0"/>
          </a:p>
        </p:txBody>
      </p:sp>
      <p:sp>
        <p:nvSpPr>
          <p:cNvPr id="8" name="Summary shrinkage"/>
          <p:cNvSpPr/>
          <p:nvPr/>
        </p:nvSpPr>
        <p:spPr>
          <a:xfrm>
            <a:off x="5669280" y="1691640"/>
            <a:ext cx="3017520" cy="685800"/>
          </a:xfrm>
          <a:prstGeom prst="roundRect">
            <a:avLst>
              <a:gd name="adj" fmla="val 16000"/>
            </a:avLst>
          </a:prstGeom>
          <a:solidFill>
            <a:schemeClr val="tx2"/>
          </a:solidFill>
          <a:ln w="12700">
            <a:solidFill>
              <a:schemeClr val="tx2"/>
            </a:solidFill>
            <a:prstDash val="solid"/>
          </a:ln>
        </p:spPr>
      </p:sp>
      <p:sp>
        <p:nvSpPr>
          <p:cNvPr id="9" name="Summary shrinkage name"/>
          <p:cNvSpPr txBox="1"/>
          <p:nvPr/>
        </p:nvSpPr>
        <p:spPr>
          <a:xfrm>
            <a:off x="5897880" y="1691640"/>
            <a:ext cx="1554480" cy="685800"/>
          </a:xfrm>
          <a:prstGeom prst="rect">
            <a:avLst/>
          </a:prstGeom>
          <a:noFill/>
          <a:ln/>
        </p:spPr>
        <p:txBody>
          <a:bodyPr wrap="square" lIns="0" tIns="0" rIns="0" bIns="0" rtlCol="0" anchor="ctr"/>
          <a:lstStyle/>
          <a:p>
            <a:pPr indent="0" marL="0">
              <a:buNone/>
            </a:pPr>
            <a:r>
              <a:rPr lang="en-US" sz="1800" b="1" dirty="0">
                <a:solidFill>
                  <a:schemeClr val="bg1"/>
                </a:solidFill>
              </a:rPr>
              <a:t>shrinkage</a:t>
            </a:r>
            <a:endParaRPr lang="en-US" sz="1800" dirty="0"/>
          </a:p>
        </p:txBody>
      </p:sp>
      <p:sp>
        <p:nvSpPr>
          <p:cNvPr id="10" name="Summary shrinkage chip"/>
          <p:cNvSpPr/>
          <p:nvPr/>
        </p:nvSpPr>
        <p:spPr>
          <a:xfrm>
            <a:off x="7452360" y="1865376"/>
            <a:ext cx="1051560" cy="338328"/>
          </a:xfrm>
          <a:prstGeom prst="roundRect">
            <a:avLst>
              <a:gd name="adj" fmla="val 48649"/>
            </a:avLst>
          </a:prstGeom>
          <a:solidFill>
            <a:srgbClr val="D9822B"/>
          </a:solidFill>
          <a:ln w="12700">
            <a:solidFill>
              <a:srgbClr val="D9822B"/>
            </a:solidFill>
            <a:prstDash val="solid"/>
          </a:ln>
        </p:spPr>
      </p:sp>
      <p:sp>
        <p:nvSpPr>
          <p:cNvPr id="11" name="Summary shrinkage sev"/>
          <p:cNvSpPr txBox="1"/>
          <p:nvPr/>
        </p:nvSpPr>
        <p:spPr>
          <a:xfrm>
            <a:off x="7452360" y="1865376"/>
            <a:ext cx="1051560" cy="338328"/>
          </a:xfrm>
          <a:prstGeom prst="rect">
            <a:avLst/>
          </a:prstGeom>
          <a:noFill/>
          <a:ln/>
        </p:spPr>
        <p:txBody>
          <a:bodyPr wrap="square" lIns="0" tIns="0" rIns="0" bIns="0" rtlCol="0" anchor="ctr"/>
          <a:lstStyle/>
          <a:p>
            <a:pPr algn="ctr" indent="0" marL="0">
              <a:buNone/>
            </a:pPr>
            <a:r>
              <a:rPr lang="en-US" sz="1100" b="1" dirty="0">
                <a:solidFill>
                  <a:schemeClr val="bg1"/>
                </a:solidFill>
              </a:rPr>
              <a:t>REWORK</a:t>
            </a:r>
            <a:endParaRPr lang="en-US" sz="1100" dirty="0"/>
          </a:p>
        </p:txBody>
      </p:sp>
      <p:sp>
        <p:nvSpPr>
          <p:cNvPr id="12" name="Summary crack"/>
          <p:cNvSpPr/>
          <p:nvPr/>
        </p:nvSpPr>
        <p:spPr>
          <a:xfrm>
            <a:off x="5669280" y="2560320"/>
            <a:ext cx="3017520" cy="685800"/>
          </a:xfrm>
          <a:prstGeom prst="roundRect">
            <a:avLst>
              <a:gd name="adj" fmla="val 16000"/>
            </a:avLst>
          </a:prstGeom>
          <a:solidFill>
            <a:schemeClr val="tx2"/>
          </a:solidFill>
          <a:ln w="12700">
            <a:solidFill>
              <a:schemeClr val="tx2"/>
            </a:solidFill>
            <a:prstDash val="solid"/>
          </a:ln>
        </p:spPr>
      </p:sp>
      <p:sp>
        <p:nvSpPr>
          <p:cNvPr id="13" name="Summary crack name"/>
          <p:cNvSpPr txBox="1"/>
          <p:nvPr/>
        </p:nvSpPr>
        <p:spPr>
          <a:xfrm>
            <a:off x="5897880" y="2560320"/>
            <a:ext cx="1554480" cy="685800"/>
          </a:xfrm>
          <a:prstGeom prst="rect">
            <a:avLst/>
          </a:prstGeom>
          <a:noFill/>
          <a:ln/>
        </p:spPr>
        <p:txBody>
          <a:bodyPr wrap="square" lIns="0" tIns="0" rIns="0" bIns="0" rtlCol="0" anchor="ctr"/>
          <a:lstStyle/>
          <a:p>
            <a:pPr indent="0" marL="0">
              <a:buNone/>
            </a:pPr>
            <a:r>
              <a:rPr lang="en-US" sz="1800" b="1" dirty="0">
                <a:solidFill>
                  <a:schemeClr val="bg1"/>
                </a:solidFill>
              </a:rPr>
              <a:t>crack</a:t>
            </a:r>
            <a:endParaRPr lang="en-US" sz="1800" dirty="0"/>
          </a:p>
        </p:txBody>
      </p:sp>
      <p:sp>
        <p:nvSpPr>
          <p:cNvPr id="14" name="Summary crack chip"/>
          <p:cNvSpPr/>
          <p:nvPr/>
        </p:nvSpPr>
        <p:spPr>
          <a:xfrm>
            <a:off x="7452360" y="2734056"/>
            <a:ext cx="1051560" cy="338328"/>
          </a:xfrm>
          <a:prstGeom prst="roundRect">
            <a:avLst>
              <a:gd name="adj" fmla="val 48649"/>
            </a:avLst>
          </a:prstGeom>
          <a:solidFill>
            <a:srgbClr val="C0392B"/>
          </a:solidFill>
          <a:ln w="12700">
            <a:solidFill>
              <a:srgbClr val="C0392B"/>
            </a:solidFill>
            <a:prstDash val="solid"/>
          </a:ln>
        </p:spPr>
      </p:sp>
      <p:sp>
        <p:nvSpPr>
          <p:cNvPr id="15" name="Summary crack sev"/>
          <p:cNvSpPr txBox="1"/>
          <p:nvPr/>
        </p:nvSpPr>
        <p:spPr>
          <a:xfrm>
            <a:off x="7452360" y="2734056"/>
            <a:ext cx="1051560" cy="338328"/>
          </a:xfrm>
          <a:prstGeom prst="rect">
            <a:avLst/>
          </a:prstGeom>
          <a:noFill/>
          <a:ln/>
        </p:spPr>
        <p:txBody>
          <a:bodyPr wrap="square" lIns="0" tIns="0" rIns="0" bIns="0" rtlCol="0" anchor="ctr"/>
          <a:lstStyle/>
          <a:p>
            <a:pPr algn="ctr" indent="0" marL="0">
              <a:buNone/>
            </a:pPr>
            <a:r>
              <a:rPr lang="en-US" sz="1100" b="1" dirty="0">
                <a:solidFill>
                  <a:schemeClr val="bg1"/>
                </a:solidFill>
              </a:rPr>
              <a:t>SCRAP</a:t>
            </a:r>
            <a:endParaRPr lang="en-US" sz="1100" dirty="0"/>
          </a:p>
        </p:txBody>
      </p:sp>
      <p:sp>
        <p:nvSpPr>
          <p:cNvPr id="16" name="Summary burr"/>
          <p:cNvSpPr/>
          <p:nvPr/>
        </p:nvSpPr>
        <p:spPr>
          <a:xfrm>
            <a:off x="5669280" y="3429000"/>
            <a:ext cx="3017520" cy="685800"/>
          </a:xfrm>
          <a:prstGeom prst="roundRect">
            <a:avLst>
              <a:gd name="adj" fmla="val 16000"/>
            </a:avLst>
          </a:prstGeom>
          <a:solidFill>
            <a:schemeClr val="tx2"/>
          </a:solidFill>
          <a:ln w="12700">
            <a:solidFill>
              <a:schemeClr val="tx2"/>
            </a:solidFill>
            <a:prstDash val="solid"/>
          </a:ln>
        </p:spPr>
      </p:sp>
      <p:sp>
        <p:nvSpPr>
          <p:cNvPr id="17" name="Summary burr name"/>
          <p:cNvSpPr txBox="1"/>
          <p:nvPr/>
        </p:nvSpPr>
        <p:spPr>
          <a:xfrm>
            <a:off x="5897880" y="3429000"/>
            <a:ext cx="1554480" cy="685800"/>
          </a:xfrm>
          <a:prstGeom prst="rect">
            <a:avLst/>
          </a:prstGeom>
          <a:noFill/>
          <a:ln/>
        </p:spPr>
        <p:txBody>
          <a:bodyPr wrap="square" lIns="0" tIns="0" rIns="0" bIns="0" rtlCol="0" anchor="ctr"/>
          <a:lstStyle/>
          <a:p>
            <a:pPr indent="0" marL="0">
              <a:buNone/>
            </a:pPr>
            <a:r>
              <a:rPr lang="en-US" sz="1800" b="1" dirty="0">
                <a:solidFill>
                  <a:schemeClr val="bg1"/>
                </a:solidFill>
              </a:rPr>
              <a:t>burr</a:t>
            </a:r>
            <a:endParaRPr lang="en-US" sz="1800" dirty="0"/>
          </a:p>
        </p:txBody>
      </p:sp>
      <p:sp>
        <p:nvSpPr>
          <p:cNvPr id="18" name="Summary burr chip"/>
          <p:cNvSpPr/>
          <p:nvPr/>
        </p:nvSpPr>
        <p:spPr>
          <a:xfrm>
            <a:off x="7452360" y="3602736"/>
            <a:ext cx="1051560" cy="338328"/>
          </a:xfrm>
          <a:prstGeom prst="roundRect">
            <a:avLst>
              <a:gd name="adj" fmla="val 48649"/>
            </a:avLst>
          </a:prstGeom>
          <a:solidFill>
            <a:srgbClr val="3A8D5C"/>
          </a:solidFill>
          <a:ln w="12700">
            <a:solidFill>
              <a:srgbClr val="3A8D5C"/>
            </a:solidFill>
            <a:prstDash val="solid"/>
          </a:ln>
        </p:spPr>
      </p:sp>
      <p:sp>
        <p:nvSpPr>
          <p:cNvPr id="19" name="Summary burr sev"/>
          <p:cNvSpPr txBox="1"/>
          <p:nvPr/>
        </p:nvSpPr>
        <p:spPr>
          <a:xfrm>
            <a:off x="7452360" y="3602736"/>
            <a:ext cx="1051560" cy="338328"/>
          </a:xfrm>
          <a:prstGeom prst="rect">
            <a:avLst/>
          </a:prstGeom>
          <a:noFill/>
          <a:ln/>
        </p:spPr>
        <p:txBody>
          <a:bodyPr wrap="square" lIns="0" tIns="0" rIns="0" bIns="0" rtlCol="0" anchor="ctr"/>
          <a:lstStyle/>
          <a:p>
            <a:pPr algn="ctr" indent="0" marL="0">
              <a:buNone/>
            </a:pPr>
            <a:r>
              <a:rPr lang="en-US" sz="1100" b="1" dirty="0">
                <a:solidFill>
                  <a:schemeClr val="bg1"/>
                </a:solidFill>
              </a:rPr>
              <a:t>MINOR</a:t>
            </a:r>
            <a:endParaRPr lang="en-US" sz="1100" dirty="0"/>
          </a:p>
        </p:txBody>
      </p:sp>
    </p:spTree>
  </p:cSld>
  <p:clrMapOvr>
    <a:masterClrMapping/>
  </p:clrMapOvr>
</p:sld>
</file>

<file path=ppt/theme/theme1.xml><?xml version="1.0" encoding="utf-8"?>
<a:theme xmlns:a="http://schemas.openxmlformats.org/drawingml/2006/main" name="SenpaiQC Teach">
  <a:themeElements>
    <a:clrScheme name="SenpaiQC Teach">
      <a:dk1>
        <a:srgbClr val="1C2329"/>
      </a:dk1>
      <a:lt1>
        <a:srgbClr val="FFFFFF"/>
      </a:lt1>
      <a:dk2>
        <a:srgbClr val="2E3A42"/>
      </a:dk2>
      <a:lt2>
        <a:srgbClr val="EEF1F3"/>
      </a:lt2>
      <a:accent1>
        <a:srgbClr val="E8A317"/>
      </a:accent1>
      <a:accent2>
        <a:srgbClr val="C0392B"/>
      </a:accent2>
      <a:accent3>
        <a:srgbClr val="D9822B"/>
      </a:accent3>
      <a:accent4>
        <a:srgbClr val="3A8D5C"/>
      </a:accent4>
      <a:accent5>
        <a:srgbClr val="5B6B75"/>
      </a:accent5>
      <a:accent6>
        <a:srgbClr val="8FA3AE"/>
      </a:accent6>
      <a:hlink>
        <a:srgbClr val="2E6DA4"/>
      </a:hlink>
      <a:folHlink>
        <a:srgbClr val="6B4E9B"/>
      </a:folHlink>
    </a:clrScheme>
    <a:fontScheme name="SenpaiQC Tea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IMP-200 defect teaching video</dc:title>
  <dc:subject>PptxGenJS Presentation</dc:subject>
  <dc:creator>PptxGenJS</dc:creator>
  <cp:lastModifiedBy>PptxGenJS</cp:lastModifiedBy>
  <cp:revision>1</cp:revision>
  <dcterms:created xsi:type="dcterms:W3CDTF">2026-10-18T11:02:53Z</dcterms:created>
  <dcterms:modified xsi:type="dcterms:W3CDTF">2026-10-18T11:02:53Z</dcterms:modified>
</cp:coreProperties>
</file>